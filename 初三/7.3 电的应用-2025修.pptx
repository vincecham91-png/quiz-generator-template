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6"/>
  </p:notesMasterIdLst>
  <p:sldIdLst>
    <p:sldId id="28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90" r:id="rId14"/>
    <p:sldId id="268" r:id="rId15"/>
    <p:sldId id="269" r:id="rId16"/>
    <p:sldId id="271" r:id="rId17"/>
    <p:sldId id="272" r:id="rId18"/>
    <p:sldId id="267" r:id="rId19"/>
    <p:sldId id="273" r:id="rId20"/>
    <p:sldId id="274" r:id="rId21"/>
    <p:sldId id="275" r:id="rId22"/>
    <p:sldId id="276" r:id="rId23"/>
    <p:sldId id="270" r:id="rId24"/>
    <p:sldId id="277" r:id="rId25"/>
    <p:sldId id="291" r:id="rId26"/>
    <p:sldId id="278" r:id="rId27"/>
    <p:sldId id="279" r:id="rId28"/>
    <p:sldId id="281" r:id="rId29"/>
    <p:sldId id="282" r:id="rId30"/>
    <p:sldId id="283" r:id="rId31"/>
    <p:sldId id="284" r:id="rId32"/>
    <p:sldId id="285" r:id="rId33"/>
    <p:sldId id="287" r:id="rId34"/>
    <p:sldId id="288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C3609-5AFA-4E4A-BB6B-1A98F14D7B55}" type="datetimeFigureOut">
              <a:rPr lang="en-MY" smtClean="0"/>
              <a:t>6/8/2025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1B4E9-DF14-4F08-BEA2-85DA4C5556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2975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ea typeface="宋体" pitchFamily="2" charset="-122"/>
              </a:rPr>
              <a:t>0.8</a:t>
            </a:r>
            <a:r>
              <a:rPr lang="zh-CN" altLang="en-US"/>
              <a:t>， </a:t>
            </a:r>
            <a:r>
              <a:rPr lang="en-US" altLang="zh-CN"/>
              <a:t>0.8*8*30=192 kWh, RM41.86</a:t>
            </a:r>
            <a:endParaRPr lang="en-MY">
              <a:ea typeface="宋体" pitchFamily="2" charset="-122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/>
            <a:fld id="{9A7609A7-ED5E-457A-BE87-03DBB99D3A50}" type="slidenum">
              <a:rPr lang="en-MY" sz="1200" smtClean="0"/>
              <a:pPr eaLnBrk="1" hangingPunct="1"/>
              <a:t>32</a:t>
            </a:fld>
            <a:endParaRPr lang="en-MY" sz="1200"/>
          </a:p>
        </p:txBody>
      </p:sp>
    </p:spTree>
    <p:extLst>
      <p:ext uri="{BB962C8B-B14F-4D97-AF65-F5344CB8AC3E}">
        <p14:creationId xmlns:p14="http://schemas.microsoft.com/office/powerpoint/2010/main" val="1757683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ctrTitle"/>
          </p:nvPr>
        </p:nvSpPr>
        <p:spPr>
          <a:xfrm>
            <a:off x="828675" y="1123950"/>
            <a:ext cx="7772400" cy="1470025"/>
          </a:xfrm>
        </p:spPr>
        <p:txBody>
          <a:bodyPr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subTitle" idx="1"/>
          </p:nvPr>
        </p:nvSpPr>
        <p:spPr>
          <a:xfrm>
            <a:off x="2124075" y="2349500"/>
            <a:ext cx="6400800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32A45-D5B0-46FE-9387-1BEFD8A8DEEE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02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0BCEA7-FFFB-431B-91C4-37A2CDBBDF93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6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802B2-F58C-4D5D-B476-996463A3FBE3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8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0063" y="120808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1063" y="120808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4E8C-1BA4-4D1F-9714-DE88EE18E18B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27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CDE6C8-CA86-4746-962D-76DF1A95257F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5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0CE8BA-004A-4478-A79B-003F02159A9B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7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CE52E-3F56-4224-9239-2A7240EE5B19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62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283763-31D2-47F6-BE41-1B01B7376651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MY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A78814-B717-4FB1-A7C7-07D86E9A91F2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98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115DA3-AC24-4E95-A63A-59A7648D1C26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28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5113" y="133350"/>
            <a:ext cx="2114550" cy="5600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6700" y="133350"/>
            <a:ext cx="6196013" cy="56007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EDEBC6-D045-4D59-8FDF-1C9828568903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72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903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793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602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090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703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7360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381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1740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7950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011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2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266700" y="133350"/>
            <a:ext cx="7345363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0063" y="120808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A8A8A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/>
            </a:pPr>
            <a:endParaRPr 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08725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A8A8A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A8A8A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defRPr/>
            </a:pPr>
            <a:fld id="{EB46A848-FF5C-4258-A6B4-B6F09AE27E0D}" type="slidenum">
              <a:rPr lang="zh-CN" altLang="en-US">
                <a:latin typeface="Arial" pitchFamily="34" charset="0"/>
                <a:ea typeface="宋体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t>‹#›</a:t>
            </a:fld>
            <a:endParaRPr lang="en-US"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979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黑体" pitchFamily="49" charset="-122"/>
          <a:ea typeface="黑体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黑体" pitchFamily="49" charset="-122"/>
          <a:ea typeface="黑体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黑体" pitchFamily="49" charset="-122"/>
          <a:ea typeface="黑体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黑体" pitchFamily="49" charset="-122"/>
          <a:ea typeface="黑体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–"/>
        <a:defRPr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•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94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slide" Target="slide32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2.xml"/><Relationship Id="rId5" Type="http://schemas.openxmlformats.org/officeDocument/2006/relationships/slide" Target="slide6.xml"/><Relationship Id="rId4" Type="http://schemas.openxmlformats.org/officeDocument/2006/relationships/slide" Target="sl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slide" Target="slide5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5.xml"/><Relationship Id="rId5" Type="http://schemas.openxmlformats.org/officeDocument/2006/relationships/slide" Target="slide14.xml"/><Relationship Id="rId4" Type="http://schemas.openxmlformats.org/officeDocument/2006/relationships/slide" Target="slide3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slide" Target="slide5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5.xml"/><Relationship Id="rId5" Type="http://schemas.openxmlformats.org/officeDocument/2006/relationships/slide" Target="slide14.xml"/><Relationship Id="rId4" Type="http://schemas.openxmlformats.org/officeDocument/2006/relationships/slide" Target="slide32.xml"/><Relationship Id="rId9" Type="http://schemas.openxmlformats.org/officeDocument/2006/relationships/image" Target="../media/image14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32.xml"/><Relationship Id="rId4" Type="http://schemas.openxmlformats.org/officeDocument/2006/relationships/slide" Target="slide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888215" y="304800"/>
            <a:ext cx="383618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串联电路</a:t>
            </a:r>
            <a:endParaRPr lang="en-US" sz="40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700" y="519752"/>
            <a:ext cx="3051175" cy="190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90600" y="1143000"/>
            <a:ext cx="3200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00000"/>
                </a:solidFill>
              </a:rPr>
              <a:t>V = V</a:t>
            </a:r>
            <a:r>
              <a:rPr lang="zh-CN" altLang="en-US" sz="3200" b="1" baseline="-25000" dirty="0">
                <a:solidFill>
                  <a:srgbClr val="000000"/>
                </a:solidFill>
              </a:rPr>
              <a:t>1</a:t>
            </a:r>
            <a:r>
              <a:rPr lang="zh-CN" altLang="en-US" sz="3200" b="1" dirty="0">
                <a:solidFill>
                  <a:srgbClr val="000000"/>
                </a:solidFill>
              </a:rPr>
              <a:t>+ V</a:t>
            </a:r>
            <a:r>
              <a:rPr lang="zh-CN" altLang="en-US" sz="3200" b="1" baseline="-25000" dirty="0">
                <a:solidFill>
                  <a:srgbClr val="000000"/>
                </a:solidFill>
              </a:rPr>
              <a:t>2</a:t>
            </a:r>
            <a:endParaRPr lang="en-US" altLang="zh-CN" sz="3200" b="1" baseline="-25000" dirty="0">
              <a:solidFill>
                <a:srgbClr val="000000"/>
              </a:solidFill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zh-CN" altLang="en-US" sz="3200" b="1" dirty="0">
                <a:solidFill>
                  <a:srgbClr val="000000"/>
                </a:solidFill>
              </a:rPr>
              <a:t>=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200" b="1" baseline="-25000" dirty="0">
                <a:solidFill>
                  <a:srgbClr val="000000"/>
                </a:solidFill>
              </a:rPr>
              <a:t>1 </a:t>
            </a:r>
            <a:r>
              <a:rPr lang="zh-CN" altLang="en-US" sz="3200" b="1" dirty="0">
                <a:solidFill>
                  <a:srgbClr val="000000"/>
                </a:solidFill>
              </a:rPr>
              <a:t>=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200" b="1" baseline="-25000" dirty="0">
                <a:solidFill>
                  <a:srgbClr val="000000"/>
                </a:solidFill>
              </a:rPr>
              <a:t>2</a:t>
            </a:r>
            <a:endParaRPr lang="en-US" altLang="zh-CN" sz="3200" b="1" baseline="-25000" dirty="0">
              <a:solidFill>
                <a:srgbClr val="000000"/>
              </a:solidFill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C0C0C"/>
                </a:solidFill>
              </a:rPr>
              <a:t>R = R</a:t>
            </a:r>
            <a:r>
              <a:rPr lang="zh-CN" altLang="en-US" sz="3200" b="1" baseline="-25000" dirty="0">
                <a:solidFill>
                  <a:srgbClr val="0C0C0C"/>
                </a:solidFill>
              </a:rPr>
              <a:t>1 </a:t>
            </a:r>
            <a:r>
              <a:rPr lang="zh-CN" altLang="en-US" sz="3200" b="1" dirty="0">
                <a:solidFill>
                  <a:srgbClr val="0C0C0C"/>
                </a:solidFill>
              </a:rPr>
              <a:t>+ R</a:t>
            </a:r>
            <a:r>
              <a:rPr lang="zh-CN" altLang="en-US" sz="3200" b="1" baseline="-25000" dirty="0">
                <a:solidFill>
                  <a:srgbClr val="0C0C0C"/>
                </a:solidFill>
              </a:rPr>
              <a:t>2</a:t>
            </a:r>
            <a:endParaRPr lang="en-US" altLang="zh-CN" sz="3200" b="1" baseline="-25000" dirty="0">
              <a:solidFill>
                <a:srgbClr val="0C0C0C"/>
              </a:solidFill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 sz="3200" b="1" baseline="-25000" dirty="0">
              <a:solidFill>
                <a:srgbClr val="000000"/>
              </a:solidFill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990600" y="3697545"/>
            <a:ext cx="383618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并联电路</a:t>
            </a:r>
            <a:endParaRPr lang="en-US" sz="40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0" y="4584918"/>
            <a:ext cx="3200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00000"/>
                </a:solidFill>
              </a:rPr>
              <a:t>V = V</a:t>
            </a:r>
            <a:r>
              <a:rPr lang="zh-CN" altLang="en-US" sz="3200" b="1" baseline="-25000" dirty="0">
                <a:solidFill>
                  <a:srgbClr val="000000"/>
                </a:solidFill>
              </a:rPr>
              <a:t>1</a:t>
            </a:r>
            <a:r>
              <a:rPr lang="zh-CN" altLang="en-US" sz="3200" b="1" dirty="0">
                <a:solidFill>
                  <a:srgbClr val="000000"/>
                </a:solidFill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</a:rPr>
              <a:t>=</a:t>
            </a:r>
            <a:r>
              <a:rPr lang="zh-CN" altLang="en-US" sz="3200" b="1" dirty="0">
                <a:solidFill>
                  <a:srgbClr val="000000"/>
                </a:solidFill>
              </a:rPr>
              <a:t> V</a:t>
            </a:r>
            <a:r>
              <a:rPr lang="zh-CN" altLang="en-US" sz="3200" b="1" baseline="-25000" dirty="0">
                <a:solidFill>
                  <a:srgbClr val="000000"/>
                </a:solidFill>
              </a:rPr>
              <a:t>2</a:t>
            </a:r>
            <a:endParaRPr lang="en-US" altLang="zh-CN" sz="3200" b="1" baseline="-25000" dirty="0">
              <a:solidFill>
                <a:srgbClr val="000000"/>
              </a:solidFill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zh-CN" altLang="en-US" sz="3200" b="1" dirty="0">
                <a:solidFill>
                  <a:srgbClr val="000000"/>
                </a:solidFill>
              </a:rPr>
              <a:t>=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200" b="1" baseline="-25000" dirty="0">
                <a:solidFill>
                  <a:srgbClr val="000000"/>
                </a:solidFill>
              </a:rPr>
              <a:t>1 </a:t>
            </a:r>
            <a:r>
              <a:rPr lang="en-US" altLang="zh-CN" sz="3200" b="1" dirty="0">
                <a:solidFill>
                  <a:srgbClr val="000000"/>
                </a:solidFill>
              </a:rPr>
              <a:t>+</a:t>
            </a:r>
            <a:r>
              <a:rPr lang="zh-CN" altLang="en-US" sz="3200" b="1" dirty="0">
                <a:solidFill>
                  <a:srgbClr val="000000"/>
                </a:solidFill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200" b="1" baseline="-25000" dirty="0">
                <a:solidFill>
                  <a:srgbClr val="000000"/>
                </a:solidFill>
              </a:rPr>
              <a:t>2</a:t>
            </a:r>
            <a:endParaRPr lang="en-US" altLang="zh-CN" sz="3200" b="1" baseline="-25000" dirty="0">
              <a:solidFill>
                <a:srgbClr val="000000"/>
              </a:solidFill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 sz="3200" b="1" baseline="-25000" dirty="0">
              <a:solidFill>
                <a:srgbClr val="0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4584918"/>
            <a:ext cx="1781424" cy="1200318"/>
          </a:xfrm>
          <a:prstGeom prst="rect">
            <a:avLst/>
          </a:prstGeom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362" y="3109335"/>
            <a:ext cx="2816225" cy="295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15102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2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3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4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5" name="Rectangle 3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056" name="Rectangle 37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2059" name="Picture 11" descr="1614919_104230064_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77" t="64920" r="9196"/>
          <a:stretch>
            <a:fillRect/>
          </a:stretch>
        </p:blipFill>
        <p:spPr bwMode="auto">
          <a:xfrm>
            <a:off x="468313" y="4221163"/>
            <a:ext cx="180022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0" name="Picture 12" descr="1614919_104230064_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80" b="57085"/>
          <a:stretch>
            <a:fillRect/>
          </a:stretch>
        </p:blipFill>
        <p:spPr bwMode="auto">
          <a:xfrm>
            <a:off x="2268538" y="5229225"/>
            <a:ext cx="1692275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1" name="Picture 13" descr="1614919_104230064_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61" b="47186"/>
          <a:stretch>
            <a:fillRect/>
          </a:stretch>
        </p:blipFill>
        <p:spPr bwMode="auto">
          <a:xfrm>
            <a:off x="5553075" y="4508500"/>
            <a:ext cx="1323975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2" name="Picture 14" descr="1614919_104230064_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77" r="36507" b="42795"/>
          <a:stretch>
            <a:fillRect/>
          </a:stretch>
        </p:blipFill>
        <p:spPr bwMode="auto">
          <a:xfrm>
            <a:off x="4184650" y="4149725"/>
            <a:ext cx="11080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3" name="Picture 15" descr="1614919_104230064_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9" t="46216" r="54965"/>
          <a:stretch>
            <a:fillRect/>
          </a:stretch>
        </p:blipFill>
        <p:spPr bwMode="auto">
          <a:xfrm>
            <a:off x="7213600" y="3789363"/>
            <a:ext cx="1319213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827088" y="836712"/>
            <a:ext cx="756126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4800" dirty="0">
                <a:solidFill>
                  <a:srgbClr val="FF0000"/>
                </a:solidFill>
              </a:rPr>
              <a:t>初三下册</a:t>
            </a:r>
            <a:endParaRPr lang="en-US" altLang="zh-CN" sz="4800" dirty="0">
              <a:solidFill>
                <a:srgbClr val="FF0000"/>
              </a:solidFill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4800" dirty="0">
                <a:solidFill>
                  <a:srgbClr val="FF0000"/>
                </a:solidFill>
              </a:rPr>
              <a:t>第</a:t>
            </a:r>
            <a:r>
              <a:rPr lang="en-US" altLang="zh-CN" sz="4800" dirty="0">
                <a:solidFill>
                  <a:srgbClr val="FF0000"/>
                </a:solidFill>
              </a:rPr>
              <a:t>7</a:t>
            </a:r>
            <a:r>
              <a:rPr lang="zh-CN" altLang="en-US" sz="4800" dirty="0">
                <a:solidFill>
                  <a:srgbClr val="FF0000"/>
                </a:solidFill>
              </a:rPr>
              <a:t>章 电的应用</a:t>
            </a: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1785918" y="3027040"/>
            <a:ext cx="59055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4400" dirty="0">
                <a:solidFill>
                  <a:srgbClr val="0C0C0C"/>
                </a:solidFill>
              </a:rPr>
              <a:t>7.3</a:t>
            </a:r>
            <a:r>
              <a:rPr lang="en-US" sz="4400" dirty="0">
                <a:solidFill>
                  <a:srgbClr val="0C0C0C"/>
                </a:solidFill>
              </a:rPr>
              <a:t> </a:t>
            </a:r>
            <a:r>
              <a:rPr lang="zh-CN" altLang="en-US" sz="4400" dirty="0">
                <a:solidFill>
                  <a:srgbClr val="0C0C0C"/>
                </a:solidFill>
              </a:rPr>
              <a:t>电能的利用</a:t>
            </a:r>
            <a:endParaRPr lang="en-US" altLang="zh-CN" sz="4400" dirty="0">
              <a:solidFill>
                <a:srgbClr val="0C0C0C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4B834B-0F7B-98FB-D68A-64A7C0EF4A1C}"/>
              </a:ext>
            </a:extLst>
          </p:cNvPr>
          <p:cNvSpPr txBox="1"/>
          <p:nvPr/>
        </p:nvSpPr>
        <p:spPr>
          <a:xfrm>
            <a:off x="7198864" y="255588"/>
            <a:ext cx="135165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600" dirty="0">
                <a:solidFill>
                  <a:srgbClr val="FF0000"/>
                </a:solidFill>
              </a:rPr>
              <a:t>p/g 108</a:t>
            </a:r>
          </a:p>
        </p:txBody>
      </p:sp>
    </p:spTree>
    <p:extLst>
      <p:ext uri="{BB962C8B-B14F-4D97-AF65-F5344CB8AC3E}">
        <p14:creationId xmlns:p14="http://schemas.microsoft.com/office/powerpoint/2010/main" val="301425623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908050"/>
            <a:ext cx="8208963" cy="3829050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82734"/>
            <a:ext cx="4294534" cy="2170465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/>
          <p:cNvPicPr preferRelativeResize="0"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29000"/>
            <a:ext cx="1870075" cy="1014412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5029200" y="5181600"/>
            <a:ext cx="381635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</a:rPr>
              <a:t>各种各样的发电厂和电池，把不同形式的能转化为电能，供人们使用。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51521" y="46463"/>
            <a:ext cx="648072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MY" altLang="zh-CN" sz="4400" dirty="0">
                <a:solidFill>
                  <a:srgbClr val="0C0C0C"/>
                </a:solidFill>
              </a:rPr>
              <a:t>7.3.1 </a:t>
            </a:r>
            <a:r>
              <a:rPr lang="zh-CN" altLang="en-US" sz="4400" dirty="0">
                <a:solidFill>
                  <a:srgbClr val="0C0C0C"/>
                </a:solidFill>
              </a:rPr>
              <a:t>电功</a:t>
            </a:r>
            <a:r>
              <a:rPr lang="en-US" altLang="zh-CN" sz="4400" dirty="0">
                <a:solidFill>
                  <a:srgbClr val="0C0C0C"/>
                </a:solidFill>
              </a:rPr>
              <a:t>——</a:t>
            </a:r>
            <a:r>
              <a:rPr lang="zh-CN" altLang="en-US" sz="4400" dirty="0">
                <a:solidFill>
                  <a:srgbClr val="0C0C0C"/>
                </a:solidFill>
              </a:rPr>
              <a:t>电流做功</a:t>
            </a:r>
            <a:endParaRPr lang="en-US" altLang="zh-CN" sz="4400" dirty="0">
              <a:solidFill>
                <a:srgbClr val="0C0C0C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EF16D05-F651-923A-2C28-5129EB7E4D82}"/>
              </a:ext>
            </a:extLst>
          </p:cNvPr>
          <p:cNvSpPr txBox="1"/>
          <p:nvPr/>
        </p:nvSpPr>
        <p:spPr>
          <a:xfrm>
            <a:off x="7198864" y="255588"/>
            <a:ext cx="135165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600" dirty="0">
                <a:solidFill>
                  <a:srgbClr val="FF0000"/>
                </a:solidFill>
              </a:rPr>
              <a:t>p/g 108</a:t>
            </a:r>
          </a:p>
        </p:txBody>
      </p:sp>
    </p:spTree>
    <p:extLst>
      <p:ext uri="{BB962C8B-B14F-4D97-AF65-F5344CB8AC3E}">
        <p14:creationId xmlns:p14="http://schemas.microsoft.com/office/powerpoint/2010/main" val="26396633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solidFill>
                  <a:schemeClr val="tx1"/>
                </a:solidFill>
              </a:rPr>
              <a:t>第 </a:t>
            </a:r>
            <a:r>
              <a:rPr lang="en-US" altLang="zh-CN" b="0" dirty="0">
                <a:solidFill>
                  <a:schemeClr val="tx1"/>
                </a:solidFill>
              </a:rPr>
              <a:t>108</a:t>
            </a:r>
            <a:r>
              <a:rPr lang="zh-CN" altLang="en-US" b="0" dirty="0">
                <a:solidFill>
                  <a:schemeClr val="tx1"/>
                </a:solidFill>
              </a:rPr>
              <a:t>页“想一想”：</a:t>
            </a:r>
            <a:r>
              <a:rPr lang="zh-CN" altLang="en-US" dirty="0">
                <a:solidFill>
                  <a:schemeClr val="tx1"/>
                </a:solidFill>
              </a:rPr>
              <a:t>能量如何转化？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64991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zh-CN" altLang="en-US" sz="2800" dirty="0"/>
              <a:t>电视机、电水壶、油烟机工作时能量如何转化？</a:t>
            </a:r>
            <a:endParaRPr lang="en-US" altLang="zh-CN" sz="2800" dirty="0"/>
          </a:p>
          <a:p>
            <a:pPr marL="0" indent="0">
              <a:buNone/>
              <a:defRPr/>
            </a:pPr>
            <a:endParaRPr lang="en-US" altLang="zh-CN" sz="2800" dirty="0"/>
          </a:p>
          <a:p>
            <a:pPr>
              <a:defRPr/>
            </a:pPr>
            <a:r>
              <a:rPr lang="zh-CN" altLang="en-US" sz="2800" b="1" dirty="0"/>
              <a:t>电视机</a:t>
            </a:r>
            <a:r>
              <a:rPr lang="en-GB" altLang="zh-CN" sz="2800" b="1" dirty="0"/>
              <a:t>: </a:t>
            </a:r>
            <a:r>
              <a:rPr lang="zh-CN" altLang="en-US" sz="2800" dirty="0"/>
              <a:t>工作时要发光、发声和发热</a:t>
            </a:r>
            <a:endParaRPr lang="en-US" altLang="zh-CN" sz="28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zh-CN" altLang="en-US" sz="2800" dirty="0"/>
              <a:t>所发生的能量转化是：电能转化为</a:t>
            </a:r>
            <a:r>
              <a:rPr lang="en-US" altLang="zh-CN" sz="2800" dirty="0"/>
              <a:t>___</a:t>
            </a:r>
            <a:r>
              <a:rPr lang="en-GB" altLang="zh-CN" sz="2800" dirty="0"/>
              <a:t>___</a:t>
            </a:r>
            <a:r>
              <a:rPr lang="en-US" altLang="zh-CN" sz="2800" dirty="0"/>
              <a:t>___________</a:t>
            </a:r>
          </a:p>
          <a:p>
            <a:pPr>
              <a:defRPr/>
            </a:pPr>
            <a:r>
              <a:rPr lang="zh-CN" altLang="en-US" sz="2800" b="1" dirty="0"/>
              <a:t>电水壶</a:t>
            </a:r>
            <a:r>
              <a:rPr lang="en-GB" altLang="zh-CN" sz="2800" b="1" dirty="0"/>
              <a:t>: </a:t>
            </a:r>
            <a:r>
              <a:rPr lang="zh-CN" altLang="en-US" sz="2800" dirty="0"/>
              <a:t>工作时所发生的能量转化是：电能转化为</a:t>
            </a:r>
            <a:r>
              <a:rPr lang="en-US" altLang="zh-CN" sz="2800" dirty="0"/>
              <a:t>_______</a:t>
            </a:r>
          </a:p>
          <a:p>
            <a:pPr>
              <a:defRPr/>
            </a:pPr>
            <a:r>
              <a:rPr lang="zh-CN" altLang="en-US" sz="2800" b="1" dirty="0"/>
              <a:t>油烟机</a:t>
            </a:r>
            <a:r>
              <a:rPr lang="en-GB" altLang="zh-CN" sz="2800" b="1" dirty="0"/>
              <a:t>: </a:t>
            </a:r>
            <a:r>
              <a:rPr lang="zh-CN" altLang="en-US" sz="2800" dirty="0"/>
              <a:t>工作时所发生的能量转化是：电能转化为</a:t>
            </a:r>
            <a:r>
              <a:rPr lang="en-US" altLang="zh-CN" sz="2800" dirty="0"/>
              <a:t>______________</a:t>
            </a:r>
          </a:p>
          <a:p>
            <a:pPr>
              <a:defRPr/>
            </a:pPr>
            <a:endParaRPr lang="en-US" altLang="zh-CN" sz="2800" dirty="0"/>
          </a:p>
          <a:p>
            <a:pPr>
              <a:defRPr/>
            </a:pPr>
            <a:r>
              <a:rPr lang="zh-CN" altLang="en-US" sz="2800" dirty="0"/>
              <a:t>电器工作时消耗电能，其实质是</a:t>
            </a:r>
            <a:r>
              <a:rPr lang="en-US" altLang="zh-CN" sz="2800" dirty="0"/>
              <a:t>_____</a:t>
            </a:r>
            <a:r>
              <a:rPr lang="zh-CN" altLang="en-US" sz="2800" dirty="0"/>
              <a:t>转化为</a:t>
            </a:r>
            <a:r>
              <a:rPr lang="en-US" altLang="zh-CN" sz="2800" dirty="0"/>
              <a:t>_________</a:t>
            </a:r>
            <a:r>
              <a:rPr lang="zh-CN" altLang="en-US" sz="2800" dirty="0"/>
              <a:t>的能的过程</a:t>
            </a:r>
            <a:endParaRPr lang="en-US" altLang="zh-CN" sz="2800" dirty="0"/>
          </a:p>
          <a:p>
            <a:pPr>
              <a:defRPr/>
            </a:pPr>
            <a:endParaRPr lang="en-MY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5791200" y="251460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光能、声能和热能</a:t>
            </a:r>
            <a:endParaRPr lang="en-MY" sz="28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3429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热能</a:t>
            </a:r>
            <a:endParaRPr lang="en-MY" sz="28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2267" y="436314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机械能和热能</a:t>
            </a:r>
            <a:endParaRPr lang="en-MY" sz="28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0" y="533400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电能</a:t>
            </a:r>
            <a:endParaRPr lang="en-MY" sz="28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803304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其他形式</a:t>
            </a:r>
            <a:endParaRPr lang="en-MY" sz="28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C8C451-8BCB-B952-8C71-D6753B1A3C40}"/>
              </a:ext>
            </a:extLst>
          </p:cNvPr>
          <p:cNvSpPr txBox="1"/>
          <p:nvPr/>
        </p:nvSpPr>
        <p:spPr>
          <a:xfrm>
            <a:off x="7198864" y="260648"/>
            <a:ext cx="135165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600" dirty="0">
                <a:solidFill>
                  <a:srgbClr val="FF0000"/>
                </a:solidFill>
              </a:rPr>
              <a:t>p/g 108</a:t>
            </a:r>
          </a:p>
        </p:txBody>
      </p:sp>
    </p:spTree>
    <p:extLst>
      <p:ext uri="{BB962C8B-B14F-4D97-AF65-F5344CB8AC3E}">
        <p14:creationId xmlns:p14="http://schemas.microsoft.com/office/powerpoint/2010/main" val="205418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1"/>
          <p:cNvSpPr txBox="1">
            <a:spLocks noChangeArrowheads="1"/>
          </p:cNvSpPr>
          <p:nvPr/>
        </p:nvSpPr>
        <p:spPr bwMode="auto">
          <a:xfrm>
            <a:off x="755650" y="3962400"/>
            <a:ext cx="32416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tIns="10800" rIns="0" bIns="10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C0000"/>
                </a:solidFill>
              </a:rPr>
              <a:t>电能转化为光能</a:t>
            </a:r>
          </a:p>
        </p:txBody>
      </p:sp>
      <p:sp>
        <p:nvSpPr>
          <p:cNvPr id="8195" name="Text Box 14"/>
          <p:cNvSpPr txBox="1">
            <a:spLocks noChangeArrowheads="1"/>
          </p:cNvSpPr>
          <p:nvPr/>
        </p:nvSpPr>
        <p:spPr bwMode="auto">
          <a:xfrm>
            <a:off x="5292527" y="4451846"/>
            <a:ext cx="3205162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tIns="10800" rIns="0" bIns="10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C0000"/>
                </a:solidFill>
              </a:rPr>
              <a:t>电能转化为机械能</a:t>
            </a:r>
            <a:endParaRPr lang="zh-CN" altLang="en-US" sz="2800" b="1" dirty="0">
              <a:solidFill>
                <a:srgbClr val="CC0000"/>
              </a:solidFill>
              <a:latin typeface="宋体" pitchFamily="2" charset="-122"/>
            </a:endParaRPr>
          </a:p>
        </p:txBody>
      </p:sp>
      <p:pic>
        <p:nvPicPr>
          <p:cNvPr id="8196" name="Picture 4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281709"/>
            <a:ext cx="4068763" cy="2525712"/>
          </a:xfrm>
          <a:prstGeom prst="rect">
            <a:avLst/>
          </a:prstGeom>
          <a:noFill/>
          <a:ln w="19050">
            <a:solidFill>
              <a:srgbClr val="5F5F5F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7" name="Text Box 24"/>
          <p:cNvSpPr txBox="1">
            <a:spLocks noChangeArrowheads="1"/>
          </p:cNvSpPr>
          <p:nvPr/>
        </p:nvSpPr>
        <p:spPr bwMode="auto">
          <a:xfrm>
            <a:off x="900113" y="776884"/>
            <a:ext cx="2663825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tIns="10800" rIns="0" bIns="10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C0C0C"/>
                </a:solidFill>
                <a:latin typeface="宋体" pitchFamily="2" charset="-122"/>
              </a:rPr>
              <a:t>电灯为我们照明</a:t>
            </a:r>
          </a:p>
        </p:txBody>
      </p:sp>
      <p:grpSp>
        <p:nvGrpSpPr>
          <p:cNvPr id="8198" name="Group 6"/>
          <p:cNvGrpSpPr>
            <a:grpSpLocks/>
          </p:cNvGrpSpPr>
          <p:nvPr/>
        </p:nvGrpSpPr>
        <p:grpSpPr bwMode="auto">
          <a:xfrm>
            <a:off x="5148064" y="685800"/>
            <a:ext cx="3117850" cy="3621088"/>
            <a:chOff x="0" y="-91"/>
            <a:chExt cx="1964" cy="2281"/>
          </a:xfrm>
        </p:grpSpPr>
        <p:pic>
          <p:nvPicPr>
            <p:cNvPr id="8199" name="Picture 2" descr="http://t1.baidu.com/it/u=3496457415,1507603756&amp;fm=23&amp;gp=0.jpg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26"/>
              <a:ext cx="1964" cy="1964"/>
            </a:xfrm>
            <a:prstGeom prst="rect">
              <a:avLst/>
            </a:prstGeom>
            <a:noFill/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200" name="Text Box 7"/>
            <p:cNvSpPr txBox="1">
              <a:spLocks noChangeArrowheads="1"/>
            </p:cNvSpPr>
            <p:nvPr/>
          </p:nvSpPr>
          <p:spPr bwMode="auto">
            <a:xfrm>
              <a:off x="68" y="-91"/>
              <a:ext cx="1837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lIns="18000" tIns="10800" rIns="0" bIns="10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2400" b="1" dirty="0">
                  <a:solidFill>
                    <a:srgbClr val="0C0C0C"/>
                  </a:solidFill>
                  <a:latin typeface="宋体" pitchFamily="2" charset="-122"/>
                </a:rPr>
                <a:t>电动机使电风扇旋转</a:t>
              </a:r>
            </a:p>
          </p:txBody>
        </p:sp>
      </p:grpSp>
      <p:pic>
        <p:nvPicPr>
          <p:cNvPr id="9" name="Picture 43" descr="1614919_104230064_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77" t="64920" r="9196"/>
          <a:stretch>
            <a:fillRect/>
          </a:stretch>
        </p:blipFill>
        <p:spPr bwMode="auto">
          <a:xfrm>
            <a:off x="1619647" y="5257800"/>
            <a:ext cx="2279152" cy="137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191000" y="552593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收音机音响发声</a:t>
            </a:r>
            <a:endParaRPr lang="en-MY" sz="2400" b="1" dirty="0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4211960" y="6033641"/>
            <a:ext cx="3205162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tIns="10800" rIns="0" bIns="10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C0000"/>
                </a:solidFill>
              </a:rPr>
              <a:t>电能转化为声能</a:t>
            </a:r>
            <a:endParaRPr lang="zh-CN" altLang="en-US" sz="2800" b="1" dirty="0">
              <a:solidFill>
                <a:srgbClr val="CC0000"/>
              </a:solidFill>
              <a:latin typeface="宋体" pitchFamily="2" charset="-122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6700" y="133350"/>
            <a:ext cx="7345363" cy="654050"/>
          </a:xfrm>
        </p:spPr>
        <p:txBody>
          <a:bodyPr/>
          <a:lstStyle/>
          <a:p>
            <a:r>
              <a:rPr lang="zh-CN" altLang="en-US" dirty="0"/>
              <a:t>能量转化的例子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920044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5" grpId="0"/>
      <p:bldP spid="8197" grpId="0"/>
      <p:bldP spid="2" grpId="0"/>
      <p:bldP spid="1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电功的单位</a:t>
            </a:r>
            <a:endParaRPr lang="en-MY" sz="2800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>
                <a:latin typeface="SimSun" pitchFamily="2" charset="-122"/>
                <a:ea typeface="SimSun" pitchFamily="2" charset="-122"/>
              </a:rPr>
              <a:t>电器工作一段时间内，有多少电能转化为其他形式的能？用什么量来量度呢？</a:t>
            </a:r>
            <a:endParaRPr lang="en-US" altLang="zh-CN" sz="3200" dirty="0">
              <a:latin typeface="SimSun" pitchFamily="2" charset="-122"/>
              <a:ea typeface="SimSun" pitchFamily="2" charset="-122"/>
            </a:endParaRPr>
          </a:p>
          <a:p>
            <a:r>
              <a:rPr lang="zh-CN" altLang="en-US" sz="3200" dirty="0">
                <a:latin typeface="SimSun" pitchFamily="2" charset="-122"/>
                <a:ea typeface="SimSun" pitchFamily="2" charset="-122"/>
              </a:rPr>
              <a:t>功是能量转化的量度</a:t>
            </a:r>
            <a:endParaRPr lang="en-US" altLang="zh-CN" sz="3200" dirty="0">
              <a:latin typeface="SimSun" pitchFamily="2" charset="-122"/>
              <a:ea typeface="SimSun" pitchFamily="2" charset="-122"/>
            </a:endParaRPr>
          </a:p>
          <a:p>
            <a:r>
              <a:rPr lang="zh-CN" altLang="en-US" sz="3200" dirty="0">
                <a:latin typeface="SimSun" pitchFamily="2" charset="-122"/>
                <a:ea typeface="SimSun" pitchFamily="2" charset="-122"/>
              </a:rPr>
              <a:t>电功和机械功都是能量转化的量度，所以它们的单位都跟能量的单位一样都是</a:t>
            </a:r>
            <a:r>
              <a:rPr lang="en-US" altLang="zh-CN" sz="3200" dirty="0">
                <a:latin typeface="SimSun" pitchFamily="2" charset="-122"/>
                <a:ea typeface="SimSun" pitchFamily="2" charset="-122"/>
              </a:rPr>
              <a:t>______________</a:t>
            </a:r>
            <a:endParaRPr lang="en-MY" sz="3200" dirty="0">
              <a:latin typeface="SimSun" pitchFamily="2" charset="-122"/>
              <a:ea typeface="SimSun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71600" y="3861048"/>
            <a:ext cx="30091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焦耳（符号为 </a:t>
            </a:r>
            <a:r>
              <a:rPr lang="en-US" altLang="zh-CN" sz="28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J</a:t>
            </a:r>
            <a:r>
              <a:rPr lang="zh-CN" altLang="en-US" sz="28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）</a:t>
            </a:r>
            <a:endParaRPr lang="en-MY" sz="28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8C4774-90D3-557A-A087-FF23D03C103C}"/>
              </a:ext>
            </a:extLst>
          </p:cNvPr>
          <p:cNvSpPr txBox="1"/>
          <p:nvPr/>
        </p:nvSpPr>
        <p:spPr>
          <a:xfrm>
            <a:off x="7198864" y="255588"/>
            <a:ext cx="135165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600" dirty="0">
                <a:solidFill>
                  <a:srgbClr val="FF0000"/>
                </a:solidFill>
              </a:rPr>
              <a:t>p/g 108</a:t>
            </a:r>
          </a:p>
        </p:txBody>
      </p:sp>
    </p:spTree>
    <p:extLst>
      <p:ext uri="{BB962C8B-B14F-4D97-AF65-F5344CB8AC3E}">
        <p14:creationId xmlns:p14="http://schemas.microsoft.com/office/powerpoint/2010/main" val="118226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340741" y="904875"/>
            <a:ext cx="8575495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3200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 sz="3200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．用电器工作的过程就是利用电流做 </a:t>
            </a:r>
            <a:r>
              <a:rPr lang="en-US" altLang="zh-CN" sz="3200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_____</a:t>
            </a:r>
            <a:r>
              <a:rPr lang="zh-CN" altLang="en-US" sz="3200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，将电能转化为</a:t>
            </a:r>
            <a:r>
              <a:rPr lang="en-US" altLang="zh-CN" sz="3200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__________</a:t>
            </a:r>
            <a:r>
              <a:rPr lang="zh-CN" altLang="en-US" sz="3200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的能量的过程。</a:t>
            </a:r>
          </a:p>
        </p:txBody>
      </p:sp>
      <p:sp>
        <p:nvSpPr>
          <p:cNvPr id="10243" name="矩形 4"/>
          <p:cNvSpPr>
            <a:spLocks noChangeArrowheads="1"/>
          </p:cNvSpPr>
          <p:nvPr/>
        </p:nvSpPr>
        <p:spPr bwMode="auto">
          <a:xfrm>
            <a:off x="252413" y="188913"/>
            <a:ext cx="26209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2C5D98"/>
                    </a:gs>
                    <a:gs pos="80000">
                      <a:srgbClr val="3C7BC7"/>
                    </a:gs>
                    <a:gs pos="100000">
                      <a:srgbClr val="3A7CCB"/>
                    </a:gs>
                  </a:gsLst>
                  <a:lin ang="5400000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FF66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>
                <a:solidFill>
                  <a:srgbClr val="FFFFFF"/>
                </a:solidFill>
                <a:latin typeface="Arial" pitchFamily="34" charset="0"/>
                <a:ea typeface="宋体" pitchFamily="2" charset="-122"/>
              </a:rPr>
              <a:t>认识电流做功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304800" y="2057400"/>
            <a:ext cx="8686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2.电功与电能的关系:电流做了多少___,就消耗多少_______。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3.大小:电流所做的功与___________________</a:t>
            </a:r>
            <a:r>
              <a:rPr lang="en-US" altLang="en-US" sz="3200" dirty="0">
                <a:solidFill>
                  <a:srgbClr val="0C0C0C"/>
                </a:solidFill>
                <a:latin typeface="宋体" pitchFamily="2" charset="-122"/>
                <a:cs typeface="Times New Roman" pitchFamily="18" charset="0"/>
              </a:rPr>
              <a:t>成正比</a:t>
            </a:r>
            <a:r>
              <a:rPr lang="en-US" altLang="en-US" sz="32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。计算公式: ___________</a:t>
            </a:r>
            <a:endParaRPr lang="zh-CN" altLang="en-US" sz="3200" b="1" dirty="0">
              <a:solidFill>
                <a:srgbClr val="C00000"/>
              </a:solidFill>
              <a:latin typeface="Times New Roman" pitchFamily="18" charset="0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3200" b="1" dirty="0">
              <a:solidFill>
                <a:srgbClr val="C00000"/>
              </a:solidFill>
              <a:latin typeface="宋体" pitchFamily="2" charset="-122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25816" y="914400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功</a:t>
            </a:r>
            <a:endParaRPr lang="en-MY" sz="2800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33328" y="1524742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其他形式</a:t>
            </a:r>
            <a:endParaRPr lang="en-MY" sz="2800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53522" y="2217161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功</a:t>
            </a:r>
            <a:endParaRPr lang="en-MY" sz="2800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0" y="2937241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电能</a:t>
            </a:r>
            <a:endParaRPr lang="en-MY" sz="2800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132A52-7E25-B5E8-06C3-F6DCA5A56C76}"/>
              </a:ext>
            </a:extLst>
          </p:cNvPr>
          <p:cNvSpPr txBox="1"/>
          <p:nvPr/>
        </p:nvSpPr>
        <p:spPr>
          <a:xfrm>
            <a:off x="7198864" y="255588"/>
            <a:ext cx="135165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600" dirty="0">
                <a:solidFill>
                  <a:srgbClr val="FF0000"/>
                </a:solidFill>
              </a:rPr>
              <a:t>p/g 108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762149-2794-898F-F474-F869EB919E91}"/>
              </a:ext>
            </a:extLst>
          </p:cNvPr>
          <p:cNvSpPr txBox="1"/>
          <p:nvPr/>
        </p:nvSpPr>
        <p:spPr>
          <a:xfrm>
            <a:off x="4659387" y="3600518"/>
            <a:ext cx="43322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 err="1">
                <a:solidFill>
                  <a:srgbClr val="C00000"/>
                </a:solidFill>
                <a:latin typeface="宋体" pitchFamily="2" charset="-122"/>
                <a:cs typeface="Times New Roman" pitchFamily="18" charset="0"/>
              </a:rPr>
              <a:t>电流、电压、通电时间</a:t>
            </a:r>
            <a:endParaRPr lang="en-MY" sz="3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21BD32-5EB0-EEDF-8A2B-E81F9BB7806D}"/>
              </a:ext>
            </a:extLst>
          </p:cNvPr>
          <p:cNvSpPr txBox="1"/>
          <p:nvPr/>
        </p:nvSpPr>
        <p:spPr>
          <a:xfrm>
            <a:off x="4139952" y="4217806"/>
            <a:ext cx="2232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 = </a:t>
            </a:r>
            <a:r>
              <a:rPr lang="en-US" altLang="en-US" sz="4000" b="1" dirty="0">
                <a:solidFill>
                  <a:srgbClr val="C00000"/>
                </a:solidFill>
                <a:latin typeface="Times New Roman" pitchFamily="18" charset="0"/>
              </a:rPr>
              <a:t>V</a:t>
            </a:r>
            <a:r>
              <a:rPr lang="zh-CN" altLang="en-US" sz="4000" b="1" dirty="0">
                <a:solidFill>
                  <a:srgbClr val="C00000"/>
                </a:solidFill>
                <a:latin typeface="Times New Roman" pitchFamily="18" charset="0"/>
              </a:rPr>
              <a:t>It</a:t>
            </a:r>
            <a:endParaRPr lang="en-MY" sz="4000" dirty="0"/>
          </a:p>
        </p:txBody>
      </p:sp>
    </p:spTree>
    <p:extLst>
      <p:ext uri="{BB962C8B-B14F-4D97-AF65-F5344CB8AC3E}">
        <p14:creationId xmlns:p14="http://schemas.microsoft.com/office/powerpoint/2010/main" val="3052423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4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6"/>
          <p:cNvSpPr>
            <a:spLocks noChangeArrowheads="1"/>
          </p:cNvSpPr>
          <p:nvPr/>
        </p:nvSpPr>
        <p:spPr bwMode="auto">
          <a:xfrm>
            <a:off x="312168" y="875835"/>
            <a:ext cx="92890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sz="28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电流所做的功与</a:t>
            </a:r>
            <a:r>
              <a:rPr kumimoji="1" lang="en-US" altLang="zh-CN" sz="28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_____</a:t>
            </a:r>
            <a:r>
              <a:rPr kumimoji="1" lang="zh-CN" altLang="en-US" sz="28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、</a:t>
            </a:r>
            <a:r>
              <a:rPr kumimoji="1" lang="en-US" altLang="zh-CN" sz="28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_____</a:t>
            </a:r>
            <a:r>
              <a:rPr kumimoji="1" lang="zh-CN" altLang="en-US" sz="28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和</a:t>
            </a:r>
            <a:r>
              <a:rPr kumimoji="1" lang="en-US" altLang="zh-CN" sz="28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_________</a:t>
            </a:r>
            <a:r>
              <a:rPr kumimoji="1" lang="zh-CN" altLang="en-US" sz="28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成正比。</a:t>
            </a:r>
          </a:p>
        </p:txBody>
      </p:sp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1116013" y="4175209"/>
            <a:ext cx="6696075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sz="320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电功的计算公式：</a:t>
            </a:r>
            <a:r>
              <a:rPr kumimoji="1" lang="en-US" altLang="zh-CN" sz="320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_________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en-US" altLang="zh-CN" sz="320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kumimoji="1" lang="zh-CN" altLang="en-US" sz="320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sz="320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         单位：   </a:t>
            </a:r>
            <a:r>
              <a:rPr kumimoji="1" lang="en-US" altLang="zh-CN" sz="320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320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J</a:t>
            </a:r>
            <a:r>
              <a:rPr kumimoji="1" lang="en-US" altLang="zh-CN" sz="3200">
                <a:solidFill>
                  <a:srgbClr val="0070C0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kumimoji="1" lang="en-US" altLang="zh-CN" sz="320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= 1________</a:t>
            </a:r>
            <a:endParaRPr kumimoji="1" lang="zh-CN" altLang="en-US" sz="3200" dirty="0">
              <a:solidFill>
                <a:srgbClr val="0C0C0C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807349"/>
              </p:ext>
            </p:extLst>
          </p:nvPr>
        </p:nvGraphicFramePr>
        <p:xfrm>
          <a:off x="457200" y="1716400"/>
          <a:ext cx="7772401" cy="209360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3400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物理量</a:t>
                      </a:r>
                      <a:endParaRPr lang="en-MY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zh-CN" altLang="en-US" sz="2800" dirty="0">
                          <a:latin typeface="Times New Roman" pitchFamily="18" charset="0"/>
                        </a:rPr>
                        <a:t>电功</a:t>
                      </a:r>
                      <a:endParaRPr lang="en-MY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zh-CN" altLang="en-US" sz="2800" dirty="0">
                          <a:latin typeface="Times New Roman" pitchFamily="18" charset="0"/>
                        </a:rPr>
                        <a:t>电压</a:t>
                      </a:r>
                      <a:endParaRPr lang="en-MY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zh-CN" altLang="en-US" sz="2800" dirty="0">
                          <a:latin typeface="Times New Roman" pitchFamily="18" charset="0"/>
                        </a:rPr>
                        <a:t>电流</a:t>
                      </a:r>
                      <a:endParaRPr lang="en-MY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zh-CN" altLang="en-US" sz="2800" dirty="0">
                          <a:latin typeface="Times New Roman" pitchFamily="18" charset="0"/>
                        </a:rPr>
                        <a:t>通电时间</a:t>
                      </a:r>
                      <a:endParaRPr lang="en-MY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400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符号</a:t>
                      </a:r>
                      <a:endParaRPr lang="en-MY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400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单位（英）</a:t>
                      </a:r>
                      <a:endParaRPr lang="en-MY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400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单位（中）</a:t>
                      </a:r>
                      <a:endParaRPr lang="en-MY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6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7" name="Rectangle 3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8" name="Rectangle 35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9" name="Rectangle 3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1" name="矩形 10"/>
          <p:cNvSpPr>
            <a:spLocks noChangeArrowheads="1"/>
          </p:cNvSpPr>
          <p:nvPr/>
        </p:nvSpPr>
        <p:spPr bwMode="auto">
          <a:xfrm>
            <a:off x="5257800" y="4114800"/>
            <a:ext cx="161249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W = </a:t>
            </a:r>
            <a:r>
              <a:rPr kumimoji="1" lang="en-US" altLang="zh-CN" sz="3200" b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VIt</a:t>
            </a:r>
            <a:endParaRPr lang="zh-CN" altLang="en-US" sz="32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42" name="矩形 11"/>
          <p:cNvSpPr>
            <a:spLocks noChangeArrowheads="1"/>
          </p:cNvSpPr>
          <p:nvPr/>
        </p:nvSpPr>
        <p:spPr bwMode="auto">
          <a:xfrm>
            <a:off x="5126012" y="5589240"/>
            <a:ext cx="13131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en-US" altLang="zh-CN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V·A·s</a:t>
            </a:r>
            <a:r>
              <a:rPr kumimoji="1"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 </a:t>
            </a:r>
            <a:endParaRPr lang="zh-CN" altLang="en-US" sz="3200" b="1" dirty="0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19400" y="846911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电压</a:t>
            </a:r>
            <a:endParaRPr lang="en-MY" sz="28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239146" y="846912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sz="28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电流</a:t>
            </a:r>
            <a:endParaRPr lang="en-MY" sz="28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39375" y="838200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sz="28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通电时间</a:t>
            </a:r>
            <a:endParaRPr lang="en-MY" sz="28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06863" y="2234189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W</a:t>
            </a:r>
            <a:endParaRPr lang="en-MY" sz="24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972088" y="22429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V</a:t>
            </a:r>
            <a:endParaRPr lang="en-MY" sz="24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116650" y="2247255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I</a:t>
            </a:r>
            <a:endParaRPr lang="en-MY" sz="24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628818" y="2242900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t</a:t>
            </a:r>
            <a:endParaRPr lang="en-MY" sz="24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24609" y="277657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J</a:t>
            </a:r>
            <a:endParaRPr lang="en-MY" sz="24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989834" y="278528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V</a:t>
            </a:r>
            <a:endParaRPr lang="en-MY" sz="24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134396" y="278964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A</a:t>
            </a:r>
            <a:endParaRPr lang="en-MY" sz="24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596608" y="278528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s</a:t>
            </a:r>
            <a:endParaRPr lang="en-MY" sz="24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580664" y="327111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sz="24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焦耳</a:t>
            </a:r>
            <a:endParaRPr lang="en-MY" sz="24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843789" y="329369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sz="24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伏特</a:t>
            </a:r>
            <a:endParaRPr lang="en-MY" sz="24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67925" y="329805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sz="24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安培</a:t>
            </a:r>
            <a:endParaRPr lang="en-MY" sz="24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596608" y="328934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sz="24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秒</a:t>
            </a:r>
            <a:endParaRPr lang="en-MY" sz="24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72F35E-C918-D39B-DD59-245E363D6119}"/>
              </a:ext>
            </a:extLst>
          </p:cNvPr>
          <p:cNvSpPr txBox="1"/>
          <p:nvPr/>
        </p:nvSpPr>
        <p:spPr>
          <a:xfrm>
            <a:off x="7198864" y="255588"/>
            <a:ext cx="135165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600" dirty="0">
                <a:solidFill>
                  <a:srgbClr val="FF0000"/>
                </a:solidFill>
              </a:rPr>
              <a:t>p/g 108</a:t>
            </a:r>
          </a:p>
        </p:txBody>
      </p:sp>
    </p:spTree>
    <p:extLst>
      <p:ext uri="{BB962C8B-B14F-4D97-AF65-F5344CB8AC3E}">
        <p14:creationId xmlns:p14="http://schemas.microsoft.com/office/powerpoint/2010/main" val="378408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975" y="4648200"/>
            <a:ext cx="2105025" cy="1685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114" y="2362200"/>
            <a:ext cx="2895600" cy="1525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4225" name="Text Box 17"/>
          <p:cNvSpPr txBox="1">
            <a:spLocks noChangeArrowheads="1"/>
          </p:cNvSpPr>
          <p:nvPr/>
        </p:nvSpPr>
        <p:spPr bwMode="auto">
          <a:xfrm>
            <a:off x="475240" y="1828800"/>
            <a:ext cx="813593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dirty="0">
                <a:solidFill>
                  <a:srgbClr val="0C0C0C"/>
                </a:solidFill>
              </a:rPr>
              <a:t>    通过手电筒灯泡的电流，每秒做的功大约是</a:t>
            </a:r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r>
              <a:rPr kumimoji="1" lang="zh-CN" altLang="en-US" dirty="0">
                <a:solidFill>
                  <a:srgbClr val="C00000"/>
                </a:solidFill>
              </a:rPr>
              <a:t>焦</a:t>
            </a:r>
            <a:r>
              <a:rPr kumimoji="1" lang="zh-CN" altLang="en-US" dirty="0">
                <a:solidFill>
                  <a:srgbClr val="0C0C0C"/>
                </a:solidFill>
              </a:rPr>
              <a:t>。</a:t>
            </a:r>
            <a:r>
              <a:rPr kumimoji="1" lang="zh-CN" altLang="en-US" b="0" dirty="0">
                <a:solidFill>
                  <a:srgbClr val="0C0C0C"/>
                </a:solidFill>
              </a:rPr>
              <a:t> </a:t>
            </a:r>
          </a:p>
        </p:txBody>
      </p:sp>
      <p:sp>
        <p:nvSpPr>
          <p:cNvPr id="94226" name="Text Box 18"/>
          <p:cNvSpPr txBox="1">
            <a:spLocks noChangeArrowheads="1"/>
          </p:cNvSpPr>
          <p:nvPr/>
        </p:nvSpPr>
        <p:spPr bwMode="auto">
          <a:xfrm>
            <a:off x="468313" y="3886200"/>
            <a:ext cx="79914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dirty="0">
                <a:solidFill>
                  <a:srgbClr val="0C0C0C"/>
                </a:solidFill>
              </a:rPr>
              <a:t>    通过洗衣机的电动机中的电流每秒钟做的功大约是</a:t>
            </a:r>
            <a:r>
              <a:rPr kumimoji="1" lang="en-US" altLang="zh-CN" dirty="0">
                <a:solidFill>
                  <a:srgbClr val="C00000"/>
                </a:solidFill>
              </a:rPr>
              <a:t>200</a:t>
            </a:r>
            <a:r>
              <a:rPr kumimoji="1" lang="zh-CN" altLang="en-US" dirty="0">
                <a:solidFill>
                  <a:srgbClr val="C00000"/>
                </a:solidFill>
              </a:rPr>
              <a:t>焦</a:t>
            </a:r>
            <a:r>
              <a:rPr kumimoji="1" lang="zh-CN" altLang="en-US" dirty="0">
                <a:solidFill>
                  <a:srgbClr val="0C0C0C"/>
                </a:solidFill>
              </a:rPr>
              <a:t>。 </a:t>
            </a:r>
          </a:p>
        </p:txBody>
      </p:sp>
      <p:sp>
        <p:nvSpPr>
          <p:cNvPr id="17413" name="Text Box 19"/>
          <p:cNvSpPr txBox="1">
            <a:spLocks noChangeArrowheads="1"/>
          </p:cNvSpPr>
          <p:nvPr/>
        </p:nvSpPr>
        <p:spPr bwMode="auto">
          <a:xfrm>
            <a:off x="468313" y="909638"/>
            <a:ext cx="5486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dirty="0">
                <a:solidFill>
                  <a:srgbClr val="C00000"/>
                </a:solidFill>
              </a:rPr>
              <a:t>问题：</a:t>
            </a:r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r>
              <a:rPr kumimoji="1" lang="zh-CN" altLang="en-US" dirty="0">
                <a:solidFill>
                  <a:srgbClr val="C00000"/>
                </a:solidFill>
              </a:rPr>
              <a:t>焦耳到底有多大？</a:t>
            </a:r>
          </a:p>
        </p:txBody>
      </p:sp>
      <p:sp>
        <p:nvSpPr>
          <p:cNvPr id="17415" name="Rectangle 32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6" name="Rectangle 33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7" name="Rectangle 34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8" name="Rectangle 35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19" name="Rectangle 3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420" name="Rectangle 37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10400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25" grpId="0" autoUpdateAnimBg="0"/>
      <p:bldP spid="9422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0"/>
          <p:cNvSpPr>
            <a:spLocks noChangeArrowheads="1"/>
          </p:cNvSpPr>
          <p:nvPr/>
        </p:nvSpPr>
        <p:spPr bwMode="auto">
          <a:xfrm>
            <a:off x="436562" y="30163"/>
            <a:ext cx="42116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3600" dirty="0">
                <a:solidFill>
                  <a:srgbClr val="0C0C0C"/>
                </a:solidFill>
                <a:ea typeface="宋体" pitchFamily="2" charset="-122"/>
              </a:rPr>
              <a:t>【</a:t>
            </a:r>
            <a:r>
              <a:rPr lang="zh-CN" altLang="en-US" sz="3600" dirty="0">
                <a:solidFill>
                  <a:srgbClr val="0C0C0C"/>
                </a:solidFill>
                <a:ea typeface="宋体" pitchFamily="2" charset="-122"/>
              </a:rPr>
              <a:t>例题</a:t>
            </a:r>
            <a:r>
              <a:rPr lang="en-US" altLang="zh-CN" sz="3600" dirty="0">
                <a:solidFill>
                  <a:srgbClr val="0C0C0C"/>
                </a:solidFill>
                <a:latin typeface="Verdana" pitchFamily="34" charset="0"/>
                <a:ea typeface="宋体" pitchFamily="2" charset="-122"/>
              </a:rPr>
              <a:t>】</a:t>
            </a:r>
          </a:p>
        </p:txBody>
      </p:sp>
      <p:sp>
        <p:nvSpPr>
          <p:cNvPr id="18435" name="Text Box 21"/>
          <p:cNvSpPr txBox="1">
            <a:spLocks noChangeArrowheads="1"/>
          </p:cNvSpPr>
          <p:nvPr/>
        </p:nvSpPr>
        <p:spPr bwMode="auto">
          <a:xfrm>
            <a:off x="684213" y="715963"/>
            <a:ext cx="799147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dirty="0">
                <a:solidFill>
                  <a:srgbClr val="0C0C0C"/>
                </a:solidFill>
              </a:rPr>
              <a:t>一盏电灯连在电压是</a:t>
            </a:r>
            <a:r>
              <a:rPr kumimoji="1" lang="en-US" altLang="zh-CN" dirty="0">
                <a:solidFill>
                  <a:srgbClr val="FF0000"/>
                </a:solidFill>
              </a:rPr>
              <a:t>230V</a:t>
            </a:r>
            <a:r>
              <a:rPr kumimoji="1" lang="zh-CN" altLang="en-US" dirty="0">
                <a:solidFill>
                  <a:srgbClr val="0C0C0C"/>
                </a:solidFill>
              </a:rPr>
              <a:t>的电路上，灯泡中的电流强度是</a:t>
            </a:r>
            <a:r>
              <a:rPr kumimoji="1" lang="en-US" altLang="zh-CN" dirty="0">
                <a:solidFill>
                  <a:srgbClr val="C00000"/>
                </a:solidFill>
              </a:rPr>
              <a:t>70mA</a:t>
            </a:r>
            <a:r>
              <a:rPr kumimoji="1" lang="zh-CN" altLang="en-US" dirty="0">
                <a:solidFill>
                  <a:srgbClr val="0C0C0C"/>
                </a:solidFill>
              </a:rPr>
              <a:t>，通电</a:t>
            </a:r>
            <a:r>
              <a:rPr kumimoji="1" lang="zh-CN" altLang="en-US" dirty="0">
                <a:solidFill>
                  <a:srgbClr val="C00000"/>
                </a:solidFill>
              </a:rPr>
              <a:t>一小时</a:t>
            </a:r>
            <a:r>
              <a:rPr kumimoji="1" lang="zh-CN" altLang="en-US" dirty="0">
                <a:solidFill>
                  <a:srgbClr val="0C0C0C"/>
                </a:solidFill>
              </a:rPr>
              <a:t>，电流做了多少焦耳的功？消耗了多少电能？ </a:t>
            </a:r>
          </a:p>
        </p:txBody>
      </p:sp>
      <p:sp>
        <p:nvSpPr>
          <p:cNvPr id="96278" name="Text Box 22"/>
          <p:cNvSpPr txBox="1">
            <a:spLocks noChangeArrowheads="1"/>
          </p:cNvSpPr>
          <p:nvPr/>
        </p:nvSpPr>
        <p:spPr bwMode="auto">
          <a:xfrm>
            <a:off x="251520" y="2362200"/>
            <a:ext cx="8532812" cy="4370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dirty="0">
                <a:solidFill>
                  <a:srgbClr val="0C0C0C"/>
                </a:solidFill>
              </a:rPr>
              <a:t>解：时间 </a:t>
            </a:r>
            <a:r>
              <a:rPr kumimoji="1" lang="en-US" altLang="zh-CN" dirty="0">
                <a:solidFill>
                  <a:srgbClr val="0C0C0C"/>
                </a:solidFill>
              </a:rPr>
              <a:t>t = 1h = 3600 s</a:t>
            </a:r>
            <a:endParaRPr kumimoji="1" lang="zh-CN" altLang="en-US" dirty="0">
              <a:solidFill>
                <a:srgbClr val="0C0C0C"/>
              </a:solidFill>
            </a:endParaRP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dirty="0">
                <a:solidFill>
                  <a:srgbClr val="0C0C0C"/>
                </a:solidFill>
              </a:rPr>
              <a:t>    功   </a:t>
            </a:r>
            <a:r>
              <a:rPr kumimoji="1" lang="en-US" altLang="zh-CN" dirty="0">
                <a:solidFill>
                  <a:srgbClr val="0C0C0C"/>
                </a:solidFill>
              </a:rPr>
              <a:t>W = </a:t>
            </a:r>
            <a:r>
              <a:rPr kumimoji="1" lang="en-US" altLang="zh-CN" dirty="0" err="1">
                <a:solidFill>
                  <a:srgbClr val="0C0C0C"/>
                </a:solidFill>
              </a:rPr>
              <a:t>V</a:t>
            </a:r>
            <a:r>
              <a:rPr kumimoji="1" lang="en-US" altLang="zh-CN" dirty="0" err="1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dirty="0" err="1">
                <a:solidFill>
                  <a:srgbClr val="0C0C0C"/>
                </a:solidFill>
              </a:rPr>
              <a:t>t</a:t>
            </a:r>
            <a:r>
              <a:rPr kumimoji="1" lang="en-US" altLang="zh-CN" dirty="0">
                <a:solidFill>
                  <a:srgbClr val="0C0C0C"/>
                </a:solidFill>
              </a:rPr>
              <a:t>  </a:t>
            </a: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en-US" altLang="zh-CN" dirty="0">
                <a:solidFill>
                  <a:srgbClr val="0C0C0C"/>
                </a:solidFill>
              </a:rPr>
              <a:t>           = 230 V × 0.07 A × 3600 s</a:t>
            </a: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en-US" altLang="zh-CN" dirty="0">
                <a:solidFill>
                  <a:srgbClr val="0C0C0C"/>
                </a:solidFill>
              </a:rPr>
              <a:t>           = 57960 J</a:t>
            </a: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en-US" altLang="zh-CN" dirty="0">
                <a:solidFill>
                  <a:srgbClr val="0C0C0C"/>
                </a:solidFill>
              </a:rPr>
              <a:t>           = 5.8 × 10</a:t>
            </a:r>
            <a:r>
              <a:rPr kumimoji="1" lang="en-US" altLang="zh-CN" baseline="30000" dirty="0">
                <a:solidFill>
                  <a:srgbClr val="0C0C0C"/>
                </a:solidFill>
              </a:rPr>
              <a:t>4</a:t>
            </a:r>
            <a:r>
              <a:rPr kumimoji="1" lang="en-US" altLang="zh-CN" dirty="0">
                <a:solidFill>
                  <a:srgbClr val="0C0C0C"/>
                </a:solidFill>
              </a:rPr>
              <a:t> J</a:t>
            </a: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</a:pPr>
            <a:endParaRPr kumimoji="1" lang="en-US" altLang="zh-CN" dirty="0">
              <a:solidFill>
                <a:srgbClr val="0C0C0C"/>
              </a:solidFill>
            </a:endParaRP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sz="2800" dirty="0">
                <a:solidFill>
                  <a:srgbClr val="0C0C0C"/>
                </a:solidFill>
              </a:rPr>
              <a:t>答：电流做了</a:t>
            </a:r>
            <a:r>
              <a:rPr kumimoji="1" lang="en-US" altLang="zh-CN" sz="2800" dirty="0">
                <a:solidFill>
                  <a:srgbClr val="0C0C0C"/>
                </a:solidFill>
              </a:rPr>
              <a:t>5.8 × 10</a:t>
            </a:r>
            <a:r>
              <a:rPr kumimoji="1" lang="en-US" altLang="zh-CN" sz="2800" baseline="30000" dirty="0">
                <a:solidFill>
                  <a:srgbClr val="0C0C0C"/>
                </a:solidFill>
              </a:rPr>
              <a:t>4</a:t>
            </a:r>
            <a:r>
              <a:rPr kumimoji="1" lang="en-US" altLang="zh-CN" sz="2800" dirty="0">
                <a:solidFill>
                  <a:srgbClr val="0C0C0C"/>
                </a:solidFill>
              </a:rPr>
              <a:t> J</a:t>
            </a:r>
            <a:r>
              <a:rPr kumimoji="1" lang="zh-CN" altLang="en-US" sz="2800" dirty="0">
                <a:solidFill>
                  <a:srgbClr val="0C0C0C"/>
                </a:solidFill>
              </a:rPr>
              <a:t>的功，消耗了</a:t>
            </a:r>
            <a:r>
              <a:rPr kumimoji="1" lang="en-US" altLang="zh-CN" sz="2800" dirty="0">
                <a:solidFill>
                  <a:srgbClr val="0C0C0C"/>
                </a:solidFill>
              </a:rPr>
              <a:t>5.8×10</a:t>
            </a:r>
            <a:r>
              <a:rPr kumimoji="1" lang="en-US" altLang="zh-CN" sz="2800" baseline="30000" dirty="0">
                <a:solidFill>
                  <a:srgbClr val="0C0C0C"/>
                </a:solidFill>
              </a:rPr>
              <a:t>4</a:t>
            </a:r>
            <a:r>
              <a:rPr kumimoji="1" lang="en-US" altLang="zh-CN" sz="2800" dirty="0">
                <a:solidFill>
                  <a:srgbClr val="0C0C0C"/>
                </a:solidFill>
              </a:rPr>
              <a:t> J</a:t>
            </a:r>
            <a:r>
              <a:rPr kumimoji="1" lang="zh-CN" altLang="en-US" sz="2800" dirty="0">
                <a:solidFill>
                  <a:srgbClr val="0C0C0C"/>
                </a:solidFill>
              </a:rPr>
              <a:t>的电能。</a:t>
            </a:r>
            <a:r>
              <a:rPr kumimoji="1" lang="zh-CN" altLang="en-US" sz="2800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电流做功，也就是在消耗了电能。</a:t>
            </a:r>
            <a:endParaRPr kumimoji="1" lang="en-US" altLang="zh-CN" sz="2800" dirty="0">
              <a:solidFill>
                <a:srgbClr val="C000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8438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39" name="Rectangle 3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40" name="Rectangle 3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41" name="Rectangle 35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42" name="Rectangle 3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443" name="Rectangle 37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1976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6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6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6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6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78" grpId="0" build="allAtOnce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内容占位符 2"/>
          <p:cNvSpPr>
            <a:spLocks noGrp="1" noChangeArrowheads="1"/>
          </p:cNvSpPr>
          <p:nvPr/>
        </p:nvSpPr>
        <p:spPr bwMode="auto">
          <a:xfrm>
            <a:off x="457200" y="1905000"/>
            <a:ext cx="817245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</a:pPr>
            <a:endParaRPr lang="en-US" altLang="en-US" sz="2800" dirty="0">
              <a:solidFill>
                <a:srgbClr val="0C0C0C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en-US" alt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电功的大小与哪些因素有关？如何计算？</a:t>
            </a:r>
            <a:endParaRPr lang="en-US" sz="2800" dirty="0">
              <a:solidFill>
                <a:srgbClr val="0C0C0C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	V, I, t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alt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家庭电路中测量电能的工具是什么</a:t>
            </a:r>
            <a:r>
              <a:rPr 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r>
              <a:rPr lang="en-US" alt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测出电能的单位是什么？</a:t>
            </a:r>
            <a:endParaRPr lang="en-US" sz="2800" dirty="0">
              <a:solidFill>
                <a:srgbClr val="0C0C0C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电能表</a:t>
            </a:r>
            <a:r>
              <a:rPr lang="en-MY" altLang="zh-CN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; kWh</a:t>
            </a:r>
            <a:endParaRPr lang="en-US" sz="2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3. 1kW·h</a:t>
            </a:r>
            <a:r>
              <a:rPr lang="en-US" alt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的电能给灯和空调使用，哪个用的时间可以长一些？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	灯</a:t>
            </a:r>
          </a:p>
        </p:txBody>
      </p:sp>
      <p:sp>
        <p:nvSpPr>
          <p:cNvPr id="4100" name="TextBox 2"/>
          <p:cNvSpPr>
            <a:spLocks noChangeArrowheads="1"/>
          </p:cNvSpPr>
          <p:nvPr/>
        </p:nvSpPr>
        <p:spPr bwMode="auto">
          <a:xfrm>
            <a:off x="1981200" y="304800"/>
            <a:ext cx="5541962" cy="715089"/>
          </a:xfrm>
          <a:prstGeom prst="roundRect">
            <a:avLst>
              <a:gd name="adj" fmla="val 16667"/>
            </a:avLst>
          </a:prstGeom>
          <a:noFill/>
          <a:ln w="2857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电流做功的快慢</a:t>
            </a:r>
          </a:p>
        </p:txBody>
      </p:sp>
      <p:sp>
        <p:nvSpPr>
          <p:cNvPr id="8" name="TextBox 2"/>
          <p:cNvSpPr>
            <a:spLocks noChangeArrowheads="1"/>
          </p:cNvSpPr>
          <p:nvPr/>
        </p:nvSpPr>
        <p:spPr bwMode="auto">
          <a:xfrm>
            <a:off x="838200" y="1295400"/>
            <a:ext cx="1676400" cy="646986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想一想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C5E462-4B8F-CC1F-2CED-D94BCAFDC5E4}"/>
              </a:ext>
            </a:extLst>
          </p:cNvPr>
          <p:cNvSpPr txBox="1"/>
          <p:nvPr/>
        </p:nvSpPr>
        <p:spPr>
          <a:xfrm>
            <a:off x="7198864" y="255588"/>
            <a:ext cx="135165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600" dirty="0">
                <a:solidFill>
                  <a:srgbClr val="FF0000"/>
                </a:solidFill>
              </a:rPr>
              <a:t>p/g 108</a:t>
            </a:r>
          </a:p>
        </p:txBody>
      </p:sp>
    </p:spTree>
    <p:extLst>
      <p:ext uri="{BB962C8B-B14F-4D97-AF65-F5344CB8AC3E}">
        <p14:creationId xmlns:p14="http://schemas.microsoft.com/office/powerpoint/2010/main" val="16642672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EDE35-2105-7BAA-023B-ED28C6583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EC91372-5678-1706-82E3-A780A8ACF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57200"/>
            <a:ext cx="32689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</a:rPr>
              <a:t>灯泡上的铭牌图</a:t>
            </a:r>
          </a:p>
        </p:txBody>
      </p:sp>
      <p:sp>
        <p:nvSpPr>
          <p:cNvPr id="7174" name="Rectangle 2">
            <a:extLst>
              <a:ext uri="{FF2B5EF4-FFF2-40B4-BE49-F238E27FC236}">
                <a16:creationId xmlns:a16="http://schemas.microsoft.com/office/drawing/2014/main" id="{912C66E0-9142-7E4B-B311-111EE7CE1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9" y="4941168"/>
            <a:ext cx="7231062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节能灯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上的</a:t>
            </a:r>
            <a:r>
              <a:rPr lang="zh-CN" altLang="en-US" sz="32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“</a:t>
            </a:r>
            <a:r>
              <a:rPr lang="en-MY" altLang="zh-CN" sz="32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9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W</a:t>
            </a:r>
            <a:r>
              <a:rPr lang="en-US" sz="32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”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和</a:t>
            </a:r>
            <a:r>
              <a:rPr lang="zh-CN" altLang="en-US" sz="32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“</a:t>
            </a:r>
            <a:r>
              <a:rPr lang="en-MY" altLang="zh-CN" sz="32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12-85 </a:t>
            </a:r>
            <a:r>
              <a:rPr lang="en-US" altLang="zh-CN" sz="32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V</a:t>
            </a:r>
            <a:r>
              <a:rPr lang="en-US" sz="32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”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的字样是什么意思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?</a:t>
            </a:r>
          </a:p>
        </p:txBody>
      </p:sp>
      <p:pic>
        <p:nvPicPr>
          <p:cNvPr id="2" name="Picture 2" descr="Review: Low Voltage 12 – 85V DC/AC E27 Light Bulb – Beyondlogic">
            <a:extLst>
              <a:ext uri="{FF2B5EF4-FFF2-40B4-BE49-F238E27FC236}">
                <a16:creationId xmlns:a16="http://schemas.microsoft.com/office/drawing/2014/main" id="{AB882F8D-E93B-5E03-5742-BC3A6ABCE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675" y="1238931"/>
            <a:ext cx="5760640" cy="348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DF45F319-B89A-699C-BF57-A8DE80A1C17D}"/>
              </a:ext>
            </a:extLst>
          </p:cNvPr>
          <p:cNvGrpSpPr/>
          <p:nvPr/>
        </p:nvGrpSpPr>
        <p:grpSpPr>
          <a:xfrm>
            <a:off x="899593" y="1238931"/>
            <a:ext cx="2046514" cy="3486213"/>
            <a:chOff x="899593" y="1238931"/>
            <a:chExt cx="2046514" cy="3486213"/>
          </a:xfrm>
        </p:grpSpPr>
        <p:pic>
          <p:nvPicPr>
            <p:cNvPr id="2050" name="Picture 2" descr="Philips LED BC GLS 13W = 100W 1521 lm 3k Warm White CorePro Bulb NON Dim 10  Pack | eBay UK">
              <a:extLst>
                <a:ext uri="{FF2B5EF4-FFF2-40B4-BE49-F238E27FC236}">
                  <a16:creationId xmlns:a16="http://schemas.microsoft.com/office/drawing/2014/main" id="{C75B81E1-BC80-A18B-0D92-FE840ED5BE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3" y="1238931"/>
              <a:ext cx="2046514" cy="3486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08EB9DED-E517-AED5-0736-B75375AC4658}"/>
                </a:ext>
              </a:extLst>
            </p:cNvPr>
            <p:cNvSpPr/>
            <p:nvPr/>
          </p:nvSpPr>
          <p:spPr bwMode="auto">
            <a:xfrm>
              <a:off x="1403648" y="3127281"/>
              <a:ext cx="835308" cy="589751"/>
            </a:xfrm>
            <a:prstGeom prst="ellipse">
              <a:avLst/>
            </a:prstGeom>
            <a:noFill/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MY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85911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647700" y="4181475"/>
            <a:ext cx="7793032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00099"/>
                </a:solidFill>
                <a:latin typeface="Tahoma" pitchFamily="34" charset="0"/>
                <a:ea typeface="宋体" pitchFamily="2" charset="-122"/>
              </a:rPr>
              <a:t>　　</a:t>
            </a:r>
            <a:r>
              <a:rPr lang="zh-CN" altLang="en-US" sz="3200" b="1" dirty="0">
                <a:solidFill>
                  <a:srgbClr val="0C0C0C"/>
                </a:solidFill>
                <a:latin typeface="Tahoma" pitchFamily="34" charset="0"/>
                <a:ea typeface="宋体" pitchFamily="2" charset="-122"/>
              </a:rPr>
              <a:t>换算关系：  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k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W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 = 10</a:t>
            </a:r>
            <a:r>
              <a:rPr lang="en-US" sz="3200" b="1" baseline="30000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3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W</a:t>
            </a:r>
            <a:endParaRPr lang="en-US" sz="3600" b="1" dirty="0">
              <a:solidFill>
                <a:srgbClr val="C00000"/>
              </a:solidFill>
              <a:latin typeface="Times New Roman" pitchFamily="18" charset="0"/>
              <a:ea typeface="宋体" pitchFamily="2" charset="-122"/>
            </a:endParaRPr>
          </a:p>
          <a:p>
            <a:pPr marL="342900" indent="-3429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　　　　　　　  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W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 = 10</a:t>
            </a:r>
            <a:r>
              <a:rPr lang="en-US" sz="3200" b="1" baseline="30000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3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3200" b="1" dirty="0" err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m</a:t>
            </a:r>
            <a:r>
              <a:rPr lang="en-US" sz="3200" b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W</a:t>
            </a:r>
            <a:endParaRPr lang="en-US" sz="3200" b="1" dirty="0">
              <a:solidFill>
                <a:srgbClr val="C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196" name="Text Box 6"/>
          <p:cNvSpPr txBox="1">
            <a:spLocks noChangeArrowheads="1"/>
          </p:cNvSpPr>
          <p:nvPr/>
        </p:nvSpPr>
        <p:spPr bwMode="auto">
          <a:xfrm>
            <a:off x="1223962" y="1878013"/>
            <a:ext cx="68040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．物理意义：表示电流做功的</a:t>
            </a:r>
            <a:r>
              <a:rPr lang="zh-CN" alt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快慢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  <p:sp>
        <p:nvSpPr>
          <p:cNvPr id="8197" name="Text Box 7"/>
          <p:cNvSpPr txBox="1">
            <a:spLocks noChangeArrowheads="1"/>
          </p:cNvSpPr>
          <p:nvPr/>
        </p:nvSpPr>
        <p:spPr bwMode="auto">
          <a:xfrm>
            <a:off x="1260475" y="2768025"/>
            <a:ext cx="18807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</a:rPr>
              <a:t>．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单位：</a:t>
            </a:r>
          </a:p>
        </p:txBody>
      </p:sp>
      <p:sp>
        <p:nvSpPr>
          <p:cNvPr id="8198" name="Text Box 8"/>
          <p:cNvSpPr txBox="1">
            <a:spLocks noChangeArrowheads="1"/>
          </p:cNvSpPr>
          <p:nvPr/>
        </p:nvSpPr>
        <p:spPr bwMode="auto">
          <a:xfrm>
            <a:off x="2946518" y="2741613"/>
            <a:ext cx="55139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瓦特，简称瓦，符号是 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  <p:sp>
        <p:nvSpPr>
          <p:cNvPr id="8199" name="Text Box 9"/>
          <p:cNvSpPr txBox="1">
            <a:spLocks noChangeArrowheads="1"/>
          </p:cNvSpPr>
          <p:nvPr/>
        </p:nvSpPr>
        <p:spPr bwMode="auto">
          <a:xfrm>
            <a:off x="2700338" y="3462338"/>
            <a:ext cx="46382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千瓦</a:t>
            </a:r>
            <a:r>
              <a:rPr lang="zh-CN" altLang="en-US" sz="32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	(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zh-CN" altLang="en-US" sz="32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)，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毫瓦</a:t>
            </a:r>
            <a:r>
              <a:rPr lang="zh-CN" altLang="en-US" sz="32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b="1" dirty="0" err="1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32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zh-CN" altLang="en-US" sz="32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569820" y="321925"/>
            <a:ext cx="70866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MY" altLang="zh-CN" sz="44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</a:rPr>
              <a:t>7.3.2 </a:t>
            </a:r>
            <a:r>
              <a:rPr lang="zh-CN" altLang="en-US" sz="44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</a:rPr>
              <a:t>电功率 </a:t>
            </a:r>
            <a:endParaRPr lang="en-MY" altLang="zh-CN" sz="4400" b="1" dirty="0">
              <a:solidFill>
                <a:srgbClr val="0C0C0C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4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Electric Power (P)</a:t>
            </a:r>
            <a:endParaRPr lang="zh-CN" altLang="en-US" sz="4400" b="1" dirty="0">
              <a:solidFill>
                <a:srgbClr val="0C0C0C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489949-C34E-1AEC-FA11-5F7386FDE327}"/>
              </a:ext>
            </a:extLst>
          </p:cNvPr>
          <p:cNvSpPr txBox="1"/>
          <p:nvPr/>
        </p:nvSpPr>
        <p:spPr>
          <a:xfrm>
            <a:off x="7198864" y="255588"/>
            <a:ext cx="135165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600" dirty="0">
                <a:solidFill>
                  <a:srgbClr val="FF0000"/>
                </a:solidFill>
              </a:rPr>
              <a:t>p/g 108</a:t>
            </a:r>
          </a:p>
        </p:txBody>
      </p:sp>
    </p:spTree>
    <p:extLst>
      <p:ext uri="{BB962C8B-B14F-4D97-AF65-F5344CB8AC3E}">
        <p14:creationId xmlns:p14="http://schemas.microsoft.com/office/powerpoint/2010/main" val="2681618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ldLvl="0" autoUpdateAnimBg="0"/>
      <p:bldP spid="8196" grpId="0" bldLvl="0" autoUpdateAnimBg="0"/>
      <p:bldP spid="8197" grpId="0" bldLvl="0" autoUpdateAnimBg="0"/>
      <p:bldP spid="8198" grpId="0" bldLvl="0" autoUpdateAnimBg="0"/>
      <p:bldP spid="8199" grpId="0" bldLvl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52400" y="1021140"/>
            <a:ext cx="899159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en-GB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. 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定义：</a:t>
            </a: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电功率等于</a:t>
            </a: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电流所做的功</a:t>
            </a:r>
            <a:r>
              <a:rPr lang="en-US" altLang="zh-CN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(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</a:t>
            </a:r>
            <a:r>
              <a:rPr 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 </a:t>
            </a: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与</a:t>
            </a: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时间 </a:t>
            </a:r>
            <a:r>
              <a:rPr lang="en-US" altLang="zh-CN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</a:t>
            </a:r>
            <a:r>
              <a:rPr 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 </a:t>
            </a: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之比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zh-CN" altLang="en-US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单位时间内电流所做的功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</a:p>
        </p:txBody>
      </p:sp>
      <p:sp>
        <p:nvSpPr>
          <p:cNvPr id="9219" name="Text Box 5"/>
          <p:cNvSpPr txBox="1">
            <a:spLocks noChangeArrowheads="1"/>
          </p:cNvSpPr>
          <p:nvPr/>
        </p:nvSpPr>
        <p:spPr bwMode="auto">
          <a:xfrm>
            <a:off x="4763071" y="4766177"/>
            <a:ext cx="4337050" cy="452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tIns="10800" rIns="0" bIns="10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（电功）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焦耳（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</a:p>
        </p:txBody>
      </p:sp>
      <p:sp>
        <p:nvSpPr>
          <p:cNvPr id="9220" name="Text Box 6"/>
          <p:cNvSpPr txBox="1">
            <a:spLocks noChangeArrowheads="1"/>
          </p:cNvSpPr>
          <p:nvPr/>
        </p:nvSpPr>
        <p:spPr bwMode="auto">
          <a:xfrm>
            <a:off x="4933454" y="5524593"/>
            <a:ext cx="3382962" cy="452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tIns="10800" rIns="0" bIns="10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（时间）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秒（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</a:p>
        </p:txBody>
      </p:sp>
      <p:sp>
        <p:nvSpPr>
          <p:cNvPr id="9221" name="Text Box 7"/>
          <p:cNvSpPr txBox="1">
            <a:spLocks noChangeArrowheads="1"/>
          </p:cNvSpPr>
          <p:nvPr/>
        </p:nvSpPr>
        <p:spPr bwMode="auto">
          <a:xfrm>
            <a:off x="227889" y="4488470"/>
            <a:ext cx="4183063" cy="452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tIns="10800" rIns="0" bIns="10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（电功率）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瓦特（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</a:p>
        </p:txBody>
      </p:sp>
      <p:sp>
        <p:nvSpPr>
          <p:cNvPr id="9223" name="TextBox 2"/>
          <p:cNvSpPr txBox="1">
            <a:spLocks noChangeArrowheads="1"/>
          </p:cNvSpPr>
          <p:nvPr/>
        </p:nvSpPr>
        <p:spPr bwMode="auto">
          <a:xfrm>
            <a:off x="474663" y="2613025"/>
            <a:ext cx="20891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600" b="1">
                <a:solidFill>
                  <a:srgbClr val="003300"/>
                </a:solidFill>
              </a:rPr>
              <a:t>定义式：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572000" y="2529186"/>
                <a:ext cx="4134465" cy="14482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r>
                  <a:rPr lang="zh-CN" altLang="en-US" sz="4800" b="1" dirty="0">
                    <a:solidFill>
                      <a:srgbClr val="C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电功率 </a:t>
                </a:r>
                <a:r>
                  <a:rPr lang="en-US" sz="4800" b="1" dirty="0">
                    <a:solidFill>
                      <a:srgbClr val="0000FF"/>
                    </a:solidFill>
                    <a:latin typeface="Arial" pitchFamily="34" charset="0"/>
                    <a:ea typeface="宋体" pitchFamily="2" charset="-122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4800" b="1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rPr>
                          <m:t>电功</m:t>
                        </m:r>
                      </m:num>
                      <m:den>
                        <m:r>
                          <m:rPr>
                            <m:nor/>
                          </m:rPr>
                          <a:rPr lang="zh-CN" altLang="en-US" sz="4000" b="1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rPr>
                          <m:t>时间</m:t>
                        </m:r>
                      </m:den>
                    </m:f>
                  </m:oMath>
                </a14:m>
                <a:endParaRPr lang="en-MY" sz="4800" b="1" dirty="0">
                  <a:solidFill>
                    <a:srgbClr val="0000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529186"/>
                <a:ext cx="4134465" cy="1448217"/>
              </a:xfrm>
              <a:prstGeom prst="rect">
                <a:avLst/>
              </a:prstGeom>
              <a:blipFill>
                <a:blip r:embed="rId2"/>
                <a:stretch>
                  <a:fillRect l="-6637" b="-379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295400" y="228600"/>
            <a:ext cx="70866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44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</a:rPr>
              <a:t>电功率 </a:t>
            </a:r>
            <a:r>
              <a:rPr lang="en-US" altLang="zh-CN" sz="4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(P) </a:t>
            </a:r>
            <a:r>
              <a:rPr lang="zh-CN" altLang="en-US" sz="4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的定义</a:t>
            </a:r>
          </a:p>
        </p:txBody>
      </p:sp>
      <p:graphicFrame>
        <p:nvGraphicFramePr>
          <p:cNvPr id="27649" name="Object 1"/>
          <p:cNvGraphicFramePr>
            <a:graphicFrameLocks noChangeAspect="1"/>
          </p:cNvGraphicFramePr>
          <p:nvPr/>
        </p:nvGraphicFramePr>
        <p:xfrm>
          <a:off x="2667000" y="2590801"/>
          <a:ext cx="1676400" cy="1446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57002" imgH="393529" progId="">
                  <p:embed/>
                </p:oleObj>
              </mc:Choice>
              <mc:Fallback>
                <p:oleObj name="公式" r:id="rId3" imgW="457002" imgH="3935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590801"/>
                        <a:ext cx="1676400" cy="14463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CDF6586-90C6-4659-2E2E-3E9B7B3C82A8}"/>
              </a:ext>
            </a:extLst>
          </p:cNvPr>
          <p:cNvSpPr txBox="1"/>
          <p:nvPr/>
        </p:nvSpPr>
        <p:spPr>
          <a:xfrm>
            <a:off x="7751058" y="165692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p/g 109</a:t>
            </a:r>
            <a:endParaRPr lang="en-MY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0297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19" grpId="0" autoUpdateAnimBg="0"/>
      <p:bldP spid="9220" grpId="0" autoUpdateAnimBg="0"/>
      <p:bldP spid="9221" grpId="0" autoUpdateAnimBg="0"/>
      <p:bldP spid="9223" grpId="0" autoUpdateAnimBg="0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33350"/>
            <a:ext cx="8572500" cy="654050"/>
          </a:xfrm>
        </p:spPr>
        <p:txBody>
          <a:bodyPr/>
          <a:lstStyle/>
          <a:p>
            <a:pPr algn="ctr"/>
            <a:r>
              <a:rPr lang="zh-CN" altLang="en-US" sz="4000" b="0" dirty="0">
                <a:solidFill>
                  <a:schemeClr val="tx1"/>
                </a:solidFill>
              </a:rPr>
              <a:t>“想一想</a:t>
            </a:r>
            <a:r>
              <a:rPr lang="en-GB" altLang="zh-CN" sz="4000" b="0" dirty="0">
                <a:solidFill>
                  <a:schemeClr val="tx1"/>
                </a:solidFill>
              </a:rPr>
              <a:t>”</a:t>
            </a:r>
            <a:r>
              <a:rPr lang="zh-CN" altLang="en-US" sz="4000" b="0" dirty="0">
                <a:solidFill>
                  <a:schemeClr val="tx1"/>
                </a:solidFill>
              </a:rPr>
              <a:t>（课本</a:t>
            </a:r>
            <a:r>
              <a:rPr lang="en-US" altLang="zh-CN" sz="4000" b="0" dirty="0">
                <a:solidFill>
                  <a:schemeClr val="tx1"/>
                </a:solidFill>
              </a:rPr>
              <a:t>109</a:t>
            </a:r>
            <a:r>
              <a:rPr lang="zh-CN" altLang="en-US" sz="4000" b="0" dirty="0">
                <a:solidFill>
                  <a:schemeClr val="tx1"/>
                </a:solidFill>
              </a:rPr>
              <a:t>页） </a:t>
            </a:r>
            <a:endParaRPr lang="en-MY" sz="40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915399" cy="5486400"/>
          </a:xfrm>
        </p:spPr>
        <p:txBody>
          <a:bodyPr/>
          <a:lstStyle/>
          <a:p>
            <a:pPr>
              <a:buNone/>
            </a:pPr>
            <a:r>
              <a:rPr lang="en-US" altLang="zh-CN" sz="3200" dirty="0"/>
              <a:t>“15W</a:t>
            </a:r>
            <a:r>
              <a:rPr lang="zh-CN" altLang="en-US" sz="3200" dirty="0"/>
              <a:t>”的节能灯正常发光时，</a:t>
            </a:r>
            <a:endParaRPr lang="en-US" altLang="zh-CN" sz="3200" dirty="0"/>
          </a:p>
          <a:p>
            <a:pPr>
              <a:buNone/>
            </a:pPr>
            <a:r>
              <a:rPr lang="zh-CN" altLang="en-US" sz="3200" dirty="0"/>
              <a:t>每</a:t>
            </a:r>
            <a:r>
              <a:rPr lang="zh-CN" altLang="en-US" sz="3200" dirty="0">
                <a:highlight>
                  <a:srgbClr val="FFFF00"/>
                </a:highlight>
              </a:rPr>
              <a:t>秒钟</a:t>
            </a:r>
            <a:r>
              <a:rPr lang="zh-CN" altLang="en-US" sz="3200" dirty="0"/>
              <a:t>内电流对灯做了多少功？</a:t>
            </a:r>
            <a:endParaRPr lang="en-US" altLang="zh-CN" sz="3200" dirty="0"/>
          </a:p>
          <a:p>
            <a:pPr>
              <a:buFont typeface="Arial" pitchFamily="34" charset="0"/>
              <a:buChar char="•"/>
            </a:pPr>
            <a:r>
              <a:rPr lang="en-US" altLang="zh-CN" sz="3200" dirty="0"/>
              <a:t>15W = _______</a:t>
            </a:r>
          </a:p>
          <a:p>
            <a:pPr>
              <a:buFont typeface="Arial" pitchFamily="34" charset="0"/>
              <a:buChar char="•"/>
            </a:pPr>
            <a:r>
              <a:rPr lang="zh-CN" altLang="en-US" sz="3200" dirty="0"/>
              <a:t>每秒电流对节能灯做功 </a:t>
            </a:r>
            <a:r>
              <a:rPr lang="en-US" altLang="zh-CN" sz="3200" dirty="0"/>
              <a:t>_____</a:t>
            </a:r>
          </a:p>
          <a:p>
            <a:pPr marL="0" indent="0">
              <a:buFont typeface="Arial" pitchFamily="34" charset="0"/>
              <a:buChar char="•"/>
            </a:pPr>
            <a:endParaRPr lang="en-US" altLang="zh-CN" sz="3200" dirty="0"/>
          </a:p>
          <a:p>
            <a:pPr>
              <a:buFont typeface="Arial" pitchFamily="34" charset="0"/>
              <a:buChar char="•"/>
            </a:pPr>
            <a:r>
              <a:rPr lang="zh-CN" altLang="en-US" sz="3200" dirty="0"/>
              <a:t>那么，每</a:t>
            </a:r>
            <a:r>
              <a:rPr lang="zh-CN" altLang="en-US" sz="3200" dirty="0">
                <a:highlight>
                  <a:srgbClr val="FFFF00"/>
                </a:highlight>
              </a:rPr>
              <a:t>分钟</a:t>
            </a:r>
            <a:r>
              <a:rPr lang="zh-CN" altLang="en-US" sz="3200" dirty="0"/>
              <a:t>内电流对节能灯做功为 </a:t>
            </a:r>
            <a:endParaRPr lang="en-US" altLang="zh-CN" sz="3200" dirty="0"/>
          </a:p>
          <a:p>
            <a:pPr marL="0" indent="0">
              <a:buFont typeface="Arial" pitchFamily="34" charset="0"/>
              <a:buChar char="•"/>
            </a:pPr>
            <a:endParaRPr lang="en-US" altLang="zh-CN" sz="3200" dirty="0"/>
          </a:p>
          <a:p>
            <a:pPr>
              <a:buFont typeface="Arial" pitchFamily="34" charset="0"/>
              <a:buChar char="•"/>
            </a:pPr>
            <a:r>
              <a:rPr lang="zh-CN" altLang="en-US" sz="3200" dirty="0"/>
              <a:t>每分钟节能灯把 </a:t>
            </a:r>
            <a:r>
              <a:rPr lang="en-US" altLang="zh-CN" sz="3200" dirty="0"/>
              <a:t>____</a:t>
            </a:r>
            <a:r>
              <a:rPr lang="zh-CN" altLang="en-US" sz="3200" dirty="0"/>
              <a:t>的电能转化为光能和热能</a:t>
            </a:r>
            <a:endParaRPr lang="en-MY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3606671" y="5344180"/>
            <a:ext cx="965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900J</a:t>
            </a:r>
            <a:endParaRPr lang="en-MY" sz="2800" dirty="0">
              <a:solidFill>
                <a:srgbClr val="FF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13370" y="2433935"/>
            <a:ext cx="1143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15 J/s</a:t>
            </a:r>
            <a:endParaRPr lang="en-MY" sz="2800" dirty="0">
              <a:solidFill>
                <a:srgbClr val="FF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76800" y="3043535"/>
            <a:ext cx="864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15 J</a:t>
            </a:r>
            <a:endParaRPr lang="en-MY" sz="2800" dirty="0">
              <a:solidFill>
                <a:srgbClr val="FF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4774348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  </a:t>
            </a:r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15X 60  = 900J</a:t>
            </a:r>
            <a:endParaRPr lang="en-MY" sz="3200" dirty="0">
              <a:solidFill>
                <a:srgbClr val="FF0000"/>
              </a:solidFill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8" name="Picture 2" descr="C:\Users\Teacher-2016\Favorites\Downloads\100001809802_1376900136731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349152"/>
            <a:ext cx="2308448" cy="230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7766DB2D-C384-6199-2990-B52D3951BF76}"/>
              </a:ext>
            </a:extLst>
          </p:cNvPr>
          <p:cNvSpPr txBox="1"/>
          <p:nvPr/>
        </p:nvSpPr>
        <p:spPr>
          <a:xfrm>
            <a:off x="7751058" y="165692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p/g 109</a:t>
            </a:r>
            <a:endParaRPr lang="en-MY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76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内容占位符 2"/>
          <p:cNvSpPr>
            <a:spLocks noGrp="1" noChangeArrowheads="1"/>
          </p:cNvSpPr>
          <p:nvPr/>
        </p:nvSpPr>
        <p:spPr bwMode="auto">
          <a:xfrm>
            <a:off x="373063" y="1052513"/>
            <a:ext cx="8389937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alt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把一盏灯接在家庭电路上通电</a:t>
            </a:r>
            <a:r>
              <a:rPr 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20min</a:t>
            </a:r>
            <a:r>
              <a:rPr lang="en-US" alt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，消耗的电能是</a:t>
            </a:r>
            <a:r>
              <a:rPr 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72000J</a:t>
            </a:r>
            <a:r>
              <a:rPr lang="en-US" alt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；</a:t>
            </a:r>
            <a:endParaRPr lang="en-US" sz="2800" dirty="0">
              <a:solidFill>
                <a:srgbClr val="0C0C0C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endParaRPr lang="en-US" sz="2800" dirty="0">
              <a:solidFill>
                <a:srgbClr val="0C0C0C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把</a:t>
            </a:r>
            <a:r>
              <a:rPr lang="zh-CN" altLang="en-US" sz="28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</a:rPr>
              <a:t>热水器</a:t>
            </a:r>
            <a:r>
              <a:rPr lang="en-US" alt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接在家庭电路上通电</a:t>
            </a:r>
            <a:r>
              <a:rPr 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1min</a:t>
            </a:r>
            <a:r>
              <a:rPr lang="en-US" alt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，消耗的电能是</a:t>
            </a:r>
            <a:r>
              <a:rPr 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60000J</a:t>
            </a:r>
            <a:r>
              <a:rPr lang="en-US" alt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。</a:t>
            </a:r>
            <a:endParaRPr lang="en-US" sz="2800" dirty="0">
              <a:solidFill>
                <a:srgbClr val="0C0C0C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altLang="en-US" sz="2800" dirty="0" err="1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哪个消耗的电能多？电流在哪个用电器上做功快</a:t>
            </a:r>
            <a:r>
              <a:rPr lang="en-US" altLang="en-US" sz="28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400" y="160020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60W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0" y="31242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1000W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525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热水器功率比灯更大，做功更快</a:t>
            </a:r>
            <a:endParaRPr lang="en-US" sz="2800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10976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repeatCount="indefinite" fill="remov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3" dur="500" autoRev="1" fill="remove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autoRev="1" fill="remove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500" autoRev="1" fill="remove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autoRev="1" fill="remove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ChangeArrowheads="1"/>
          </p:cNvSpPr>
          <p:nvPr/>
        </p:nvSpPr>
        <p:spPr bwMode="auto">
          <a:xfrm>
            <a:off x="2743200" y="457200"/>
            <a:ext cx="40322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</a:rPr>
              <a:t>电热水器铭牌图</a:t>
            </a:r>
          </a:p>
        </p:txBody>
      </p:sp>
      <p:grpSp>
        <p:nvGrpSpPr>
          <p:cNvPr id="6147" name="Group 3"/>
          <p:cNvGrpSpPr>
            <a:grpSpLocks/>
          </p:cNvGrpSpPr>
          <p:nvPr/>
        </p:nvGrpSpPr>
        <p:grpSpPr bwMode="auto">
          <a:xfrm>
            <a:off x="4213225" y="1268413"/>
            <a:ext cx="4572000" cy="3612852"/>
            <a:chOff x="0" y="0"/>
            <a:chExt cx="4084637" cy="2591890"/>
          </a:xfrm>
        </p:grpSpPr>
        <p:sp>
          <p:nvSpPr>
            <p:cNvPr id="6152" name="Rectangle 10"/>
            <p:cNvSpPr>
              <a:spLocks noChangeArrowheads="1"/>
            </p:cNvSpPr>
            <p:nvPr/>
          </p:nvSpPr>
          <p:spPr bwMode="auto">
            <a:xfrm>
              <a:off x="1477844" y="2260688"/>
              <a:ext cx="1722438" cy="331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 电热水器</a:t>
              </a:r>
            </a:p>
          </p:txBody>
        </p:sp>
        <p:pic>
          <p:nvPicPr>
            <p:cNvPr id="6153" name="Picture 2" descr="http://t3.baidu.com/it/u=2465841174,2392232100&amp;fm=23&amp;gp=0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7" r="1141" b="14104"/>
            <a:stretch>
              <a:fillRect/>
            </a:stretch>
          </p:blipFill>
          <p:spPr bwMode="auto">
            <a:xfrm>
              <a:off x="0" y="0"/>
              <a:ext cx="4084637" cy="2339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7174" name="Rectangle 2"/>
          <p:cNvSpPr>
            <a:spLocks noChangeArrowheads="1"/>
          </p:cNvSpPr>
          <p:nvPr/>
        </p:nvSpPr>
        <p:spPr bwMode="auto">
          <a:xfrm>
            <a:off x="956469" y="5170381"/>
            <a:ext cx="7231062" cy="1217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电热水器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上的额定电压、额定功率的字样是什么意思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?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234DF3-6345-2FAB-04F0-5D796DF5D2DE}"/>
              </a:ext>
            </a:extLst>
          </p:cNvPr>
          <p:cNvSpPr/>
          <p:nvPr/>
        </p:nvSpPr>
        <p:spPr bwMode="auto">
          <a:xfrm>
            <a:off x="4499992" y="3212976"/>
            <a:ext cx="4032448" cy="507518"/>
          </a:xfrm>
          <a:prstGeom prst="rect">
            <a:avLst/>
          </a:prstGeom>
          <a:noFill/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MY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7F833B-C3EA-4BD7-3E16-CCE94F82C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74" y="1219061"/>
            <a:ext cx="3709169" cy="370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352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5712" y="1371600"/>
            <a:ext cx="8659688" cy="266464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3200" dirty="0">
                <a:latin typeface="楷体" pitchFamily="49" charset="-122"/>
                <a:ea typeface="楷体" pitchFamily="49" charset="-122"/>
              </a:rPr>
              <a:t>1.</a:t>
            </a:r>
            <a:r>
              <a:rPr lang="en-US" altLang="en-US" sz="3200" b="1" dirty="0">
                <a:latin typeface="楷体" pitchFamily="49" charset="-122"/>
                <a:ea typeface="楷体" pitchFamily="49" charset="-122"/>
              </a:rPr>
              <a:t>额定电压</a:t>
            </a:r>
            <a:r>
              <a:rPr lang="en-US" altLang="en-US" sz="3200" dirty="0">
                <a:latin typeface="楷体" pitchFamily="49" charset="-122"/>
                <a:ea typeface="楷体" pitchFamily="49" charset="-122"/>
              </a:rPr>
              <a:t>(rated voltage)</a:t>
            </a:r>
            <a:r>
              <a:rPr lang="en-US" altLang="en-US" sz="3200" dirty="0" err="1"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en-US" sz="3200" b="1" dirty="0" err="1">
                <a:latin typeface="楷体" pitchFamily="49" charset="-122"/>
                <a:ea typeface="楷体" pitchFamily="49" charset="-122"/>
              </a:rPr>
              <a:t>额定功率</a:t>
            </a:r>
            <a:r>
              <a:rPr lang="en-US" altLang="en-US" sz="3200" dirty="0">
                <a:latin typeface="楷体" pitchFamily="49" charset="-122"/>
                <a:ea typeface="楷体" pitchFamily="49" charset="-122"/>
              </a:rPr>
              <a:t>(rated power)：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3200" b="1" dirty="0" err="1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额定电压</a:t>
            </a:r>
            <a:r>
              <a:rPr lang="en-US" altLang="en-US" sz="3200" dirty="0" err="1">
                <a:latin typeface="楷体" pitchFamily="49" charset="-122"/>
                <a:ea typeface="楷体" pitchFamily="49" charset="-122"/>
              </a:rPr>
              <a:t>：指用电器</a:t>
            </a:r>
            <a:r>
              <a:rPr lang="en-US" altLang="en-US" sz="3200" dirty="0">
                <a:latin typeface="楷体" pitchFamily="49" charset="-122"/>
                <a:ea typeface="楷体" pitchFamily="49" charset="-122"/>
              </a:rPr>
              <a:t>_________</a:t>
            </a:r>
            <a:r>
              <a:rPr lang="en-US" altLang="en-US" sz="3200" dirty="0" err="1">
                <a:latin typeface="楷体" pitchFamily="49" charset="-122"/>
                <a:ea typeface="楷体" pitchFamily="49" charset="-122"/>
              </a:rPr>
              <a:t>的电压</a:t>
            </a:r>
            <a:r>
              <a:rPr lang="en-US" altLang="en-US" sz="3200" dirty="0">
                <a:latin typeface="楷体" pitchFamily="49" charset="-122"/>
                <a:ea typeface="楷体" pitchFamily="49" charset="-122"/>
              </a:rPr>
              <a:t>；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3200" b="1" dirty="0" err="1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额定功率</a:t>
            </a:r>
            <a:r>
              <a:rPr lang="en-US" altLang="en-US" sz="3200" dirty="0" err="1">
                <a:latin typeface="楷体" pitchFamily="49" charset="-122"/>
                <a:ea typeface="楷体" pitchFamily="49" charset="-122"/>
              </a:rPr>
              <a:t>：指用电器在</a:t>
            </a:r>
            <a:r>
              <a:rPr lang="en-US" altLang="en-US" sz="3200" dirty="0">
                <a:latin typeface="楷体" pitchFamily="49" charset="-122"/>
                <a:ea typeface="楷体" pitchFamily="49" charset="-122"/>
              </a:rPr>
              <a:t>__________</a:t>
            </a:r>
            <a:r>
              <a:rPr lang="en-US" altLang="en-US" sz="3200" dirty="0" err="1">
                <a:latin typeface="楷体" pitchFamily="49" charset="-122"/>
                <a:ea typeface="楷体" pitchFamily="49" charset="-122"/>
              </a:rPr>
              <a:t>下工作的</a:t>
            </a:r>
            <a:r>
              <a:rPr lang="en-US" altLang="en-US" sz="3200" dirty="0">
                <a:latin typeface="楷体" pitchFamily="49" charset="-122"/>
                <a:ea typeface="楷体" pitchFamily="49" charset="-122"/>
              </a:rPr>
              <a:t>             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3200" dirty="0">
                <a:latin typeface="楷体" pitchFamily="49" charset="-122"/>
                <a:ea typeface="楷体" pitchFamily="49" charset="-122"/>
              </a:rPr>
              <a:t>          功率</a:t>
            </a:r>
            <a:r>
              <a:rPr lang="en-US" sz="3200" dirty="0">
                <a:latin typeface="楷体" pitchFamily="49" charset="-122"/>
                <a:ea typeface="楷体" pitchFamily="49" charset="-122"/>
              </a:rPr>
              <a:t>,</a:t>
            </a:r>
            <a:r>
              <a:rPr lang="en-US" altLang="en-US" sz="3200" dirty="0" err="1">
                <a:latin typeface="楷体" pitchFamily="49" charset="-122"/>
                <a:ea typeface="楷体" pitchFamily="49" charset="-122"/>
              </a:rPr>
              <a:t>或者说</a:t>
            </a:r>
            <a:r>
              <a:rPr lang="en-US" altLang="en-US" sz="3200" dirty="0">
                <a:latin typeface="楷体" pitchFamily="49" charset="-122"/>
                <a:ea typeface="楷体" pitchFamily="49" charset="-122"/>
              </a:rPr>
              <a:t>__________</a:t>
            </a:r>
            <a:r>
              <a:rPr lang="en-US" altLang="en-US" sz="3200" dirty="0" err="1">
                <a:latin typeface="楷体" pitchFamily="49" charset="-122"/>
                <a:ea typeface="楷体" pitchFamily="49" charset="-122"/>
              </a:rPr>
              <a:t>的功率</a:t>
            </a:r>
            <a:r>
              <a:rPr lang="en-US" altLang="en-US" sz="3200" dirty="0">
                <a:latin typeface="楷体" pitchFamily="49" charset="-122"/>
                <a:ea typeface="楷体" pitchFamily="49" charset="-122"/>
              </a:rPr>
              <a:t>。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315144" y="4145340"/>
            <a:ext cx="86764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3200" dirty="0">
                <a:solidFill>
                  <a:srgbClr val="0C0C0C"/>
                </a:solidFill>
                <a:latin typeface="楷体" pitchFamily="49" charset="-122"/>
                <a:ea typeface="楷体" pitchFamily="49" charset="-122"/>
              </a:rPr>
              <a:t>2.</a:t>
            </a:r>
            <a:r>
              <a:rPr lang="zh-CN" altLang="en-US" sz="3200" b="1" dirty="0">
                <a:solidFill>
                  <a:srgbClr val="0C0C0C"/>
                </a:solidFill>
                <a:latin typeface="楷体" pitchFamily="49" charset="-122"/>
                <a:ea typeface="楷体" pitchFamily="49" charset="-122"/>
              </a:rPr>
              <a:t>实际电压</a:t>
            </a:r>
            <a:r>
              <a:rPr lang="zh-CN" altLang="en-US" sz="3200" dirty="0">
                <a:solidFill>
                  <a:srgbClr val="0C0C0C"/>
                </a:solidFill>
                <a:latin typeface="楷体" pitchFamily="49" charset="-122"/>
                <a:ea typeface="楷体" pitchFamily="49" charset="-122"/>
              </a:rPr>
              <a:t>和</a:t>
            </a:r>
            <a:r>
              <a:rPr lang="zh-CN" altLang="en-US" sz="3200" b="1" dirty="0">
                <a:solidFill>
                  <a:srgbClr val="0C0C0C"/>
                </a:solidFill>
                <a:latin typeface="楷体" pitchFamily="49" charset="-122"/>
                <a:ea typeface="楷体" pitchFamily="49" charset="-122"/>
              </a:rPr>
              <a:t>实际功率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实际电压</a:t>
            </a:r>
            <a:r>
              <a:rPr lang="zh-CN" altLang="en-US" sz="3200" dirty="0">
                <a:solidFill>
                  <a:srgbClr val="0C0C0C"/>
                </a:solidFill>
                <a:latin typeface="楷体" pitchFamily="49" charset="-122"/>
                <a:ea typeface="楷体" pitchFamily="49" charset="-122"/>
              </a:rPr>
              <a:t>：用电器</a:t>
            </a:r>
            <a:r>
              <a:rPr lang="en-US" altLang="zh-CN" sz="3200" dirty="0">
                <a:solidFill>
                  <a:srgbClr val="0C0C0C"/>
                </a:solidFill>
                <a:latin typeface="楷体" pitchFamily="49" charset="-122"/>
                <a:ea typeface="楷体" pitchFamily="49" charset="-122"/>
              </a:rPr>
              <a:t>__________</a:t>
            </a:r>
            <a:r>
              <a:rPr lang="zh-CN" altLang="en-US" sz="3200" dirty="0">
                <a:solidFill>
                  <a:srgbClr val="0C0C0C"/>
                </a:solidFill>
                <a:latin typeface="楷体" pitchFamily="49" charset="-122"/>
                <a:ea typeface="楷体" pitchFamily="49" charset="-122"/>
              </a:rPr>
              <a:t>的电压；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实际功率</a:t>
            </a:r>
            <a:r>
              <a:rPr lang="zh-CN" altLang="en-US" sz="3200" dirty="0">
                <a:solidFill>
                  <a:srgbClr val="0C0C0C"/>
                </a:solidFill>
                <a:latin typeface="楷体" pitchFamily="49" charset="-122"/>
                <a:ea typeface="楷体" pitchFamily="49" charset="-122"/>
              </a:rPr>
              <a:t>：用电器在</a:t>
            </a:r>
            <a:r>
              <a:rPr lang="en-US" altLang="zh-CN" sz="3200" dirty="0">
                <a:solidFill>
                  <a:srgbClr val="0C0C0C"/>
                </a:solidFill>
                <a:latin typeface="楷体" pitchFamily="49" charset="-122"/>
                <a:ea typeface="楷体" pitchFamily="49" charset="-122"/>
              </a:rPr>
              <a:t>__________</a:t>
            </a:r>
            <a:r>
              <a:rPr lang="zh-CN" altLang="en-US" sz="3200" dirty="0">
                <a:solidFill>
                  <a:srgbClr val="0C0C0C"/>
                </a:solidFill>
                <a:latin typeface="楷体" pitchFamily="49" charset="-122"/>
                <a:ea typeface="楷体" pitchFamily="49" charset="-122"/>
              </a:rPr>
              <a:t>下工作的功率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95936" y="2227333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3200" b="1" dirty="0" err="1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正常工作</a:t>
            </a:r>
            <a:endParaRPr lang="en-MY" sz="32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71876" y="3368041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3200" b="1" dirty="0" err="1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正常工作</a:t>
            </a:r>
            <a:endParaRPr lang="en-MY" sz="32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98459" y="27832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3200" b="1" dirty="0" err="1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额定电压</a:t>
            </a:r>
            <a:endParaRPr lang="en-MY" sz="32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75324" y="466856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实际工作</a:t>
            </a:r>
            <a:endParaRPr lang="en-MY" sz="28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55976" y="517533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实际电压</a:t>
            </a:r>
            <a:endParaRPr lang="en-MY" sz="2800" b="1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066800" y="152400"/>
            <a:ext cx="70866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4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额定电压和额定功率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6D3BFFE-25F2-05C8-4FCC-FAFECBA9E8B2}"/>
              </a:ext>
            </a:extLst>
          </p:cNvPr>
          <p:cNvSpPr txBox="1"/>
          <p:nvPr/>
        </p:nvSpPr>
        <p:spPr>
          <a:xfrm>
            <a:off x="7751058" y="165692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p/g 109</a:t>
            </a:r>
            <a:endParaRPr lang="en-MY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387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build="p" autoUpdateAnimBg="0"/>
      <p:bldP spid="12291" grpId="0" build="p" autoUpdateAnimBg="0"/>
      <p:bldP spid="2" grpId="0"/>
      <p:bldP spid="5" grpId="0"/>
      <p:bldP spid="3" grpId="0"/>
      <p:bldP spid="4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33350"/>
            <a:ext cx="8648700" cy="654050"/>
          </a:xfrm>
        </p:spPr>
        <p:txBody>
          <a:bodyPr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</a:rPr>
              <a:t>额定功率（课本</a:t>
            </a:r>
            <a:r>
              <a:rPr lang="en-US" sz="3200" dirty="0">
                <a:solidFill>
                  <a:schemeClr val="tx1"/>
                </a:solidFill>
              </a:rPr>
              <a:t> 109</a:t>
            </a:r>
            <a:r>
              <a:rPr lang="zh-CN" altLang="en-US" sz="3200" dirty="0">
                <a:solidFill>
                  <a:schemeClr val="tx1"/>
                </a:solidFill>
              </a:rPr>
              <a:t>页）</a:t>
            </a:r>
            <a:endParaRPr lang="en-MY" sz="32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0103" y="1208088"/>
            <a:ext cx="4143945" cy="4525962"/>
          </a:xfrm>
        </p:spPr>
        <p:txBody>
          <a:bodyPr/>
          <a:lstStyle/>
          <a:p>
            <a:r>
              <a:rPr lang="zh-CN" altLang="en-US" sz="2800" dirty="0"/>
              <a:t>超过</a:t>
            </a:r>
            <a:r>
              <a:rPr lang="en-US" altLang="zh-CN" sz="2800" dirty="0"/>
              <a:t>1000W </a:t>
            </a:r>
            <a:r>
              <a:rPr lang="zh-CN" altLang="en-US" sz="2800" dirty="0"/>
              <a:t>的用电器有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>
                <a:solidFill>
                  <a:srgbClr val="C00000"/>
                </a:solidFill>
              </a:rPr>
              <a:t>电熨斗 </a:t>
            </a:r>
            <a:r>
              <a:rPr lang="en-US" altLang="zh-C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100-1500 W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rgbClr val="C00000"/>
                </a:solidFill>
              </a:rPr>
              <a:t>电饭煲 </a:t>
            </a:r>
            <a:r>
              <a:rPr lang="en-US" altLang="zh-C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300- 1500 W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rgbClr val="C00000"/>
                </a:solidFill>
              </a:rPr>
              <a:t>空调   </a:t>
            </a:r>
            <a:r>
              <a:rPr lang="en-US" altLang="zh-C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950- 2300 W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rgbClr val="C00000"/>
                </a:solidFill>
              </a:rPr>
              <a:t>电烤炉 </a:t>
            </a:r>
            <a:r>
              <a:rPr lang="en-US" altLang="zh-C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450-1500 W</a:t>
            </a:r>
          </a:p>
          <a:p>
            <a:endParaRPr lang="en-US" sz="2800" dirty="0"/>
          </a:p>
          <a:p>
            <a:r>
              <a:rPr lang="zh-CN" altLang="en-US" sz="2800" dirty="0"/>
              <a:t>其他的额定功率：</a:t>
            </a:r>
            <a:endParaRPr lang="en-US" sz="2800" dirty="0"/>
          </a:p>
          <a:p>
            <a:pPr marL="0" indent="0">
              <a:buNone/>
            </a:pPr>
            <a:r>
              <a:rPr lang="zh-CN" altLang="en-US" sz="2800" dirty="0"/>
              <a:t>电脑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日光灯</a:t>
            </a:r>
            <a:endParaRPr lang="en-MY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2339752" y="4869160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400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100-300 </a:t>
            </a:r>
            <a:r>
              <a:rPr lang="en-US" altLang="zh-CN" sz="2400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W</a:t>
            </a:r>
            <a:endParaRPr lang="en-MY" sz="2400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11760" y="5363924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400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3-40 </a:t>
            </a:r>
            <a:r>
              <a:rPr lang="en-US" altLang="zh-CN" sz="2400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W</a:t>
            </a:r>
            <a:endParaRPr lang="en-MY" sz="2400" dirty="0">
              <a:solidFill>
                <a:srgbClr val="C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0269164-9DE4-1E72-2289-EAD15575C7CE}"/>
              </a:ext>
            </a:extLst>
          </p:cNvPr>
          <p:cNvSpPr txBox="1"/>
          <p:nvPr/>
        </p:nvSpPr>
        <p:spPr>
          <a:xfrm>
            <a:off x="7751058" y="165692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p/g 109</a:t>
            </a:r>
            <a:endParaRPr lang="en-MY" sz="2400" dirty="0">
              <a:solidFill>
                <a:srgbClr val="FF0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C06D5BF-1F3F-9912-605A-662D653B513A}"/>
              </a:ext>
            </a:extLst>
          </p:cNvPr>
          <p:cNvSpPr txBox="1">
            <a:spLocks/>
          </p:cNvSpPr>
          <p:nvPr/>
        </p:nvSpPr>
        <p:spPr bwMode="auto">
          <a:xfrm>
            <a:off x="179511" y="6054034"/>
            <a:ext cx="8833431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3200" kern="0" dirty="0">
                <a:solidFill>
                  <a:schemeClr val="tx1"/>
                </a:solidFill>
              </a:rPr>
              <a:t>对同类型的电灯，消耗的功率越大，亮度越</a:t>
            </a:r>
            <a:r>
              <a:rPr lang="en-MY" altLang="zh-CN" sz="3200" kern="0" dirty="0">
                <a:solidFill>
                  <a:schemeClr val="tx1"/>
                </a:solidFill>
              </a:rPr>
              <a:t>____</a:t>
            </a:r>
            <a:endParaRPr lang="en-MY" sz="3200" kern="0" dirty="0">
              <a:solidFill>
                <a:schemeClr val="tx1"/>
              </a:solidFill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3CCF1B8E-3955-57AC-010E-C7D2200E2888}"/>
              </a:ext>
            </a:extLst>
          </p:cNvPr>
          <p:cNvSpPr txBox="1"/>
          <p:nvPr/>
        </p:nvSpPr>
        <p:spPr>
          <a:xfrm>
            <a:off x="8102133" y="5949280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亮</a:t>
            </a:r>
            <a:endParaRPr lang="en-MY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8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25" name="Rectangle 85"/>
          <p:cNvSpPr>
            <a:spLocks noChangeArrowheads="1"/>
          </p:cNvSpPr>
          <p:nvPr/>
        </p:nvSpPr>
        <p:spPr bwMode="auto">
          <a:xfrm>
            <a:off x="0" y="863600"/>
            <a:ext cx="8964613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3838" indent="1588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</a:pPr>
            <a:r>
              <a:rPr lang="zh-CN" altLang="en-US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有甲、乙、丙三个灯（标有的电压值和功率值如下所示）</a:t>
            </a:r>
            <a:r>
              <a:rPr lang="en-US" altLang="zh-CN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, </a:t>
            </a:r>
            <a:r>
              <a:rPr lang="zh-CN" altLang="en-US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均正常工作</a:t>
            </a:r>
            <a:r>
              <a:rPr lang="en-US" altLang="zh-CN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,</a:t>
            </a:r>
            <a:r>
              <a:rPr lang="zh-CN" altLang="en-US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试比较他们的亮暗程度。</a:t>
            </a:r>
          </a:p>
        </p:txBody>
      </p:sp>
      <p:sp>
        <p:nvSpPr>
          <p:cNvPr id="13315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6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7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8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19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320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87112" name="Rectangle 72"/>
          <p:cNvSpPr>
            <a:spLocks noChangeArrowheads="1"/>
          </p:cNvSpPr>
          <p:nvPr/>
        </p:nvSpPr>
        <p:spPr bwMode="auto">
          <a:xfrm>
            <a:off x="0" y="116632"/>
            <a:ext cx="46434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3600" dirty="0">
                <a:solidFill>
                  <a:srgbClr val="0C0C0C"/>
                </a:solidFill>
                <a:latin typeface="Verdana" pitchFamily="34" charset="0"/>
                <a:ea typeface="宋体" pitchFamily="2" charset="-122"/>
              </a:rPr>
              <a:t>【</a:t>
            </a:r>
            <a:r>
              <a:rPr lang="zh-CN" altLang="en-US" sz="3600" dirty="0">
                <a:solidFill>
                  <a:srgbClr val="0C0C0C"/>
                </a:solidFill>
                <a:latin typeface="Verdana" pitchFamily="34" charset="0"/>
                <a:ea typeface="宋体" pitchFamily="2" charset="-122"/>
              </a:rPr>
              <a:t>例题</a:t>
            </a:r>
            <a:r>
              <a:rPr lang="en-US" altLang="zh-CN" sz="3600" dirty="0">
                <a:solidFill>
                  <a:srgbClr val="0C0C0C"/>
                </a:solidFill>
                <a:latin typeface="Verdana" pitchFamily="34" charset="0"/>
                <a:ea typeface="宋体" pitchFamily="2" charset="-122"/>
              </a:rPr>
              <a:t>】</a:t>
            </a:r>
          </a:p>
        </p:txBody>
      </p:sp>
      <p:grpSp>
        <p:nvGrpSpPr>
          <p:cNvPr id="2" name="Group 73"/>
          <p:cNvGrpSpPr>
            <a:grpSpLocks/>
          </p:cNvGrpSpPr>
          <p:nvPr/>
        </p:nvGrpSpPr>
        <p:grpSpPr bwMode="auto">
          <a:xfrm>
            <a:off x="395288" y="2636838"/>
            <a:ext cx="2614612" cy="4149725"/>
            <a:chOff x="249" y="1661"/>
            <a:chExt cx="1647" cy="2614"/>
          </a:xfrm>
        </p:grpSpPr>
        <p:pic>
          <p:nvPicPr>
            <p:cNvPr id="13333" name="Picture 74" descr="2126989_000706003_2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248" r="52122"/>
            <a:stretch>
              <a:fillRect/>
            </a:stretch>
          </p:blipFill>
          <p:spPr bwMode="auto">
            <a:xfrm>
              <a:off x="249" y="1661"/>
              <a:ext cx="1647" cy="2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34" name="WordArt 75"/>
            <p:cNvSpPr>
              <a:spLocks noChangeArrowheads="1" noChangeShapeType="1" noTextEdit="1"/>
            </p:cNvSpPr>
            <p:nvPr/>
          </p:nvSpPr>
          <p:spPr bwMode="auto">
            <a:xfrm>
              <a:off x="431" y="1933"/>
              <a:ext cx="1270" cy="1406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2161372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MY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</a:rPr>
                <a:t>220V 60W</a:t>
              </a:r>
            </a:p>
          </p:txBody>
        </p:sp>
        <p:sp>
          <p:nvSpPr>
            <p:cNvPr id="13335" name="Text Box 76"/>
            <p:cNvSpPr txBox="1">
              <a:spLocks noChangeArrowheads="1"/>
            </p:cNvSpPr>
            <p:nvPr/>
          </p:nvSpPr>
          <p:spPr bwMode="auto">
            <a:xfrm>
              <a:off x="566" y="2478"/>
              <a:ext cx="1225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5400">
                  <a:solidFill>
                    <a:srgbClr val="000000"/>
                  </a:solidFill>
                </a:rPr>
                <a:t> 甲</a:t>
              </a:r>
            </a:p>
          </p:txBody>
        </p:sp>
      </p:grpSp>
      <p:grpSp>
        <p:nvGrpSpPr>
          <p:cNvPr id="3" name="Group 77"/>
          <p:cNvGrpSpPr>
            <a:grpSpLocks/>
          </p:cNvGrpSpPr>
          <p:nvPr/>
        </p:nvGrpSpPr>
        <p:grpSpPr bwMode="auto">
          <a:xfrm>
            <a:off x="3276600" y="2708275"/>
            <a:ext cx="2676525" cy="4105275"/>
            <a:chOff x="2109" y="1706"/>
            <a:chExt cx="1686" cy="2586"/>
          </a:xfrm>
        </p:grpSpPr>
        <p:pic>
          <p:nvPicPr>
            <p:cNvPr id="13330" name="Picture 78" descr="2126989_000706003_2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370" b="53178"/>
            <a:stretch>
              <a:fillRect/>
            </a:stretch>
          </p:blipFill>
          <p:spPr bwMode="auto">
            <a:xfrm>
              <a:off x="2109" y="1706"/>
              <a:ext cx="1686" cy="2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31" name="WordArt 79"/>
            <p:cNvSpPr>
              <a:spLocks noChangeArrowheads="1" noChangeShapeType="1" noTextEdit="1"/>
            </p:cNvSpPr>
            <p:nvPr/>
          </p:nvSpPr>
          <p:spPr bwMode="auto">
            <a:xfrm>
              <a:off x="2336" y="1979"/>
              <a:ext cx="1270" cy="1406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2161372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MY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</a:rPr>
                <a:t>110V 40W</a:t>
              </a:r>
            </a:p>
          </p:txBody>
        </p:sp>
        <p:sp>
          <p:nvSpPr>
            <p:cNvPr id="13332" name="Text Box 80"/>
            <p:cNvSpPr txBox="1">
              <a:spLocks noChangeArrowheads="1"/>
            </p:cNvSpPr>
            <p:nvPr/>
          </p:nvSpPr>
          <p:spPr bwMode="auto">
            <a:xfrm>
              <a:off x="2499" y="2469"/>
              <a:ext cx="1225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5400">
                  <a:solidFill>
                    <a:srgbClr val="000000"/>
                  </a:solidFill>
                </a:rPr>
                <a:t> 乙</a:t>
              </a:r>
            </a:p>
          </p:txBody>
        </p:sp>
      </p:grpSp>
      <p:grpSp>
        <p:nvGrpSpPr>
          <p:cNvPr id="4" name="Group 81"/>
          <p:cNvGrpSpPr>
            <a:grpSpLocks/>
          </p:cNvGrpSpPr>
          <p:nvPr/>
        </p:nvGrpSpPr>
        <p:grpSpPr bwMode="auto">
          <a:xfrm>
            <a:off x="6300788" y="2781300"/>
            <a:ext cx="2593975" cy="4076700"/>
            <a:chOff x="3969" y="1752"/>
            <a:chExt cx="1634" cy="2568"/>
          </a:xfrm>
        </p:grpSpPr>
        <p:pic>
          <p:nvPicPr>
            <p:cNvPr id="13327" name="Picture 82" descr="2126989_000706003_2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122" b="52762"/>
            <a:stretch>
              <a:fillRect/>
            </a:stretch>
          </p:blipFill>
          <p:spPr bwMode="auto">
            <a:xfrm>
              <a:off x="3969" y="1752"/>
              <a:ext cx="1634" cy="2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28" name="WordArt 83"/>
            <p:cNvSpPr>
              <a:spLocks noChangeArrowheads="1" noChangeShapeType="1" noTextEdit="1"/>
            </p:cNvSpPr>
            <p:nvPr/>
          </p:nvSpPr>
          <p:spPr bwMode="auto">
            <a:xfrm>
              <a:off x="4105" y="1979"/>
              <a:ext cx="1270" cy="1406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2161372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MY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</a:rPr>
                <a:t>110V 60W</a:t>
              </a:r>
            </a:p>
          </p:txBody>
        </p:sp>
        <p:sp>
          <p:nvSpPr>
            <p:cNvPr id="13329" name="Text Box 84"/>
            <p:cNvSpPr txBox="1">
              <a:spLocks noChangeArrowheads="1"/>
            </p:cNvSpPr>
            <p:nvPr/>
          </p:nvSpPr>
          <p:spPr bwMode="auto">
            <a:xfrm>
              <a:off x="4277" y="2460"/>
              <a:ext cx="1225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5400" dirty="0">
                  <a:solidFill>
                    <a:srgbClr val="000000"/>
                  </a:solidFill>
                </a:rPr>
                <a:t> 丙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115616" y="5661248"/>
            <a:ext cx="7366119" cy="70788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4000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决定灯泡的亮暗的因素是电功率</a:t>
            </a:r>
            <a:endParaRPr lang="en-MY" sz="4000" dirty="0">
              <a:solidFill>
                <a:srgbClr val="FFFF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7111" name="Text Box 71"/>
          <p:cNvSpPr txBox="1">
            <a:spLocks noChangeArrowheads="1"/>
          </p:cNvSpPr>
          <p:nvPr/>
        </p:nvSpPr>
        <p:spPr bwMode="auto">
          <a:xfrm>
            <a:off x="3124200" y="2057400"/>
            <a:ext cx="5105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Times New Roman" pitchFamily="18" charset="0"/>
              </a:rPr>
              <a:t>甲、丙一样亮，乙最暗。</a:t>
            </a:r>
            <a:endParaRPr kumimoji="1" lang="zh-CN" altLang="en-US" sz="44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250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7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87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87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7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6" presetClass="emph" presetSubtype="0" repeatCount="indefinite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25" grpId="0" build="p"/>
      <p:bldP spid="87125" grpId="1" build="p"/>
      <p:bldP spid="87112" grpId="0"/>
      <p:bldP spid="87112" grpId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0" name="Rectangle 3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1" name="Rectangl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2" name="Rectangle 3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3" name="Rectangle 3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4" name="Rectangle 3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4345" name="Rectangle 34"/>
          <p:cNvSpPr>
            <a:spLocks noChangeArrowheads="1"/>
          </p:cNvSpPr>
          <p:nvPr/>
        </p:nvSpPr>
        <p:spPr bwMode="auto">
          <a:xfrm>
            <a:off x="-252413" y="3284538"/>
            <a:ext cx="9144001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4346" name="Rectangle 35"/>
          <p:cNvSpPr>
            <a:spLocks noChangeArrowheads="1"/>
          </p:cNvSpPr>
          <p:nvPr/>
        </p:nvSpPr>
        <p:spPr bwMode="auto">
          <a:xfrm>
            <a:off x="0" y="188640"/>
            <a:ext cx="46434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3600" dirty="0">
                <a:solidFill>
                  <a:srgbClr val="0C0C0C"/>
                </a:solidFill>
                <a:latin typeface="Verdana" pitchFamily="34" charset="0"/>
                <a:ea typeface="宋体" pitchFamily="2" charset="-122"/>
              </a:rPr>
              <a:t>【</a:t>
            </a:r>
            <a:r>
              <a:rPr lang="zh-CN" altLang="en-US" sz="3600" dirty="0">
                <a:solidFill>
                  <a:srgbClr val="0C0C0C"/>
                </a:solidFill>
                <a:latin typeface="Verdana" pitchFamily="34" charset="0"/>
                <a:ea typeface="宋体" pitchFamily="2" charset="-122"/>
              </a:rPr>
              <a:t>例题 </a:t>
            </a:r>
            <a:r>
              <a:rPr lang="en-US" altLang="zh-CN" sz="3600" dirty="0">
                <a:solidFill>
                  <a:srgbClr val="0C0C0C"/>
                </a:solidFill>
                <a:latin typeface="Verdana" pitchFamily="34" charset="0"/>
                <a:ea typeface="宋体" pitchFamily="2" charset="-122"/>
              </a:rPr>
              <a:t>1】</a:t>
            </a:r>
          </a:p>
        </p:txBody>
      </p:sp>
      <p:sp>
        <p:nvSpPr>
          <p:cNvPr id="14347" name="Text Box 36"/>
          <p:cNvSpPr txBox="1">
            <a:spLocks noChangeArrowheads="1"/>
          </p:cNvSpPr>
          <p:nvPr/>
        </p:nvSpPr>
        <p:spPr bwMode="auto">
          <a:xfrm>
            <a:off x="468313" y="1268413"/>
            <a:ext cx="86042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0C0C0C"/>
                </a:solidFill>
              </a:rPr>
              <a:t>将标明“</a:t>
            </a:r>
            <a:r>
              <a:rPr lang="en-US" altLang="zh-CN" dirty="0">
                <a:solidFill>
                  <a:srgbClr val="0C0C0C"/>
                </a:solidFill>
              </a:rPr>
              <a:t>230V 60W”</a:t>
            </a:r>
            <a:r>
              <a:rPr lang="zh-CN" altLang="en-US" dirty="0">
                <a:solidFill>
                  <a:srgbClr val="0C0C0C"/>
                </a:solidFill>
              </a:rPr>
              <a:t>的灯泡接在电路中，通电</a:t>
            </a:r>
            <a:r>
              <a:rPr lang="en-US" altLang="zh-CN" dirty="0">
                <a:solidFill>
                  <a:srgbClr val="0C0C0C"/>
                </a:solidFill>
              </a:rPr>
              <a:t>5h</a:t>
            </a:r>
            <a:r>
              <a:rPr lang="zh-CN" altLang="en-US" dirty="0">
                <a:solidFill>
                  <a:srgbClr val="0C0C0C"/>
                </a:solidFill>
              </a:rPr>
              <a:t>，电流做了多少功？</a:t>
            </a:r>
          </a:p>
        </p:txBody>
      </p:sp>
      <p:sp>
        <p:nvSpPr>
          <p:cNvPr id="101413" name="Text Box 37"/>
          <p:cNvSpPr txBox="1">
            <a:spLocks noChangeArrowheads="1"/>
          </p:cNvSpPr>
          <p:nvPr/>
        </p:nvSpPr>
        <p:spPr bwMode="auto">
          <a:xfrm>
            <a:off x="395288" y="2814638"/>
            <a:ext cx="73453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>
                <a:solidFill>
                  <a:srgbClr val="0C0C0C"/>
                </a:solidFill>
              </a:rPr>
              <a:t>解：根据电功率公式          ，</a:t>
            </a:r>
          </a:p>
        </p:txBody>
      </p:sp>
      <p:graphicFrame>
        <p:nvGraphicFramePr>
          <p:cNvPr id="101414" name="Object 38"/>
          <p:cNvGraphicFramePr>
            <a:graphicFrameLocks noChangeAspect="1"/>
          </p:cNvGraphicFramePr>
          <p:nvPr/>
        </p:nvGraphicFramePr>
        <p:xfrm>
          <a:off x="4643438" y="2598738"/>
          <a:ext cx="129698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57002" imgH="393529" progId="">
                  <p:embed/>
                </p:oleObj>
              </mc:Choice>
              <mc:Fallback>
                <p:oleObj name="公式" r:id="rId8" imgW="457002" imgH="3935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2598738"/>
                        <a:ext cx="129698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15" name="Text Box 39"/>
          <p:cNvSpPr txBox="1">
            <a:spLocks noChangeArrowheads="1"/>
          </p:cNvSpPr>
          <p:nvPr/>
        </p:nvSpPr>
        <p:spPr bwMode="auto">
          <a:xfrm>
            <a:off x="1223963" y="3763963"/>
            <a:ext cx="7740650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fontAlgn="base" hangingPunct="1">
              <a:spcBef>
                <a:spcPct val="3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电流所做的功  </a:t>
            </a:r>
            <a:r>
              <a:rPr lang="en-US" altLang="zh-CN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W = P t</a:t>
            </a:r>
          </a:p>
          <a:p>
            <a:pPr eaLnBrk="1" fontAlgn="base" hangingPunct="1">
              <a:spcBef>
                <a:spcPct val="3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                               = 60 W × 5 × 3600 s</a:t>
            </a:r>
          </a:p>
          <a:p>
            <a:pPr eaLnBrk="1" fontAlgn="base" hangingPunct="1">
              <a:spcBef>
                <a:spcPct val="3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                               = 1.08 × 10</a:t>
            </a:r>
            <a:r>
              <a:rPr lang="en-US" altLang="zh-CN" baseline="300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zh-CN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 J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2020416" y="1235074"/>
            <a:ext cx="1130424" cy="681757"/>
          </a:xfrm>
          <a:prstGeom prst="ellipse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MY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0600" y="764704"/>
            <a:ext cx="1808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额定电压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endParaRPr lang="en-MY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3150840" y="1196752"/>
            <a:ext cx="792088" cy="681757"/>
          </a:xfrm>
          <a:prstGeom prst="ellipse">
            <a:avLst/>
          </a:prstGeom>
          <a:noFill/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MY">
              <a:solidFill>
                <a:srgbClr val="00206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83711" y="836712"/>
            <a:ext cx="2169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额定电功率</a:t>
            </a:r>
            <a:r>
              <a:rPr lang="en-US" altLang="zh-CN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endParaRPr lang="en-MY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59071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13" grpId="0"/>
      <p:bldP spid="101415" grpId="0"/>
      <p:bldP spid="2" grpId="0" animBg="1"/>
      <p:bldP spid="3" grpId="0"/>
      <p:bldP spid="16" grpId="0" animBg="1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10"/>
          <p:cNvGrpSpPr>
            <a:grpSpLocks/>
          </p:cNvGrpSpPr>
          <p:nvPr/>
        </p:nvGrpSpPr>
        <p:grpSpPr bwMode="auto">
          <a:xfrm>
            <a:off x="7164388" y="763588"/>
            <a:ext cx="1827826" cy="720725"/>
            <a:chOff x="0" y="0"/>
            <a:chExt cx="1192" cy="624"/>
          </a:xfrm>
        </p:grpSpPr>
        <p:sp>
          <p:nvSpPr>
            <p:cNvPr id="9226" name="Rectangle 11"/>
            <p:cNvSpPr>
              <a:spLocks noChangeArrowheads="1"/>
            </p:cNvSpPr>
            <p:nvPr/>
          </p:nvSpPr>
          <p:spPr bwMode="auto">
            <a:xfrm>
              <a:off x="0" y="0"/>
              <a:ext cx="1174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endParaRPr lang="zh-CN" altLang="en-US" sz="3200">
                <a:solidFill>
                  <a:srgbClr val="0C0C0C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9227" name="Rectangle 6"/>
            <p:cNvSpPr>
              <a:spLocks noChangeArrowheads="1"/>
            </p:cNvSpPr>
            <p:nvPr/>
          </p:nvSpPr>
          <p:spPr bwMode="auto">
            <a:xfrm>
              <a:off x="239" y="65"/>
              <a:ext cx="953" cy="5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en-US" sz="3200" b="1" dirty="0">
                  <a:solidFill>
                    <a:srgbClr val="C00000"/>
                  </a:solidFill>
                  <a:latin typeface="Times New Roman" pitchFamily="18" charset="0"/>
                </a:rPr>
                <a:t>P =VI   </a:t>
              </a:r>
            </a:p>
          </p:txBody>
        </p:sp>
      </p:grpSp>
      <p:sp>
        <p:nvSpPr>
          <p:cNvPr id="10245" name="Rectangle 2"/>
          <p:cNvSpPr>
            <a:spLocks noChangeArrowheads="1"/>
          </p:cNvSpPr>
          <p:nvPr/>
        </p:nvSpPr>
        <p:spPr bwMode="auto">
          <a:xfrm>
            <a:off x="2413000" y="690563"/>
            <a:ext cx="54673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168400" indent="-1168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因为 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W=</a:t>
            </a:r>
            <a:r>
              <a:rPr lang="en-US" sz="3200" b="1" dirty="0" err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VIt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，所以可以推出</a:t>
            </a:r>
          </a:p>
        </p:txBody>
      </p:sp>
      <p:sp>
        <p:nvSpPr>
          <p:cNvPr id="9220" name="TextBox 7"/>
          <p:cNvSpPr txBox="1">
            <a:spLocks noChangeArrowheads="1"/>
          </p:cNvSpPr>
          <p:nvPr/>
        </p:nvSpPr>
        <p:spPr bwMode="auto">
          <a:xfrm>
            <a:off x="34925" y="835025"/>
            <a:ext cx="23780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600" dirty="0">
                <a:solidFill>
                  <a:srgbClr val="0C0C0C"/>
                </a:solidFill>
              </a:rPr>
              <a:t> </a:t>
            </a:r>
            <a:r>
              <a:rPr lang="en-US" sz="3600" dirty="0">
                <a:solidFill>
                  <a:srgbClr val="0C0C0C"/>
                </a:solidFill>
                <a:latin typeface="Times New Roman" pitchFamily="18" charset="0"/>
              </a:rPr>
              <a:t>4</a:t>
            </a:r>
            <a:r>
              <a:rPr lang="zh-CN" altLang="en-US" sz="3600" dirty="0">
                <a:solidFill>
                  <a:srgbClr val="0C0C0C"/>
                </a:solidFill>
              </a:rPr>
              <a:t>.推导式：</a:t>
            </a:r>
          </a:p>
        </p:txBody>
      </p:sp>
      <p:sp>
        <p:nvSpPr>
          <p:cNvPr id="10247" name="圆角矩形 8"/>
          <p:cNvSpPr>
            <a:spLocks noChangeArrowheads="1"/>
          </p:cNvSpPr>
          <p:nvPr/>
        </p:nvSpPr>
        <p:spPr bwMode="auto">
          <a:xfrm>
            <a:off x="323850" y="1843088"/>
            <a:ext cx="7642225" cy="649287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0099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用于知道电压、电流求电功率</a:t>
            </a:r>
          </a:p>
        </p:txBody>
      </p:sp>
      <p:sp>
        <p:nvSpPr>
          <p:cNvPr id="10248" name="TextBox 11"/>
          <p:cNvSpPr txBox="1">
            <a:spLocks noChangeArrowheads="1"/>
          </p:cNvSpPr>
          <p:nvPr/>
        </p:nvSpPr>
        <p:spPr bwMode="auto">
          <a:xfrm>
            <a:off x="395288" y="2706688"/>
            <a:ext cx="6156325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3600" dirty="0">
                <a:solidFill>
                  <a:srgbClr val="0C0C0C"/>
                </a:solidFill>
                <a:latin typeface="Times New Roman" pitchFamily="18" charset="0"/>
                <a:ea typeface="楷体" pitchFamily="49" charset="-122"/>
              </a:rPr>
              <a:t>5</a:t>
            </a:r>
            <a:r>
              <a:rPr lang="zh-CN" altLang="en-US" sz="3600" dirty="0">
                <a:solidFill>
                  <a:srgbClr val="0C0C0C"/>
                </a:solidFill>
              </a:rPr>
              <a:t>.</a:t>
            </a:r>
            <a:r>
              <a:rPr lang="zh-CN" altLang="en-US" sz="3600" b="1" dirty="0">
                <a:solidFill>
                  <a:srgbClr val="0C0C0C"/>
                </a:solidFill>
              </a:rPr>
              <a:t>电功率的含义</a:t>
            </a:r>
          </a:p>
        </p:txBody>
      </p:sp>
      <p:sp>
        <p:nvSpPr>
          <p:cNvPr id="10249" name="TextBox 4"/>
          <p:cNvSpPr txBox="1">
            <a:spLocks noChangeArrowheads="1"/>
          </p:cNvSpPr>
          <p:nvPr/>
        </p:nvSpPr>
        <p:spPr bwMode="auto">
          <a:xfrm>
            <a:off x="395288" y="3427413"/>
            <a:ext cx="8226425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600" b="1" dirty="0">
                <a:solidFill>
                  <a:srgbClr val="0C0C0C"/>
                </a:solidFill>
                <a:latin typeface="汉仪咪咪体简" pitchFamily="1" charset="-122"/>
                <a:ea typeface="汉仪咪咪体简" pitchFamily="1" charset="-122"/>
              </a:rPr>
              <a:t>议一议：</a:t>
            </a:r>
            <a:r>
              <a:rPr lang="zh-CN" altLang="en-US" sz="3600" b="1" dirty="0">
                <a:solidFill>
                  <a:srgbClr val="003300"/>
                </a:solidFill>
                <a:latin typeface="宋体" pitchFamily="2" charset="-122"/>
              </a:rPr>
              <a:t>与同学交流</a:t>
            </a:r>
            <a:r>
              <a:rPr lang="en-US" sz="3600" b="1" dirty="0">
                <a:solidFill>
                  <a:srgbClr val="003300"/>
                </a:solidFill>
                <a:latin typeface="宋体" pitchFamily="2" charset="-122"/>
              </a:rPr>
              <a:t>100W</a:t>
            </a:r>
            <a:r>
              <a:rPr lang="zh-CN" altLang="en-US" sz="3600" b="1" dirty="0">
                <a:solidFill>
                  <a:srgbClr val="003300"/>
                </a:solidFill>
                <a:latin typeface="宋体" pitchFamily="2" charset="-122"/>
              </a:rPr>
              <a:t>的含义？</a:t>
            </a:r>
          </a:p>
        </p:txBody>
      </p:sp>
      <p:sp>
        <p:nvSpPr>
          <p:cNvPr id="10250" name="圆角矩形 13"/>
          <p:cNvSpPr>
            <a:spLocks noChangeArrowheads="1"/>
          </p:cNvSpPr>
          <p:nvPr/>
        </p:nvSpPr>
        <p:spPr bwMode="auto">
          <a:xfrm>
            <a:off x="323850" y="4291013"/>
            <a:ext cx="8569325" cy="6477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提示：电功率是电流</a:t>
            </a:r>
            <a:r>
              <a:rPr lang="zh-CN" altLang="en-US" sz="3200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单位时间内电流所做的功</a:t>
            </a:r>
            <a:endParaRPr lang="zh-CN" altLang="en-US" sz="3200" dirty="0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762000" y="5299075"/>
            <a:ext cx="78486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</a:rPr>
              <a:t>瓦特</a:t>
            </a:r>
            <a:r>
              <a:rPr lang="zh-CN" altLang="en-US" sz="3200" b="1" dirty="0">
                <a:solidFill>
                  <a:srgbClr val="0C0C0C"/>
                </a:solidFill>
              </a:rPr>
              <a:t>物理意义</a:t>
            </a:r>
            <a:r>
              <a:rPr lang="en-US" sz="3200" b="1" dirty="0">
                <a:solidFill>
                  <a:srgbClr val="0C0C0C"/>
                </a:solidFill>
              </a:rPr>
              <a:t>: </a:t>
            </a:r>
            <a:r>
              <a:rPr lang="zh-CN" altLang="en-US" sz="3200" b="1" dirty="0">
                <a:solidFill>
                  <a:srgbClr val="0C0C0C"/>
                </a:solidFill>
              </a:rPr>
              <a:t>电流每秒钟做了</a:t>
            </a:r>
            <a:r>
              <a:rPr lang="en-US" sz="3200" b="1" dirty="0">
                <a:solidFill>
                  <a:srgbClr val="FF0000"/>
                </a:solidFill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</a:rPr>
              <a:t>焦尔</a:t>
            </a:r>
            <a:r>
              <a:rPr lang="zh-CN" altLang="en-US" sz="3200" b="1" dirty="0">
                <a:solidFill>
                  <a:srgbClr val="0C0C0C"/>
                </a:solidFill>
              </a:rPr>
              <a:t>的功</a:t>
            </a:r>
            <a:endParaRPr lang="en-US" altLang="zh-CN" sz="3200" b="1" dirty="0">
              <a:solidFill>
                <a:srgbClr val="0C0C0C"/>
              </a:solidFill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 W = 1 J/s</a:t>
            </a:r>
            <a:endParaRPr lang="zh-CN" alt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C90771-3196-2421-6E16-28E80F418A54}"/>
              </a:ext>
            </a:extLst>
          </p:cNvPr>
          <p:cNvSpPr txBox="1"/>
          <p:nvPr/>
        </p:nvSpPr>
        <p:spPr>
          <a:xfrm>
            <a:off x="7751058" y="165692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p/g 111</a:t>
            </a:r>
            <a:endParaRPr lang="en-MY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1866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autoUpdateAnimBg="0"/>
      <p:bldP spid="10247" grpId="0" bldLvl="0" animBg="1" autoUpdateAnimBg="0"/>
      <p:bldP spid="10248" grpId="0" autoUpdateAnimBg="0"/>
      <p:bldP spid="10249" grpId="0" autoUpdateAnimBg="0"/>
      <p:bldP spid="10250" grpId="0" bldLvl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282575" y="903461"/>
            <a:ext cx="8570913" cy="1945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lIns="97616" tIns="48808" rIns="97616" bIns="48808">
            <a:spAutoFit/>
          </a:bodyPr>
          <a:lstStyle>
            <a:lvl1pPr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0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例1</a:t>
            </a:r>
            <a:r>
              <a:rPr lang="en-MY" altLang="zh-CN" sz="30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: (a)</a:t>
            </a:r>
            <a:r>
              <a:rPr lang="zh-CN" altLang="en-US" sz="30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一盏电灯连在电压是</a:t>
            </a:r>
            <a:r>
              <a:rPr lang="en-US" sz="30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220V</a:t>
            </a:r>
            <a:r>
              <a:rPr lang="zh-CN" altLang="en-US" sz="30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的电路中，电灯中通过的电流是</a:t>
            </a:r>
            <a:r>
              <a:rPr lang="en-US" sz="30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68mA</a:t>
            </a:r>
            <a:r>
              <a:rPr lang="zh-CN" altLang="en-US" sz="30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，这个灯泡的</a:t>
            </a:r>
            <a:r>
              <a:rPr lang="zh-CN" alt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电功率</a:t>
            </a:r>
            <a:r>
              <a:rPr lang="zh-CN" altLang="en-US" sz="30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是多少瓦？</a:t>
            </a:r>
            <a:endParaRPr lang="en-MY" altLang="zh-CN" sz="3000" b="1" dirty="0">
              <a:solidFill>
                <a:srgbClr val="0C0C0C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fontAlgn="base" hangingPunct="1">
              <a:spcAft>
                <a:spcPct val="0"/>
              </a:spcAft>
              <a:buFont typeface="Arial" pitchFamily="34" charset="0"/>
              <a:buNone/>
            </a:pPr>
            <a:r>
              <a:rPr lang="en-MY" altLang="zh-CN" sz="30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(b)</a:t>
            </a:r>
            <a:r>
              <a:rPr lang="zh-CN" altLang="en-US" sz="30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一个月总共通电</a:t>
            </a:r>
            <a:r>
              <a:rPr lang="en-US" sz="30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100h</a:t>
            </a:r>
            <a:r>
              <a:rPr lang="zh-CN" altLang="en-US" sz="30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sz="3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电</a:t>
            </a:r>
            <a:r>
              <a:rPr lang="zh-CN" alt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流所做的</a:t>
            </a:r>
            <a:r>
              <a:rPr lang="zh-CN" altLang="en-US" sz="3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功</a:t>
            </a:r>
            <a:r>
              <a:rPr lang="zh-CN" altLang="en-US" sz="30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是多少？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434975" y="5312918"/>
            <a:ext cx="8350250" cy="937313"/>
          </a:xfrm>
          <a:prstGeom prst="rect">
            <a:avLst/>
          </a:prstGeom>
          <a:noFill/>
          <a:ln>
            <a:solidFill>
              <a:srgbClr val="0000F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square" lIns="74807" tIns="37404" rIns="74807" bIns="37404">
            <a:spAutoFit/>
          </a:bodyPr>
          <a:lstStyle>
            <a:lvl1pPr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笔记：功有两个单位</a:t>
            </a:r>
            <a:r>
              <a:rPr lang="en-US" altLang="zh-CN" sz="2800" b="1" dirty="0">
                <a:solidFill>
                  <a:srgbClr val="0C0C0C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——</a:t>
            </a: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可以用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 </a:t>
            </a: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或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kW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h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（读作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千瓦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·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时）</a:t>
            </a: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来表示。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kWh</a:t>
            </a: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是用来计算电费的单位。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392112" y="3068960"/>
            <a:ext cx="8751887" cy="1306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square" lIns="74807" tIns="37404" rIns="74807" bIns="37404">
            <a:spAutoFit/>
          </a:bodyPr>
          <a:lstStyle>
            <a:lvl1pPr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解</a:t>
            </a:r>
            <a:r>
              <a:rPr lang="en-MY" altLang="zh-CN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: (a)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电功率  </a:t>
            </a:r>
            <a:r>
              <a:rPr lang="en-US" sz="3200" b="1" i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=V</a:t>
            </a:r>
            <a:r>
              <a:rPr lang="en-US" sz="3200" b="1" i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=220×0.068 A=15 W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 (b) 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电功</a:t>
            </a:r>
            <a:r>
              <a:rPr lang="en-US" sz="3200" b="1" i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3200" b="1" i="1" dirty="0" err="1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Pt</a:t>
            </a:r>
            <a:r>
              <a:rPr lang="en-US" sz="3200" b="1" i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=15</a:t>
            </a:r>
            <a:r>
              <a:rPr lang="en-US" altLang="zh-CN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×3600</a:t>
            </a:r>
            <a:r>
              <a:rPr lang="en-MY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=5.4×10</a:t>
            </a:r>
            <a:r>
              <a:rPr lang="en-US" sz="3200" b="1" baseline="300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J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609600" y="4375605"/>
            <a:ext cx="8350250" cy="567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lIns="74807" tIns="37404" rIns="74807" bIns="37404">
            <a:spAutoFit/>
          </a:bodyPr>
          <a:lstStyle>
            <a:lvl1pPr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97631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或者：</a:t>
            </a:r>
            <a:r>
              <a:rPr lang="en-US" sz="3200" b="1" i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3200" b="1" i="1" dirty="0" err="1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Pt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=0.015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</a:rPr>
              <a:t>k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W×100h=1.5 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</a:rPr>
              <a:t>k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W· h                        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066800" y="152400"/>
            <a:ext cx="70866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4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练一练：</a:t>
            </a:r>
          </a:p>
        </p:txBody>
      </p:sp>
    </p:spTree>
    <p:extLst>
      <p:ext uri="{BB962C8B-B14F-4D97-AF65-F5344CB8AC3E}">
        <p14:creationId xmlns:p14="http://schemas.microsoft.com/office/powerpoint/2010/main" val="5853812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nimBg="1"/>
      <p:bldP spid="1434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B798C5A-DF4E-59D9-0616-E5EF5BB6E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kW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· 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h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（读作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千瓦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·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时）换成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？</a:t>
            </a:r>
            <a:endParaRPr lang="en-MY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E3AE0FA-FAC4-C492-3B41-56C22815B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3600" dirty="0">
                <a:solidFill>
                  <a:srgbClr val="FF0000"/>
                </a:solidFill>
              </a:rPr>
              <a:t>课本想一想 </a:t>
            </a:r>
            <a:r>
              <a:rPr lang="en-MY" altLang="zh-CN" sz="3600" dirty="0">
                <a:solidFill>
                  <a:srgbClr val="FF0000"/>
                </a:solidFill>
              </a:rPr>
              <a:t>p/g 112</a:t>
            </a:r>
            <a:endParaRPr lang="en-MY" sz="3600" dirty="0">
              <a:solidFill>
                <a:srgbClr val="FF0000"/>
              </a:solidFill>
            </a:endParaRPr>
          </a:p>
          <a:p>
            <a:r>
              <a:rPr lang="en-MY" sz="3600" dirty="0"/>
              <a:t>1 kW X 1000 = 1000 W</a:t>
            </a:r>
          </a:p>
          <a:p>
            <a:r>
              <a:rPr lang="en-MY" sz="3600" dirty="0"/>
              <a:t>1 </a:t>
            </a:r>
            <a:r>
              <a:rPr lang="en-US" altLang="zh-CN" sz="3600" dirty="0"/>
              <a:t>h                  = 3600 s</a:t>
            </a:r>
          </a:p>
          <a:p>
            <a:endParaRPr lang="en-US" sz="3600" dirty="0"/>
          </a:p>
          <a:p>
            <a:r>
              <a:rPr lang="en-US" sz="3600" dirty="0"/>
              <a:t>1 kW h   = 1000 X 3600</a:t>
            </a:r>
          </a:p>
          <a:p>
            <a:r>
              <a:rPr lang="en-US" sz="3600" dirty="0"/>
              <a:t>               = 3600000 J</a:t>
            </a:r>
          </a:p>
          <a:p>
            <a:r>
              <a:rPr lang="en-US" sz="3600" dirty="0"/>
              <a:t>               = 3.6 X 10</a:t>
            </a:r>
            <a:r>
              <a:rPr lang="en-US" sz="3600" baseline="30000" dirty="0"/>
              <a:t>6</a:t>
            </a:r>
            <a:r>
              <a:rPr lang="en-US" sz="3600" dirty="0"/>
              <a:t> J</a:t>
            </a:r>
            <a:endParaRPr lang="en-MY" sz="3600" baseline="30000" dirty="0"/>
          </a:p>
        </p:txBody>
      </p:sp>
    </p:spTree>
    <p:extLst>
      <p:ext uri="{BB962C8B-B14F-4D97-AF65-F5344CB8AC3E}">
        <p14:creationId xmlns:p14="http://schemas.microsoft.com/office/powerpoint/2010/main" val="4253223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/>
        </p:nvSpPr>
        <p:spPr bwMode="auto">
          <a:xfrm>
            <a:off x="152400" y="228600"/>
            <a:ext cx="8686800" cy="6368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例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2：</a:t>
            </a:r>
            <a:r>
              <a:rPr lang="en-US" altLang="en-US" sz="3200" b="1" dirty="0" err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一盏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标着</a:t>
            </a:r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220V</a:t>
            </a:r>
            <a:r>
              <a:rPr lang="zh-CN" altLang="en-US" sz="3200" b="1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额定电压的</a:t>
            </a: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灯连接在照明电路中，通过的电流是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68</a:t>
            </a:r>
            <a:r>
              <a:rPr lang="en-US" altLang="en-US" sz="3200" b="1" dirty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毫</a:t>
            </a:r>
            <a:r>
              <a:rPr lang="en-US" altLang="en-US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安</a:t>
            </a: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，求：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① </a:t>
            </a:r>
            <a:r>
              <a:rPr lang="en-US" altLang="en-US" sz="3200" b="1" dirty="0" err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灯的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功率</a:t>
            </a:r>
            <a:r>
              <a:rPr lang="en-US" altLang="en-US" sz="3200" b="1" dirty="0" err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是多少</a:t>
            </a: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？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② 每天通电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小时，</a:t>
            </a:r>
            <a:r>
              <a:rPr lang="zh-CN" altLang="en-US" sz="3200" b="1" dirty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一个月</a:t>
            </a:r>
            <a:r>
              <a:rPr lang="en-US" altLang="en-US" sz="3200" b="1" dirty="0" err="1">
                <a:solidFill>
                  <a:srgbClr val="0070C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用电多少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度</a:t>
            </a: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？</a:t>
            </a:r>
            <a:endParaRPr lang="en-US" altLang="en-US" sz="32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（笔记：度 </a:t>
            </a:r>
            <a:r>
              <a:rPr lang="en-MY" altLang="zh-CN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千瓦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·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时 </a:t>
            </a:r>
            <a:r>
              <a:rPr lang="en-MY" altLang="zh-CN" sz="32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</a:rPr>
              <a:t>k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W· h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  <a:endParaRPr lang="en-US" altLang="en-US" sz="3200" b="1" dirty="0">
              <a:solidFill>
                <a:srgbClr val="0C0C0C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endParaRPr lang="en-US" altLang="en-US" sz="1200" b="1" dirty="0">
              <a:solidFill>
                <a:srgbClr val="0C0C0C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altLang="en-US" sz="3200" b="1" dirty="0" err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解：</a:t>
            </a:r>
            <a:r>
              <a:rPr lang="en-US" sz="3200" b="1" dirty="0" err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= </a:t>
            </a:r>
            <a:r>
              <a:rPr lang="en-US" altLang="zh-CN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 = 220×0.068 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瓦 </a:t>
            </a: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 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14.96 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瓦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altLang="zh-CN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                            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近似值</a:t>
            </a:r>
            <a:r>
              <a:rPr lang="en-MY" altLang="zh-CN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15</a:t>
            </a:r>
            <a:r>
              <a:rPr lang="zh-CN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瓦</a:t>
            </a:r>
            <a:endParaRPr lang="en-US" altLang="en-US" sz="3200" b="1" dirty="0">
              <a:solidFill>
                <a:srgbClr val="0C0C0C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 = Pt = 0.015</a:t>
            </a:r>
            <a:r>
              <a:rPr lang="en-US" altLang="en-US" sz="3200" b="1" dirty="0">
                <a:solidFill>
                  <a:srgbClr val="0C0C0C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千瓦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×3×30</a:t>
            </a: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小</a:t>
            </a:r>
            <a:r>
              <a:rPr lang="en-US" altLang="en-US" sz="3200" b="1" dirty="0">
                <a:solidFill>
                  <a:srgbClr val="0C0C0C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时</a:t>
            </a: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= 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1.35</a:t>
            </a: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度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endParaRPr lang="en-US" altLang="en-US" sz="3200" b="1" dirty="0">
              <a:solidFill>
                <a:srgbClr val="0C0C0C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答：灯的功率是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15</a:t>
            </a: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瓦，一个月用电</a:t>
            </a:r>
            <a:r>
              <a:rPr 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1.35</a:t>
            </a:r>
            <a:r>
              <a:rPr lang="en-US" altLang="en-US" sz="32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度。</a:t>
            </a:r>
          </a:p>
        </p:txBody>
      </p:sp>
    </p:spTree>
    <p:extLst>
      <p:ext uri="{BB962C8B-B14F-4D97-AF65-F5344CB8AC3E}">
        <p14:creationId xmlns:p14="http://schemas.microsoft.com/office/powerpoint/2010/main" val="273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466725" y="1125538"/>
            <a:ext cx="2160588" cy="70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40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1.</a:t>
            </a:r>
            <a:r>
              <a:rPr lang="zh-CN" altLang="en-US" sz="4000" b="1" dirty="0">
                <a:solidFill>
                  <a:srgbClr val="FF33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定义</a:t>
            </a:r>
            <a:r>
              <a:rPr lang="en-US" sz="4000" b="1" dirty="0">
                <a:solidFill>
                  <a:srgbClr val="FF33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: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254000" y="4797425"/>
            <a:ext cx="6983413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</a:t>
            </a:r>
            <a:r>
              <a:rPr lang="en-US" sz="40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3.</a:t>
            </a:r>
            <a:r>
              <a:rPr lang="zh-CN" altLang="en-US" sz="40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单位</a:t>
            </a:r>
            <a:r>
              <a:rPr lang="zh-CN" altLang="en-US" sz="40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国际单位是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瓦特</a:t>
            </a: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，简称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瓦 </a:t>
            </a:r>
            <a:r>
              <a:rPr lang="en-US" sz="28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 W )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</a:t>
            </a: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常用单位是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千瓦</a:t>
            </a:r>
            <a:r>
              <a:rPr lang="en-US" sz="28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 kW )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395288" y="2708275"/>
            <a:ext cx="32400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40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2.</a:t>
            </a:r>
            <a:r>
              <a:rPr lang="zh-CN" altLang="en-US" sz="40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计算公式</a:t>
            </a:r>
            <a:r>
              <a:rPr lang="zh-CN" altLang="en-US" sz="40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 </a:t>
            </a: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2514600" y="3535363"/>
            <a:ext cx="441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）定义式：</a:t>
            </a:r>
          </a:p>
        </p:txBody>
      </p:sp>
      <p:sp>
        <p:nvSpPr>
          <p:cNvPr id="16391" name="AutoShape 7"/>
          <p:cNvSpPr>
            <a:spLocks noChangeAspect="1"/>
          </p:cNvSpPr>
          <p:nvPr/>
        </p:nvSpPr>
        <p:spPr bwMode="auto">
          <a:xfrm>
            <a:off x="2514600" y="3733800"/>
            <a:ext cx="147638" cy="990600"/>
          </a:xfrm>
          <a:prstGeom prst="leftBrace">
            <a:avLst>
              <a:gd name="adj1" fmla="val 55914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MY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2514600" y="4191000"/>
            <a:ext cx="35766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）计算式： </a:t>
            </a:r>
            <a:r>
              <a:rPr lang="en-US" sz="28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＝</a:t>
            </a:r>
            <a:r>
              <a:rPr lang="en-US" altLang="zh-CN" sz="28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</a:t>
            </a:r>
            <a:r>
              <a:rPr lang="en-US" sz="2800" b="1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1547813" y="1773238"/>
            <a:ext cx="7086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楷体" pitchFamily="49" charset="-122"/>
              </a:rPr>
              <a:t>电流在单位时间内所做的功叫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</a:rPr>
              <a:t>电功率。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楷体" pitchFamily="49" charset="-122"/>
              </a:rPr>
              <a:t>它是表示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</a:rPr>
              <a:t>电流做功快慢</a:t>
            </a:r>
            <a:r>
              <a:rPr lang="zh-CN" altLang="en-US" sz="2800" b="1" dirty="0">
                <a:solidFill>
                  <a:srgbClr val="0C0C0C"/>
                </a:solidFill>
                <a:latin typeface="Times New Roman" pitchFamily="18" charset="0"/>
                <a:ea typeface="楷体" pitchFamily="49" charset="-122"/>
              </a:rPr>
              <a:t>的物理量。</a:t>
            </a:r>
          </a:p>
        </p:txBody>
      </p:sp>
      <p:graphicFrame>
        <p:nvGraphicFramePr>
          <p:cNvPr id="163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557427"/>
              </p:ext>
            </p:extLst>
          </p:nvPr>
        </p:nvGraphicFramePr>
        <p:xfrm>
          <a:off x="4876800" y="3352800"/>
          <a:ext cx="13684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" imgH="393480" progId="Equation.3">
                  <p:embed/>
                </p:oleObj>
              </mc:Choice>
              <mc:Fallback>
                <p:oleObj name="Equation" r:id="rId2" imgW="457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352800"/>
                        <a:ext cx="1368425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039010" y="228600"/>
            <a:ext cx="70866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4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小结</a:t>
            </a:r>
          </a:p>
        </p:txBody>
      </p:sp>
    </p:spTree>
    <p:extLst>
      <p:ext uri="{BB962C8B-B14F-4D97-AF65-F5344CB8AC3E}">
        <p14:creationId xmlns:p14="http://schemas.microsoft.com/office/powerpoint/2010/main" val="18900723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utoUpdateAnimBg="0"/>
      <p:bldP spid="16389" grpId="0" autoUpdateAnimBg="0"/>
      <p:bldP spid="16390" grpId="0" autoUpdateAnimBg="0"/>
      <p:bldP spid="16391" grpId="0" animBg="1"/>
      <p:bldP spid="16392" grpId="0" autoUpdateAnimBg="0"/>
      <p:bldP spid="1639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4196923"/>
            <a:ext cx="1566333" cy="1143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38200" y="185678"/>
            <a:ext cx="7086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电功 （</a:t>
            </a:r>
            <a:r>
              <a:rPr lang="en-US" altLang="zh-CN" sz="36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W</a:t>
            </a:r>
            <a:r>
              <a:rPr lang="zh-CN" altLang="en-US" sz="36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）</a:t>
            </a:r>
            <a:endParaRPr lang="en-US" altLang="zh-CN" sz="3600" b="1" dirty="0">
              <a:solidFill>
                <a:srgbClr val="FF0000"/>
              </a:solidFill>
              <a:latin typeface="Arial" pitchFamily="34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电功是能量转化的量度。</a:t>
            </a:r>
            <a:endParaRPr lang="en-US" altLang="zh-CN" sz="3600" dirty="0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计算公式</a:t>
            </a:r>
            <a:r>
              <a:rPr lang="en-US" altLang="zh-CN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: </a:t>
            </a:r>
            <a:r>
              <a:rPr lang="en-MY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W=V</a:t>
            </a:r>
            <a:r>
              <a:rPr lang="en-US" altLang="zh-CN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I</a:t>
            </a:r>
            <a:r>
              <a:rPr lang="en-MY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单位：</a:t>
            </a:r>
            <a:r>
              <a:rPr lang="en-US" altLang="zh-CN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J </a:t>
            </a:r>
            <a:r>
              <a:rPr lang="zh-CN" altLang="en-US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（焦耳）</a:t>
            </a:r>
            <a:endParaRPr lang="en-MY" sz="3600" dirty="0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MY" sz="3600" dirty="0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0600" y="3336191"/>
            <a:ext cx="631522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电功率 （</a:t>
            </a:r>
            <a:r>
              <a:rPr lang="en-US" altLang="zh-CN" sz="36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P</a:t>
            </a:r>
            <a:r>
              <a:rPr lang="zh-CN" altLang="en-US" sz="36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）</a:t>
            </a:r>
            <a:endParaRPr lang="en-US" altLang="zh-CN" sz="3600" dirty="0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表示电流做功快慢</a:t>
            </a:r>
            <a:endParaRPr lang="en-US" altLang="zh-CN" sz="3600" dirty="0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计算公式：</a:t>
            </a:r>
            <a:r>
              <a:rPr lang="en-MY" altLang="zh-CN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P</a:t>
            </a:r>
            <a:r>
              <a:rPr lang="zh-CN" altLang="en-MY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＝</a:t>
            </a:r>
            <a:r>
              <a:rPr lang="en-MY" altLang="zh-CN" sz="36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VI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zh-CN" dirty="0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国际单位是</a:t>
            </a:r>
            <a:r>
              <a:rPr lang="zh-CN" altLang="en-US" sz="3200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瓦特</a:t>
            </a:r>
            <a:r>
              <a:rPr lang="zh-CN" altLang="en-US" sz="3200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，简称</a:t>
            </a:r>
            <a:r>
              <a:rPr lang="zh-CN" altLang="en-US" sz="3200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瓦 </a:t>
            </a:r>
            <a:r>
              <a:rPr lang="en-US" sz="3200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 W )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3200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</a:t>
            </a:r>
            <a:r>
              <a:rPr lang="zh-CN" altLang="en-US" sz="3200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常用单位是</a:t>
            </a:r>
            <a:r>
              <a:rPr lang="zh-CN" altLang="en-US" sz="3200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千瓦</a:t>
            </a:r>
            <a:r>
              <a:rPr lang="en-US" sz="3200" dirty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 kW 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MY" dirty="0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593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457200" y="1676400"/>
            <a:ext cx="8208963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CC0000"/>
                </a:solidFill>
                <a:latin typeface="宋体" pitchFamily="2" charset="-122"/>
                <a:ea typeface="宋体" pitchFamily="2" charset="-122"/>
              </a:rPr>
              <a:t>电能表</a:t>
            </a:r>
            <a:r>
              <a:rPr lang="zh-CN" altLang="en-US" sz="28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</a:rPr>
              <a:t>（电度表）是测量电功的仪表。</a:t>
            </a:r>
            <a:endParaRPr lang="en-US" sz="2800" b="1" dirty="0">
              <a:solidFill>
                <a:srgbClr val="0C0C0C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12291" name="Picture 2" descr="http://t1.baidu.com/it/u=1386594746,4180309220&amp;fm=23&amp;gp=0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94"/>
          <a:stretch>
            <a:fillRect/>
          </a:stretch>
        </p:blipFill>
        <p:spPr bwMode="auto">
          <a:xfrm>
            <a:off x="2659062" y="2305050"/>
            <a:ext cx="4046538" cy="394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1562100" y="525959"/>
            <a:ext cx="59055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4400" dirty="0">
                <a:solidFill>
                  <a:srgbClr val="0C0C0C"/>
                </a:solidFill>
              </a:rPr>
              <a:t>测算电费</a:t>
            </a:r>
            <a:endParaRPr lang="en-US" altLang="zh-CN" sz="4400" dirty="0">
              <a:solidFill>
                <a:srgbClr val="0C0C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1658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dnb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725" y="1628775"/>
            <a:ext cx="3379788" cy="474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215900" y="1301750"/>
            <a:ext cx="2700338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000" b="1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●</a:t>
            </a:r>
            <a:r>
              <a:rPr lang="zh-CN" altLang="en-US" sz="2400" b="1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“</a:t>
            </a:r>
            <a:r>
              <a:rPr 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220 V</a:t>
            </a:r>
            <a:r>
              <a:rPr lang="zh-CN" altLang="en-US" sz="2400" b="1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” </a:t>
            </a: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表示</a:t>
            </a:r>
            <a:b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这个电能表应该在</a:t>
            </a:r>
            <a:b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220 </a:t>
            </a: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伏的电路中使</a:t>
            </a:r>
            <a:b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用。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381000" y="381000"/>
            <a:ext cx="6192837" cy="519112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9999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电能表有几个重要的参数应该注意：</a:t>
            </a:r>
          </a:p>
        </p:txBody>
      </p:sp>
      <p:sp>
        <p:nvSpPr>
          <p:cNvPr id="12293" name="Rectangle 2"/>
          <p:cNvSpPr>
            <a:spLocks noChangeArrowheads="1"/>
          </p:cNvSpPr>
          <p:nvPr/>
        </p:nvSpPr>
        <p:spPr bwMode="auto">
          <a:xfrm>
            <a:off x="6335713" y="1304925"/>
            <a:ext cx="2808287" cy="315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000" b="1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●</a:t>
            </a:r>
            <a:r>
              <a:rPr lang="zh-CN" altLang="en-US" sz="2400" b="1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“</a:t>
            </a:r>
            <a:r>
              <a:rPr 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10</a:t>
            </a: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</a:t>
            </a: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  <a:r>
              <a:rPr 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zh-CN" altLang="en-US" sz="2400" b="1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”</a:t>
            </a:r>
            <a:br>
              <a:rPr lang="zh-CN" altLang="en-US" sz="2400" b="1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</a:b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表示这个电能表的</a:t>
            </a:r>
            <a:b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标定电流为 </a:t>
            </a:r>
            <a:r>
              <a:rPr 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10 A</a:t>
            </a: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b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额定最大电流为</a:t>
            </a:r>
            <a:b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 A</a:t>
            </a: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。电能表工作</a:t>
            </a:r>
            <a:b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时的电流不应超过</a:t>
            </a:r>
            <a:b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额定最大电流。</a:t>
            </a:r>
          </a:p>
        </p:txBody>
      </p:sp>
      <p:sp>
        <p:nvSpPr>
          <p:cNvPr id="12294" name="Rectangle 2"/>
          <p:cNvSpPr>
            <a:spLocks noChangeArrowheads="1"/>
          </p:cNvSpPr>
          <p:nvPr/>
        </p:nvSpPr>
        <p:spPr bwMode="auto">
          <a:xfrm>
            <a:off x="6335713" y="4716463"/>
            <a:ext cx="2484437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000" b="1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●</a:t>
            </a:r>
            <a:r>
              <a:rPr lang="zh-CN" altLang="en-US" sz="2400" b="1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“</a:t>
            </a:r>
            <a:r>
              <a:rPr 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50 </a:t>
            </a: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～</a:t>
            </a:r>
            <a:r>
              <a:rPr lang="zh-CN" altLang="en-US" sz="2400" b="1">
                <a:solidFill>
                  <a:srgbClr val="0C0C0C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”</a:t>
            </a: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表示</a:t>
            </a:r>
            <a:b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这个电能表在频</a:t>
            </a:r>
            <a:b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率为</a:t>
            </a:r>
            <a:r>
              <a:rPr 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50 Hz</a:t>
            </a: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的交流</a:t>
            </a:r>
            <a:b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zh-CN" altLang="en-US" sz="2400" b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电路中使用。</a:t>
            </a:r>
          </a:p>
        </p:txBody>
      </p:sp>
      <p:sp>
        <p:nvSpPr>
          <p:cNvPr id="12295" name="Rectangle 2"/>
          <p:cNvSpPr>
            <a:spLocks noChangeArrowheads="1"/>
          </p:cNvSpPr>
          <p:nvPr/>
        </p:nvSpPr>
        <p:spPr bwMode="auto">
          <a:xfrm>
            <a:off x="212725" y="3365500"/>
            <a:ext cx="2771775" cy="316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宋体" pitchFamily="2" charset="-122"/>
              </a:rPr>
              <a:t>●</a:t>
            </a:r>
            <a:r>
              <a:rPr lang="zh-CN" altLang="en-US" sz="24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</a:rPr>
              <a:t>“</a:t>
            </a:r>
            <a:r>
              <a:rPr 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600 </a:t>
            </a:r>
            <a: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sz="2400" b="1" dirty="0" err="1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evs</a:t>
            </a:r>
            <a:r>
              <a:rPr 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/</a:t>
            </a:r>
            <a:br>
              <a:rPr 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</a:br>
            <a:r>
              <a:rPr 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kW · h</a:t>
            </a:r>
            <a:r>
              <a:rPr lang="zh-CN" altLang="en-US" sz="2400" b="1" dirty="0">
                <a:solidFill>
                  <a:srgbClr val="0C0C0C"/>
                </a:solidFill>
                <a:latin typeface="宋体" pitchFamily="2" charset="-122"/>
                <a:ea typeface="宋体" pitchFamily="2" charset="-122"/>
              </a:rPr>
              <a:t>”</a:t>
            </a:r>
            <a: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表示</a:t>
            </a:r>
            <a:b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</a:br>
            <a: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接在这个电能表上</a:t>
            </a:r>
            <a:b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</a:br>
            <a: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的用电器，每消耗</a:t>
            </a:r>
            <a:b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</a:br>
            <a: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1 kW · h</a:t>
            </a:r>
            <a: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的电能，</a:t>
            </a:r>
            <a:b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</a:br>
            <a: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电能表上的转盘转</a:t>
            </a:r>
            <a:b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</a:br>
            <a: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过 </a:t>
            </a:r>
            <a:r>
              <a:rPr 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600 </a:t>
            </a:r>
            <a:r>
              <a:rPr lang="zh-CN" altLang="en-US" sz="2400" b="1" dirty="0">
                <a:solidFill>
                  <a:srgbClr val="0C0C0C"/>
                </a:solidFill>
                <a:latin typeface="Times New Roman" pitchFamily="18" charset="0"/>
                <a:ea typeface="宋体" pitchFamily="2" charset="-122"/>
              </a:rPr>
              <a:t>转。</a:t>
            </a: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3695700" y="4556125"/>
            <a:ext cx="407988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MY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4319588" y="4545013"/>
            <a:ext cx="468312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MY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5100638" y="4545013"/>
            <a:ext cx="407987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MY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3671888" y="4700588"/>
            <a:ext cx="828675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MY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250825" y="3105150"/>
            <a:ext cx="2413000" cy="0"/>
          </a:xfrm>
          <a:prstGeom prst="line">
            <a:avLst/>
          </a:prstGeom>
          <a:noFill/>
          <a:ln w="9525">
            <a:solidFill>
              <a:srgbClr val="FF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MY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6443663" y="4437063"/>
            <a:ext cx="2413000" cy="0"/>
          </a:xfrm>
          <a:prstGeom prst="line">
            <a:avLst/>
          </a:prstGeom>
          <a:noFill/>
          <a:ln w="9525">
            <a:solidFill>
              <a:srgbClr val="FF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MY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302" name="Line 14"/>
          <p:cNvSpPr>
            <a:spLocks noChangeShapeType="1"/>
          </p:cNvSpPr>
          <p:nvPr/>
        </p:nvSpPr>
        <p:spPr bwMode="auto">
          <a:xfrm>
            <a:off x="6443663" y="6597650"/>
            <a:ext cx="2413000" cy="0"/>
          </a:xfrm>
          <a:prstGeom prst="line">
            <a:avLst/>
          </a:prstGeom>
          <a:noFill/>
          <a:ln w="9525">
            <a:solidFill>
              <a:srgbClr val="FF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MY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>
            <a:off x="250825" y="6489700"/>
            <a:ext cx="2413000" cy="0"/>
          </a:xfrm>
          <a:prstGeom prst="line">
            <a:avLst/>
          </a:prstGeom>
          <a:noFill/>
          <a:ln w="9525">
            <a:solidFill>
              <a:srgbClr val="FF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MY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12304" name="AutoShape 16"/>
          <p:cNvCxnSpPr>
            <a:cxnSpLocks noChangeShapeType="1"/>
            <a:stCxn id="12296" idx="1"/>
            <a:endCxn id="12300" idx="1"/>
          </p:cNvCxnSpPr>
          <p:nvPr/>
        </p:nvCxnSpPr>
        <p:spPr bwMode="auto">
          <a:xfrm flipH="1" flipV="1">
            <a:off x="2663825" y="3105150"/>
            <a:ext cx="1031875" cy="1517650"/>
          </a:xfrm>
          <a:prstGeom prst="straightConnector1">
            <a:avLst/>
          </a:prstGeom>
          <a:noFill/>
          <a:ln w="9525">
            <a:solidFill>
              <a:srgbClr val="FF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05" name="AutoShape 17"/>
          <p:cNvCxnSpPr>
            <a:cxnSpLocks noChangeShapeType="1"/>
            <a:endCxn id="12301" idx="0"/>
          </p:cNvCxnSpPr>
          <p:nvPr/>
        </p:nvCxnSpPr>
        <p:spPr bwMode="auto">
          <a:xfrm flipV="1">
            <a:off x="4572000" y="4437063"/>
            <a:ext cx="1871663" cy="179387"/>
          </a:xfrm>
          <a:prstGeom prst="straightConnector1">
            <a:avLst/>
          </a:prstGeom>
          <a:noFill/>
          <a:ln w="9525">
            <a:solidFill>
              <a:srgbClr val="FF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06" name="AutoShape 18"/>
          <p:cNvCxnSpPr>
            <a:cxnSpLocks noChangeShapeType="1"/>
            <a:stCxn id="12298" idx="2"/>
            <a:endCxn id="12302" idx="0"/>
          </p:cNvCxnSpPr>
          <p:nvPr/>
        </p:nvCxnSpPr>
        <p:spPr bwMode="auto">
          <a:xfrm>
            <a:off x="5305425" y="4678363"/>
            <a:ext cx="1138238" cy="1919287"/>
          </a:xfrm>
          <a:prstGeom prst="straightConnector1">
            <a:avLst/>
          </a:prstGeom>
          <a:noFill/>
          <a:ln w="9525">
            <a:solidFill>
              <a:srgbClr val="FF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07" name="AutoShape 19"/>
          <p:cNvCxnSpPr>
            <a:cxnSpLocks noChangeShapeType="1"/>
            <a:stCxn id="12299" idx="2"/>
            <a:endCxn id="12303" idx="1"/>
          </p:cNvCxnSpPr>
          <p:nvPr/>
        </p:nvCxnSpPr>
        <p:spPr bwMode="auto">
          <a:xfrm flipH="1">
            <a:off x="2663825" y="4833938"/>
            <a:ext cx="1422400" cy="1655762"/>
          </a:xfrm>
          <a:prstGeom prst="straightConnector1">
            <a:avLst/>
          </a:prstGeom>
          <a:noFill/>
          <a:ln w="9525">
            <a:solidFill>
              <a:srgbClr val="FF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745778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  <p:bldP spid="12293" grpId="0" build="p" autoUpdateAnimBg="0"/>
      <p:bldP spid="12294" grpId="0" build="p" autoUpdateAnimBg="0"/>
      <p:bldP spid="12295" grpId="0" build="p" autoUpdateAnimBg="0"/>
      <p:bldP spid="12296" grpId="0" animBg="1"/>
      <p:bldP spid="12297" grpId="0" animBg="1"/>
      <p:bldP spid="12298" grpId="0" animBg="1"/>
      <p:bldP spid="12299" grpId="0" animBg="1"/>
      <p:bldP spid="12300" grpId="0" animBg="1"/>
      <p:bldP spid="12301" grpId="0" animBg="1"/>
      <p:bldP spid="12302" grpId="0" animBg="1"/>
      <p:bldP spid="1230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323850" y="979488"/>
            <a:ext cx="8604250" cy="1066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CCC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0C0C0C"/>
                </a:solidFill>
                <a:latin typeface="Tahoma" pitchFamily="34" charset="0"/>
              </a:rPr>
              <a:t>电能表的读数：电能表计数器上两次</a:t>
            </a:r>
            <a:r>
              <a:rPr lang="zh-CN" altLang="en-US" sz="3200" b="1" dirty="0">
                <a:solidFill>
                  <a:srgbClr val="FF0000"/>
                </a:solidFill>
                <a:latin typeface="Tahoma" pitchFamily="34" charset="0"/>
              </a:rPr>
              <a:t>读数之差</a:t>
            </a:r>
            <a:r>
              <a:rPr lang="zh-CN" altLang="en-US" sz="3200" b="1" dirty="0">
                <a:solidFill>
                  <a:srgbClr val="0C0C0C"/>
                </a:solidFill>
                <a:latin typeface="Tahoma" pitchFamily="34" charset="0"/>
              </a:rPr>
              <a:t>，就是这段时间内用电的度数。</a:t>
            </a:r>
          </a:p>
        </p:txBody>
      </p:sp>
      <p:sp>
        <p:nvSpPr>
          <p:cNvPr id="13315" name="Text Box 6"/>
          <p:cNvSpPr txBox="1">
            <a:spLocks noChangeArrowheads="1"/>
          </p:cNvSpPr>
          <p:nvPr/>
        </p:nvSpPr>
        <p:spPr bwMode="auto">
          <a:xfrm>
            <a:off x="4343400" y="3962400"/>
            <a:ext cx="367188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4400" dirty="0">
                <a:solidFill>
                  <a:srgbClr val="0C0C0C"/>
                </a:solidFill>
              </a:rPr>
              <a:t>单位：</a:t>
            </a:r>
            <a:r>
              <a:rPr lang="en-US" sz="4400" dirty="0" err="1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kW•h</a:t>
            </a:r>
            <a:endParaRPr lang="en-US" sz="4400" dirty="0">
              <a:solidFill>
                <a:srgbClr val="0C0C0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6" name="Rectangle 7"/>
          <p:cNvSpPr>
            <a:spLocks noChangeArrowheads="1"/>
          </p:cNvSpPr>
          <p:nvPr/>
        </p:nvSpPr>
        <p:spPr bwMode="auto">
          <a:xfrm>
            <a:off x="4362450" y="4927600"/>
            <a:ext cx="456565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44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即：千瓦</a:t>
            </a:r>
            <a:r>
              <a:rPr lang="en-US" sz="4400" dirty="0">
                <a:solidFill>
                  <a:srgbClr val="0C0C0C"/>
                </a:solidFill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zh-CN" altLang="en-US" sz="44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时（度）</a:t>
            </a:r>
          </a:p>
        </p:txBody>
      </p:sp>
      <p:sp>
        <p:nvSpPr>
          <p:cNvPr id="13317" name="Rectangle 10"/>
          <p:cNvSpPr>
            <a:spLocks noChangeArrowheads="1"/>
          </p:cNvSpPr>
          <p:nvPr/>
        </p:nvSpPr>
        <p:spPr bwMode="auto">
          <a:xfrm>
            <a:off x="4648200" y="2590800"/>
            <a:ext cx="33829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红圈里的数字是小数点后面的数字。</a:t>
            </a:r>
            <a:endParaRPr lang="en-US" sz="2800" b="1" dirty="0">
              <a:solidFill>
                <a:srgbClr val="FF0000"/>
              </a:solidFill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060575"/>
            <a:ext cx="3743325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68956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ldLvl="0" animBg="1" autoUpdateAnimBg="0"/>
      <p:bldP spid="13315" grpId="0" autoUpdateAnimBg="0"/>
      <p:bldP spid="13316" grpId="0" autoUpdateAnimBg="0"/>
      <p:bldP spid="13317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Group 2"/>
          <p:cNvGraphicFramePr>
            <a:graphicFrameLocks noGrp="1"/>
          </p:cNvGraphicFramePr>
          <p:nvPr/>
        </p:nvGraphicFramePr>
        <p:xfrm>
          <a:off x="2339975" y="1412875"/>
          <a:ext cx="5638800" cy="701675"/>
        </p:xfrm>
        <a:graphic>
          <a:graphicData uri="http://schemas.openxmlformats.org/drawingml/2006/table">
            <a:tbl>
              <a:tblPr/>
              <a:tblGrid>
                <a:gridCol w="112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352" name="Group 16"/>
          <p:cNvGraphicFramePr>
            <a:graphicFrameLocks noGrp="1"/>
          </p:cNvGraphicFramePr>
          <p:nvPr/>
        </p:nvGraphicFramePr>
        <p:xfrm>
          <a:off x="2339975" y="3502025"/>
          <a:ext cx="5638800" cy="719138"/>
        </p:xfrm>
        <a:graphic>
          <a:graphicData uri="http://schemas.openxmlformats.org/drawingml/2006/table">
            <a:tbl>
              <a:tblPr/>
              <a:tblGrid>
                <a:gridCol w="112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9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90" name="Text Box 30"/>
          <p:cNvSpPr txBox="1">
            <a:spLocks noChangeArrowheads="1"/>
          </p:cNvSpPr>
          <p:nvPr/>
        </p:nvSpPr>
        <p:spPr bwMode="auto">
          <a:xfrm>
            <a:off x="2895600" y="2362200"/>
            <a:ext cx="575945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3600" b="1" i="1">
                <a:solidFill>
                  <a:srgbClr val="0C0C0C"/>
                </a:solidFill>
                <a:latin typeface="Times New Roman" pitchFamily="18" charset="0"/>
              </a:rPr>
              <a:t>W</a:t>
            </a:r>
            <a:r>
              <a:rPr lang="en-US" altLang="en-US" sz="3600" b="1" baseline="-25000">
                <a:solidFill>
                  <a:srgbClr val="0C0C0C"/>
                </a:solidFill>
                <a:latin typeface="Times New Roman" pitchFamily="18" charset="0"/>
              </a:rPr>
              <a:t>1</a:t>
            </a:r>
            <a:r>
              <a:rPr lang="en-US" altLang="en-US" sz="3600" b="1">
                <a:solidFill>
                  <a:srgbClr val="0C0C0C"/>
                </a:solidFill>
                <a:latin typeface="Times New Roman" pitchFamily="18" charset="0"/>
              </a:rPr>
              <a:t>=__________k</a:t>
            </a:r>
            <a:r>
              <a:rPr lang="zh-CN" altLang="en-US" sz="3600" b="1">
                <a:solidFill>
                  <a:srgbClr val="0C0C0C"/>
                </a:solidFill>
                <a:latin typeface="Times New Roman" pitchFamily="18" charset="0"/>
              </a:rPr>
              <a:t>W</a:t>
            </a:r>
            <a:r>
              <a:rPr lang="en-US" altLang="en-US" sz="3600" b="1">
                <a:solidFill>
                  <a:srgbClr val="0C0C0C"/>
                </a:solidFill>
                <a:latin typeface="Times New Roman" pitchFamily="18" charset="0"/>
                <a:cs typeface="Tahoma" pitchFamily="34" charset="0"/>
              </a:rPr>
              <a:t>•</a:t>
            </a:r>
            <a:r>
              <a:rPr lang="en-US" altLang="en-US" sz="3600" b="1">
                <a:solidFill>
                  <a:srgbClr val="0C0C0C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15391" name="Text Box 31"/>
          <p:cNvSpPr txBox="1">
            <a:spLocks noChangeArrowheads="1"/>
          </p:cNvSpPr>
          <p:nvPr/>
        </p:nvSpPr>
        <p:spPr bwMode="auto">
          <a:xfrm>
            <a:off x="2536825" y="4506913"/>
            <a:ext cx="5640388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lvl="1"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3200" b="1" i="1">
                <a:solidFill>
                  <a:srgbClr val="0C0C0C"/>
                </a:solidFill>
                <a:latin typeface="Times New Roman" pitchFamily="18" charset="0"/>
              </a:rPr>
              <a:t>W</a:t>
            </a:r>
            <a:r>
              <a:rPr lang="en-US" altLang="en-US" sz="3200" b="1" baseline="-25000">
                <a:solidFill>
                  <a:srgbClr val="0C0C0C"/>
                </a:solidFill>
                <a:latin typeface="Times New Roman" pitchFamily="18" charset="0"/>
              </a:rPr>
              <a:t>2</a:t>
            </a:r>
            <a:r>
              <a:rPr lang="en-US" altLang="en-US" sz="3200" b="1">
                <a:solidFill>
                  <a:srgbClr val="0C0C0C"/>
                </a:solidFill>
                <a:latin typeface="Times New Roman" pitchFamily="18" charset="0"/>
              </a:rPr>
              <a:t>=__________k</a:t>
            </a:r>
            <a:r>
              <a:rPr lang="zh-CN" altLang="en-US" sz="3200" b="1">
                <a:solidFill>
                  <a:srgbClr val="0C0C0C"/>
                </a:solidFill>
                <a:latin typeface="Times New Roman" pitchFamily="18" charset="0"/>
              </a:rPr>
              <a:t>W</a:t>
            </a:r>
            <a:r>
              <a:rPr lang="en-US" altLang="en-US" sz="3200" b="1">
                <a:solidFill>
                  <a:srgbClr val="0C0C0C"/>
                </a:solidFill>
                <a:latin typeface="Times New Roman" pitchFamily="18" charset="0"/>
                <a:cs typeface="Tahoma" pitchFamily="34" charset="0"/>
              </a:rPr>
              <a:t>•</a:t>
            </a:r>
            <a:r>
              <a:rPr lang="en-US" altLang="en-US" sz="3200" b="1">
                <a:solidFill>
                  <a:srgbClr val="0C0C0C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15392" name="Text Box 32"/>
          <p:cNvSpPr txBox="1">
            <a:spLocks noChangeArrowheads="1"/>
          </p:cNvSpPr>
          <p:nvPr/>
        </p:nvSpPr>
        <p:spPr bwMode="auto">
          <a:xfrm>
            <a:off x="900113" y="1557338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400" b="1">
                <a:solidFill>
                  <a:srgbClr val="0C0C0C"/>
                </a:solidFill>
                <a:latin typeface="Tahoma" pitchFamily="34" charset="0"/>
              </a:rPr>
              <a:t>1</a:t>
            </a:r>
            <a:r>
              <a:rPr lang="zh-CN" altLang="en-US" sz="2400" b="1">
                <a:solidFill>
                  <a:srgbClr val="0C0C0C"/>
                </a:solidFill>
                <a:latin typeface="Tahoma" pitchFamily="34" charset="0"/>
              </a:rPr>
              <a:t>月底</a:t>
            </a:r>
            <a:r>
              <a:rPr lang="en-US" altLang="zh-CN" sz="2400" b="1">
                <a:solidFill>
                  <a:srgbClr val="0C0C0C"/>
                </a:solidFill>
                <a:latin typeface="Tahoma" pitchFamily="34" charset="0"/>
              </a:rPr>
              <a:t>:</a:t>
            </a:r>
          </a:p>
        </p:txBody>
      </p:sp>
      <p:sp>
        <p:nvSpPr>
          <p:cNvPr id="15393" name="Text Box 33"/>
          <p:cNvSpPr txBox="1">
            <a:spLocks noChangeArrowheads="1"/>
          </p:cNvSpPr>
          <p:nvPr/>
        </p:nvSpPr>
        <p:spPr bwMode="auto">
          <a:xfrm>
            <a:off x="457200" y="366395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endParaRPr lang="en-US" sz="2400">
              <a:solidFill>
                <a:srgbClr val="0C0C0C"/>
              </a:solidFill>
              <a:latin typeface="Tahoma" pitchFamily="34" charset="0"/>
            </a:endParaRPr>
          </a:p>
        </p:txBody>
      </p:sp>
      <p:sp>
        <p:nvSpPr>
          <p:cNvPr id="15394" name="Text Box 34"/>
          <p:cNvSpPr txBox="1">
            <a:spLocks noChangeArrowheads="1"/>
          </p:cNvSpPr>
          <p:nvPr/>
        </p:nvSpPr>
        <p:spPr bwMode="auto">
          <a:xfrm>
            <a:off x="976313" y="3570288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400" b="1">
                <a:solidFill>
                  <a:srgbClr val="0C0C0C"/>
                </a:solidFill>
                <a:latin typeface="Tahoma" pitchFamily="34" charset="0"/>
              </a:rPr>
              <a:t>2</a:t>
            </a:r>
            <a:r>
              <a:rPr lang="zh-CN" altLang="en-US" sz="2400" b="1">
                <a:solidFill>
                  <a:srgbClr val="0C0C0C"/>
                </a:solidFill>
                <a:latin typeface="Tahoma" pitchFamily="34" charset="0"/>
              </a:rPr>
              <a:t>月底</a:t>
            </a:r>
            <a:r>
              <a:rPr lang="en-US" altLang="zh-CN" sz="2400" b="1">
                <a:solidFill>
                  <a:srgbClr val="0C0C0C"/>
                </a:solidFill>
                <a:latin typeface="Tahoma" pitchFamily="34" charset="0"/>
              </a:rPr>
              <a:t>:</a:t>
            </a:r>
          </a:p>
        </p:txBody>
      </p:sp>
      <p:sp>
        <p:nvSpPr>
          <p:cNvPr id="15395" name="Text Box 35"/>
          <p:cNvSpPr txBox="1">
            <a:spLocks noChangeArrowheads="1"/>
          </p:cNvSpPr>
          <p:nvPr/>
        </p:nvSpPr>
        <p:spPr bwMode="auto">
          <a:xfrm>
            <a:off x="2413000" y="5589588"/>
            <a:ext cx="61118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en-US" sz="3600" b="1" i="1" dirty="0">
                <a:solidFill>
                  <a:srgbClr val="0C0C0C"/>
                </a:solidFill>
                <a:latin typeface="Times New Roman" pitchFamily="18" charset="0"/>
              </a:rPr>
              <a:t>W</a:t>
            </a:r>
            <a:r>
              <a:rPr lang="en-US" altLang="en-US" sz="3600" b="1" dirty="0">
                <a:solidFill>
                  <a:srgbClr val="0C0C0C"/>
                </a:solidFill>
                <a:latin typeface="Times New Roman" pitchFamily="18" charset="0"/>
              </a:rPr>
              <a:t>=______________ k</a:t>
            </a:r>
            <a:r>
              <a:rPr lang="zh-CN" altLang="en-US" sz="3600" b="1" dirty="0">
                <a:solidFill>
                  <a:srgbClr val="0C0C0C"/>
                </a:solidFill>
                <a:latin typeface="Times New Roman" pitchFamily="18" charset="0"/>
              </a:rPr>
              <a:t>W</a:t>
            </a:r>
            <a:r>
              <a:rPr lang="en-US" altLang="en-US" sz="3600" b="1" dirty="0">
                <a:solidFill>
                  <a:srgbClr val="0C0C0C"/>
                </a:solidFill>
                <a:latin typeface="Times New Roman" pitchFamily="18" charset="0"/>
                <a:cs typeface="Tahoma" pitchFamily="34" charset="0"/>
              </a:rPr>
              <a:t>•</a:t>
            </a:r>
            <a:r>
              <a:rPr lang="en-US" altLang="en-US" sz="3600" b="1" dirty="0">
                <a:solidFill>
                  <a:srgbClr val="0C0C0C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4140200" y="2349500"/>
            <a:ext cx="1655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ahoma" pitchFamily="34" charset="0"/>
              </a:rPr>
              <a:t>4267.8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995738" y="4437063"/>
            <a:ext cx="18669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ahoma" pitchFamily="34" charset="0"/>
              </a:rPr>
              <a:t>4374.4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3268662" y="5530850"/>
            <a:ext cx="38179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3600" b="1" i="1" dirty="0">
                <a:solidFill>
                  <a:srgbClr val="FF0000"/>
                </a:solidFill>
                <a:latin typeface="Times New Roman" pitchFamily="18" charset="0"/>
              </a:rPr>
              <a:t>W</a:t>
            </a:r>
            <a:r>
              <a:rPr lang="en-US" altLang="zh-CN" sz="3600" b="1" baseline="-25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sz="3600" b="1" dirty="0">
                <a:solidFill>
                  <a:srgbClr val="FF0000"/>
                </a:solidFill>
                <a:latin typeface="Times New Roman" pitchFamily="18" charset="0"/>
              </a:rPr>
              <a:t> -</a:t>
            </a:r>
            <a:r>
              <a:rPr lang="en-US" altLang="zh-CN" sz="3600" b="1" i="1" dirty="0">
                <a:solidFill>
                  <a:srgbClr val="FF0000"/>
                </a:solidFill>
                <a:latin typeface="Times New Roman" pitchFamily="18" charset="0"/>
              </a:rPr>
              <a:t>W</a:t>
            </a:r>
            <a:r>
              <a:rPr lang="en-US" altLang="zh-CN" sz="3600" b="1" baseline="-25000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CN" sz="3600" b="1" dirty="0">
                <a:solidFill>
                  <a:srgbClr val="FF0000"/>
                </a:solidFill>
                <a:latin typeface="Times New Roman" pitchFamily="18" charset="0"/>
              </a:rPr>
              <a:t>= 106.6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533400" y="5662613"/>
            <a:ext cx="2016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  <a:defRPr/>
            </a:pPr>
            <a:r>
              <a:rPr lang="en-US" altLang="zh-CN" sz="2800" b="1" dirty="0">
                <a:solidFill>
                  <a:srgbClr val="0C0C0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2800" b="1" dirty="0">
                <a:solidFill>
                  <a:srgbClr val="0C0C0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月份用电</a:t>
            </a:r>
            <a:r>
              <a:rPr lang="en-US" altLang="zh-CN" sz="2800" b="1" dirty="0">
                <a:solidFill>
                  <a:srgbClr val="0C0C0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</p:txBody>
      </p:sp>
      <p:sp>
        <p:nvSpPr>
          <p:cNvPr id="14377" name="Text Box 41"/>
          <p:cNvSpPr txBox="1">
            <a:spLocks noChangeArrowheads="1"/>
          </p:cNvSpPr>
          <p:nvPr/>
        </p:nvSpPr>
        <p:spPr bwMode="auto">
          <a:xfrm>
            <a:off x="1066800" y="23622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>
                <a:solidFill>
                  <a:srgbClr val="0C0C0C"/>
                </a:solidFill>
                <a:latin typeface="Times New Roman" pitchFamily="18" charset="0"/>
              </a:rPr>
              <a:t>读数</a:t>
            </a:r>
          </a:p>
        </p:txBody>
      </p:sp>
      <p:sp>
        <p:nvSpPr>
          <p:cNvPr id="14378" name="Text Box 42"/>
          <p:cNvSpPr txBox="1">
            <a:spLocks noChangeArrowheads="1"/>
          </p:cNvSpPr>
          <p:nvPr/>
        </p:nvSpPr>
        <p:spPr bwMode="auto">
          <a:xfrm>
            <a:off x="990600" y="44958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b="1">
                <a:solidFill>
                  <a:srgbClr val="0C0C0C"/>
                </a:solidFill>
                <a:latin typeface="Times New Roman" pitchFamily="18" charset="0"/>
              </a:rPr>
              <a:t>读数</a:t>
            </a: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0" y="144959"/>
            <a:ext cx="9144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4400" dirty="0">
                <a:solidFill>
                  <a:srgbClr val="0C0C0C"/>
                </a:solidFill>
              </a:rPr>
              <a:t>电能表的读数及电能计量方法</a:t>
            </a:r>
            <a:endParaRPr lang="en-US" altLang="zh-CN" sz="4400" dirty="0">
              <a:solidFill>
                <a:srgbClr val="0C0C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2281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72" grpId="0" build="p" autoUpdateAnimBg="0"/>
      <p:bldP spid="14373" grpId="0" build="p" autoUpdateAnimBg="0"/>
      <p:bldP spid="14374" grpId="0" build="p" autoUpdateAnimBg="0"/>
      <p:bldP spid="14377" grpId="0" autoUpdateAnimBg="0"/>
      <p:bldP spid="1437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144588" y="100013"/>
            <a:ext cx="1009650" cy="1571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9460" name="Rectangle 33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31140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9461" name="Rectangle 34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3476625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9462" name="Rectangle 3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629150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9463" name="Rectangle 3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834063" y="92075"/>
            <a:ext cx="1009650" cy="1936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9464" name="Rectangle 3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6977063" y="100013"/>
            <a:ext cx="1009650" cy="18573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>
              <a:solidFill>
                <a:srgbClr val="0C0C0C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9465" name="Text Box 30"/>
          <p:cNvSpPr txBox="1">
            <a:spLocks noChangeArrowheads="1"/>
          </p:cNvSpPr>
          <p:nvPr/>
        </p:nvSpPr>
        <p:spPr bwMode="auto">
          <a:xfrm>
            <a:off x="612775" y="858322"/>
            <a:ext cx="7848600" cy="1077218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0C0C0C"/>
                </a:solidFill>
              </a:rPr>
              <a:t>目前家庭电费收费为：</a:t>
            </a:r>
            <a:endParaRPr lang="en-US" altLang="zh-CN" dirty="0">
              <a:solidFill>
                <a:srgbClr val="0C0C0C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0C0C0C"/>
                </a:solidFill>
              </a:rPr>
              <a:t>首</a:t>
            </a:r>
            <a:r>
              <a:rPr lang="en-MY" dirty="0">
                <a:solidFill>
                  <a:srgbClr val="0C0C0C"/>
                </a:solidFill>
              </a:rPr>
              <a:t>200 kWh</a:t>
            </a:r>
            <a:r>
              <a:rPr lang="zh-CN" altLang="en-US" dirty="0">
                <a:solidFill>
                  <a:srgbClr val="0C0C0C"/>
                </a:solidFill>
              </a:rPr>
              <a:t>，每</a:t>
            </a:r>
            <a:r>
              <a:rPr lang="en-MY" dirty="0">
                <a:solidFill>
                  <a:srgbClr val="0C0C0C"/>
                </a:solidFill>
              </a:rPr>
              <a:t>1kWh </a:t>
            </a:r>
            <a:r>
              <a:rPr lang="zh-CN" altLang="en-US" dirty="0">
                <a:solidFill>
                  <a:srgbClr val="0C0C0C"/>
                </a:solidFill>
              </a:rPr>
              <a:t>收费 </a:t>
            </a:r>
            <a:r>
              <a:rPr lang="en-US" altLang="zh-CN" dirty="0">
                <a:solidFill>
                  <a:srgbClr val="0C0C0C"/>
                </a:solidFill>
              </a:rPr>
              <a:t>RM0.</a:t>
            </a:r>
            <a:r>
              <a:rPr lang="en-MY" altLang="zh-CN" dirty="0">
                <a:solidFill>
                  <a:srgbClr val="0C0C0C"/>
                </a:solidFill>
              </a:rPr>
              <a:t>218</a:t>
            </a:r>
            <a:r>
              <a:rPr lang="en-MY" dirty="0">
                <a:solidFill>
                  <a:srgbClr val="0C0C0C"/>
                </a:solidFill>
              </a:rPr>
              <a:t> </a:t>
            </a:r>
            <a:r>
              <a:rPr lang="zh-CN" altLang="en-US" dirty="0">
                <a:solidFill>
                  <a:srgbClr val="0C0C0C"/>
                </a:solidFill>
              </a:rPr>
              <a:t>。</a:t>
            </a:r>
            <a:endParaRPr lang="en-US" altLang="zh-CN" dirty="0">
              <a:solidFill>
                <a:srgbClr val="0C0C0C"/>
              </a:solidFill>
            </a:endParaRPr>
          </a:p>
        </p:txBody>
      </p:sp>
      <p:sp>
        <p:nvSpPr>
          <p:cNvPr id="94239" name="Rectangle 31"/>
          <p:cNvSpPr>
            <a:spLocks noChangeArrowheads="1"/>
          </p:cNvSpPr>
          <p:nvPr/>
        </p:nvSpPr>
        <p:spPr bwMode="auto">
          <a:xfrm>
            <a:off x="612775" y="2011740"/>
            <a:ext cx="792162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32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一冷气机，一小时的其电功率为</a:t>
            </a:r>
            <a:r>
              <a:rPr lang="en-US" altLang="zh-CN" sz="32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800W </a:t>
            </a:r>
            <a:r>
              <a:rPr lang="zh-CN" altLang="en-US" sz="32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（</a:t>
            </a:r>
            <a:r>
              <a:rPr lang="en-US" altLang="zh-CN" sz="32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=_____kW</a:t>
            </a:r>
            <a:r>
              <a:rPr lang="zh-CN" altLang="en-US" sz="3200" dirty="0">
                <a:solidFill>
                  <a:srgbClr val="0C0C0C"/>
                </a:solidFill>
                <a:latin typeface="Arial" pitchFamily="34" charset="0"/>
                <a:ea typeface="宋体" pitchFamily="2" charset="-122"/>
              </a:rPr>
              <a:t>）</a:t>
            </a:r>
            <a:endParaRPr lang="en-US" altLang="zh-CN" sz="3200" dirty="0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试问一天开</a:t>
            </a:r>
            <a:r>
              <a:rPr lang="en-US" altLang="zh-CN" sz="2800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8</a:t>
            </a:r>
            <a:r>
              <a:rPr lang="zh-CN" altLang="en-US" sz="2800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小时，一个月则消耗电能多少？</a:t>
            </a:r>
            <a:endParaRPr lang="en-US" altLang="zh-CN" sz="2800" dirty="0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该月份应付电费多少？</a:t>
            </a:r>
            <a:endParaRPr lang="en-MY" sz="2800" dirty="0">
              <a:solidFill>
                <a:srgbClr val="0C0C0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Text Box 32"/>
          <p:cNvSpPr txBox="1">
            <a:spLocks noChangeArrowheads="1"/>
          </p:cNvSpPr>
          <p:nvPr/>
        </p:nvSpPr>
        <p:spPr bwMode="auto">
          <a:xfrm>
            <a:off x="685800" y="3846255"/>
            <a:ext cx="7015113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000000"/>
                </a:solidFill>
              </a:rPr>
              <a:t>开</a:t>
            </a:r>
            <a:r>
              <a:rPr lang="en-US" altLang="zh-CN" dirty="0"/>
              <a:t>1</a:t>
            </a:r>
            <a:r>
              <a:rPr lang="zh-CN" altLang="en-US" dirty="0"/>
              <a:t>小时</a:t>
            </a:r>
            <a:r>
              <a:rPr lang="zh-CN" altLang="en-US" dirty="0">
                <a:solidFill>
                  <a:srgbClr val="000000"/>
                </a:solidFill>
              </a:rPr>
              <a:t>，消耗</a:t>
            </a:r>
            <a:r>
              <a:rPr lang="zh-CN" altLang="en-US" dirty="0"/>
              <a:t>电能</a:t>
            </a:r>
            <a:r>
              <a:rPr lang="en-US" altLang="zh-CN" dirty="0">
                <a:solidFill>
                  <a:srgbClr val="000000"/>
                </a:solidFill>
              </a:rPr>
              <a:t>:_________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000000"/>
                </a:solidFill>
              </a:rPr>
              <a:t>开</a:t>
            </a:r>
            <a:r>
              <a:rPr lang="en-US" altLang="zh-CN" dirty="0"/>
              <a:t>8</a:t>
            </a:r>
            <a:r>
              <a:rPr lang="zh-CN" altLang="en-US" dirty="0"/>
              <a:t>小时</a:t>
            </a:r>
            <a:r>
              <a:rPr lang="zh-CN" altLang="en-US" dirty="0">
                <a:solidFill>
                  <a:srgbClr val="000000"/>
                </a:solidFill>
              </a:rPr>
              <a:t>，消耗</a:t>
            </a:r>
            <a:r>
              <a:rPr lang="zh-CN" altLang="en-US" dirty="0"/>
              <a:t>电能</a:t>
            </a:r>
            <a:r>
              <a:rPr lang="en-US" altLang="zh-CN" dirty="0">
                <a:solidFill>
                  <a:srgbClr val="000000"/>
                </a:solidFill>
              </a:rPr>
              <a:t>:____________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/>
              <a:t>一个月</a:t>
            </a:r>
            <a:r>
              <a:rPr lang="zh-CN" altLang="en-US" dirty="0">
                <a:solidFill>
                  <a:srgbClr val="000000"/>
                </a:solidFill>
              </a:rPr>
              <a:t>共消耗</a:t>
            </a:r>
            <a:r>
              <a:rPr lang="zh-CN" altLang="en-US" dirty="0"/>
              <a:t>电能</a:t>
            </a:r>
            <a:r>
              <a:rPr lang="en-US" altLang="zh-CN" dirty="0">
                <a:solidFill>
                  <a:srgbClr val="000000"/>
                </a:solidFill>
              </a:rPr>
              <a:t>:_____________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zh-CN" dirty="0"/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000000"/>
                </a:solidFill>
              </a:rPr>
              <a:t>应付</a:t>
            </a:r>
            <a:r>
              <a:rPr lang="zh-CN" altLang="en-US" dirty="0"/>
              <a:t>电费</a:t>
            </a:r>
            <a:r>
              <a:rPr lang="en-US" altLang="zh-CN" dirty="0">
                <a:solidFill>
                  <a:srgbClr val="000000"/>
                </a:solidFill>
              </a:rPr>
              <a:t>:_____________________</a:t>
            </a:r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598888" y="2487313"/>
            <a:ext cx="68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0.8</a:t>
            </a:r>
            <a:endParaRPr lang="en-MY" sz="2800" b="1" dirty="0">
              <a:solidFill>
                <a:srgbClr val="FF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95800" y="3896380"/>
            <a:ext cx="154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0.8 k</a:t>
            </a: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Wh</a:t>
            </a:r>
            <a:endParaRPr lang="en-MY" sz="2800" b="1" dirty="0">
              <a:solidFill>
                <a:srgbClr val="FF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95800" y="4353580"/>
            <a:ext cx="4007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0.8 kWh x  8 = 6.4 k</a:t>
            </a: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Wh</a:t>
            </a:r>
            <a:endParaRPr lang="en-MY" sz="2800" b="1" dirty="0">
              <a:solidFill>
                <a:srgbClr val="FF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95800" y="4886980"/>
            <a:ext cx="42098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6.4 k</a:t>
            </a: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Wh x 30 = 192 kWh</a:t>
            </a:r>
            <a:endParaRPr lang="en-MY" sz="2800" b="1" dirty="0">
              <a:solidFill>
                <a:srgbClr val="FF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5776" y="5763350"/>
            <a:ext cx="47131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192 x RM 0.218 = RM 41.86</a:t>
            </a:r>
            <a:endParaRPr lang="en-MY" sz="2800" b="1" dirty="0">
              <a:solidFill>
                <a:srgbClr val="FF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609600" y="76200"/>
            <a:ext cx="7848600" cy="654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algn="ctr">
              <a:buFont typeface="Arial" pitchFamily="34" charset="0"/>
              <a:buNone/>
            </a:pPr>
            <a:r>
              <a:rPr lang="zh-CN" altLang="en-US" sz="4000" dirty="0">
                <a:solidFill>
                  <a:srgbClr val="0C0C0C"/>
                </a:solidFill>
              </a:rPr>
              <a:t>计算电费</a:t>
            </a:r>
            <a:endParaRPr lang="en-MY" sz="4000" dirty="0">
              <a:solidFill>
                <a:srgbClr val="0C0C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2218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4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39" grpId="0"/>
      <p:bldP spid="12" grpId="0"/>
      <p:bldP spid="2" grpId="0"/>
      <p:bldP spid="13" grpId="0"/>
      <p:bldP spid="14" grpId="0"/>
      <p:bldP spid="15" grpId="0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AE61-9AAC-4EAC-7443-012CF7D4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做习题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0D88-8883-E6E2-975C-AB87A6F60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作业簿 </a:t>
            </a:r>
            <a:endParaRPr lang="en-MY" altLang="zh-CN" dirty="0"/>
          </a:p>
          <a:p>
            <a:r>
              <a:rPr lang="en-US" altLang="zh-CN" dirty="0"/>
              <a:t>p/g 89 </a:t>
            </a:r>
            <a:r>
              <a:rPr lang="zh-CN" altLang="en-US" dirty="0"/>
              <a:t>填空题</a:t>
            </a:r>
            <a:endParaRPr lang="en-MY" altLang="zh-CN" dirty="0"/>
          </a:p>
          <a:p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MY" altLang="zh-CN" dirty="0"/>
              <a:t>4</a:t>
            </a:r>
          </a:p>
          <a:p>
            <a:endParaRPr lang="en-MY" altLang="zh-CN" dirty="0"/>
          </a:p>
          <a:p>
            <a:r>
              <a:rPr lang="zh-CN" altLang="en-US" sz="4000" dirty="0"/>
              <a:t>答案：</a:t>
            </a:r>
            <a:r>
              <a:rPr lang="en-MY" altLang="zh-CN" sz="4000" dirty="0">
                <a:solidFill>
                  <a:srgbClr val="FF0000"/>
                </a:solidFill>
              </a:rPr>
              <a:t>91.8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7631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6_Office 主题">
  <a:themeElements>
    <a:clrScheme name="6_Office 主题 1">
      <a:dk1>
        <a:srgbClr val="0C0C0C"/>
      </a:dk1>
      <a:lt1>
        <a:srgbClr val="FFFFFF"/>
      </a:lt1>
      <a:dk2>
        <a:srgbClr val="990000"/>
      </a:dk2>
      <a:lt2>
        <a:srgbClr val="CFCFCF"/>
      </a:lt2>
      <a:accent1>
        <a:srgbClr val="005414"/>
      </a:accent1>
      <a:accent2>
        <a:srgbClr val="006600"/>
      </a:accent2>
      <a:accent3>
        <a:srgbClr val="FFFFFF"/>
      </a:accent3>
      <a:accent4>
        <a:srgbClr val="090909"/>
      </a:accent4>
      <a:accent5>
        <a:srgbClr val="AAB3AA"/>
      </a:accent5>
      <a:accent6>
        <a:srgbClr val="005C00"/>
      </a:accent6>
      <a:hlink>
        <a:srgbClr val="009900"/>
      </a:hlink>
      <a:folHlink>
        <a:srgbClr val="69D969"/>
      </a:folHlink>
    </a:clrScheme>
    <a:fontScheme name="6_Office 主题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6_Office 主题 1">
        <a:dk1>
          <a:srgbClr val="0C0C0C"/>
        </a:dk1>
        <a:lt1>
          <a:srgbClr val="FFFFFF"/>
        </a:lt1>
        <a:dk2>
          <a:srgbClr val="990000"/>
        </a:dk2>
        <a:lt2>
          <a:srgbClr val="CFCFCF"/>
        </a:lt2>
        <a:accent1>
          <a:srgbClr val="005414"/>
        </a:accent1>
        <a:accent2>
          <a:srgbClr val="006600"/>
        </a:accent2>
        <a:accent3>
          <a:srgbClr val="FFFFFF"/>
        </a:accent3>
        <a:accent4>
          <a:srgbClr val="090909"/>
        </a:accent4>
        <a:accent5>
          <a:srgbClr val="AAB3AA"/>
        </a:accent5>
        <a:accent6>
          <a:srgbClr val="005C00"/>
        </a:accent6>
        <a:hlink>
          <a:srgbClr val="009900"/>
        </a:hlink>
        <a:folHlink>
          <a:srgbClr val="69D96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1975</Words>
  <Application>Microsoft Office PowerPoint</Application>
  <PresentationFormat>全屏显示(4:3)</PresentationFormat>
  <Paragraphs>308</Paragraphs>
  <Slides>33</Slides>
  <Notes>1</Notes>
  <HiddenSlides>9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9" baseType="lpstr">
      <vt:lpstr>宋体</vt:lpstr>
      <vt:lpstr>宋体</vt:lpstr>
      <vt:lpstr>楷体</vt:lpstr>
      <vt:lpstr>汉仪咪咪体简</vt:lpstr>
      <vt:lpstr>黑体</vt:lpstr>
      <vt:lpstr>Arial</vt:lpstr>
      <vt:lpstr>Calibri</vt:lpstr>
      <vt:lpstr>Cambria Math</vt:lpstr>
      <vt:lpstr>Tahoma</vt:lpstr>
      <vt:lpstr>Times New Roman</vt:lpstr>
      <vt:lpstr>Verdana</vt:lpstr>
      <vt:lpstr>Wingdings</vt:lpstr>
      <vt:lpstr>6_Office 主题</vt:lpstr>
      <vt:lpstr>4_Office Theme</vt:lpstr>
      <vt:lpstr>公式</vt:lpstr>
      <vt:lpstr>Equation</vt:lpstr>
      <vt:lpstr>PowerPoint 演示文稿</vt:lpstr>
      <vt:lpstr>PowerPoint 演示文稿</vt:lpstr>
      <vt:lpstr>PowerPoint 演示文稿</vt:lpstr>
      <vt:lpstr>第 108页“想一想”：能量如何转化？</vt:lpstr>
      <vt:lpstr>能量转化的例子</vt:lpstr>
      <vt:lpstr>电功的单位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“想一想”（课本109页） </vt:lpstr>
      <vt:lpstr>PowerPoint 演示文稿</vt:lpstr>
      <vt:lpstr>PowerPoint 演示文稿</vt:lpstr>
      <vt:lpstr>PowerPoint 演示文稿</vt:lpstr>
      <vt:lpstr>额定功率（课本 109页）</vt:lpstr>
      <vt:lpstr>PowerPoint 演示文稿</vt:lpstr>
      <vt:lpstr>PowerPoint 演示文稿</vt:lpstr>
      <vt:lpstr>PowerPoint 演示文稿</vt:lpstr>
      <vt:lpstr>PowerPoint 演示文稿</vt:lpstr>
      <vt:lpstr>kW · h（读作千瓦·时）换成J？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做习题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Ei Bee Lim</cp:lastModifiedBy>
  <cp:revision>60</cp:revision>
  <dcterms:created xsi:type="dcterms:W3CDTF">2021-07-28T00:04:18Z</dcterms:created>
  <dcterms:modified xsi:type="dcterms:W3CDTF">2025-08-06T02:37:35Z</dcterms:modified>
</cp:coreProperties>
</file>
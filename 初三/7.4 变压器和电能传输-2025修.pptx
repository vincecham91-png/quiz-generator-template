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</p:sldMasterIdLst>
  <p:sldIdLst>
    <p:sldId id="257" r:id="rId9"/>
    <p:sldId id="258" r:id="rId10"/>
    <p:sldId id="259" r:id="rId11"/>
    <p:sldId id="260" r:id="rId12"/>
    <p:sldId id="261" r:id="rId13"/>
    <p:sldId id="266" r:id="rId14"/>
    <p:sldId id="262" r:id="rId15"/>
    <p:sldId id="263" r:id="rId16"/>
    <p:sldId id="264" r:id="rId17"/>
    <p:sldId id="265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55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81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6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99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39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2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33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45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108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6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03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54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092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9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499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1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147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9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1905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183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62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7663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0249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7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2392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658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6476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1328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8608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361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2835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518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9713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0103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976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4760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7843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4502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249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859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899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7236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539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2239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8955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79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331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8396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5640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7353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2243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63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1842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7124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9958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7642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3324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352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1198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3586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1027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1806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28489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04079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333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0061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124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494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2799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908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8211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6691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2849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653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820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825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2665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94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785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7112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4041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896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0939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24417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1419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541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81638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99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2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11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85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62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6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7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20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1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dirty="0"/>
              <a:t>7.4 </a:t>
            </a:r>
            <a:r>
              <a:rPr lang="zh-CN" altLang="en-US" dirty="0"/>
              <a:t>变压器和电能的传输</a:t>
            </a:r>
            <a:endParaRPr lang="en-MY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438400"/>
            <a:ext cx="4823384" cy="3222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变压器的原理结构、规格类型、负荷电流计算方法_手机搜狐网">
            <a:extLst>
              <a:ext uri="{FF2B5EF4-FFF2-40B4-BE49-F238E27FC236}">
                <a16:creationId xmlns:a16="http://schemas.microsoft.com/office/drawing/2014/main" id="{8B5A3BBC-F83C-F795-719C-439FFCA96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7638"/>
            <a:ext cx="4177010" cy="489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556C0-A828-0278-CD6F-5893CE56052F}"/>
              </a:ext>
            </a:extLst>
          </p:cNvPr>
          <p:cNvSpPr txBox="1"/>
          <p:nvPr/>
        </p:nvSpPr>
        <p:spPr>
          <a:xfrm>
            <a:off x="7764907" y="115997"/>
            <a:ext cx="1139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>
                <a:solidFill>
                  <a:srgbClr val="FF0000"/>
                </a:solidFill>
              </a:rPr>
              <a:t>p/g 115</a:t>
            </a:r>
          </a:p>
        </p:txBody>
      </p:sp>
    </p:spTree>
    <p:extLst>
      <p:ext uri="{BB962C8B-B14F-4D97-AF65-F5344CB8AC3E}">
        <p14:creationId xmlns:p14="http://schemas.microsoft.com/office/powerpoint/2010/main" val="161537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040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57800"/>
            <a:ext cx="8382000" cy="1295400"/>
          </a:xfrm>
        </p:spPr>
        <p:txBody>
          <a:bodyPr>
            <a:normAutofit/>
          </a:bodyPr>
          <a:lstStyle/>
          <a:p>
            <a:r>
              <a:rPr lang="zh-CN" altLang="en-US" dirty="0"/>
              <a:t>变压器可</a:t>
            </a:r>
            <a:r>
              <a:rPr lang="zh-CN" altLang="en-US" b="1" dirty="0">
                <a:solidFill>
                  <a:srgbClr val="0000FF"/>
                </a:solidFill>
              </a:rPr>
              <a:t>传递电能</a:t>
            </a:r>
            <a:r>
              <a:rPr lang="zh-CN" altLang="en-US" dirty="0"/>
              <a:t>：灯泡将电能转化成光能</a:t>
            </a:r>
            <a:endParaRPr lang="en-US" altLang="zh-CN" dirty="0"/>
          </a:p>
          <a:p>
            <a:r>
              <a:rPr lang="zh-CN" altLang="en-US" dirty="0"/>
              <a:t>变压器可</a:t>
            </a:r>
            <a:r>
              <a:rPr lang="zh-CN" altLang="en-US" b="1" dirty="0">
                <a:solidFill>
                  <a:srgbClr val="0000FF"/>
                </a:solidFill>
              </a:rPr>
              <a:t>改变电压</a:t>
            </a:r>
            <a:r>
              <a:rPr lang="zh-CN" altLang="en-US" dirty="0"/>
              <a:t>，以适合电器安全使用。</a:t>
            </a:r>
            <a:endParaRPr lang="en-US" dirty="0"/>
          </a:p>
        </p:txBody>
      </p:sp>
      <p:pic>
        <p:nvPicPr>
          <p:cNvPr id="15362" name="Picture 2" descr="72370636609527945943519.jpg"/>
          <p:cNvPicPr>
            <a:picLocks noChangeAspect="1" noChangeArrowheads="1"/>
          </p:cNvPicPr>
          <p:nvPr/>
        </p:nvPicPr>
        <p:blipFill>
          <a:blip r:embed="rId2"/>
          <a:srcRect l="10000" t="41111" r="10833" b="11112"/>
          <a:stretch>
            <a:fillRect/>
          </a:stretch>
        </p:blipFill>
        <p:spPr bwMode="auto">
          <a:xfrm>
            <a:off x="838200" y="1828800"/>
            <a:ext cx="7239000" cy="3276600"/>
          </a:xfrm>
          <a:prstGeom prst="rect">
            <a:avLst/>
          </a:prstGeom>
          <a:noFill/>
        </p:spPr>
      </p:pic>
      <p:pic>
        <p:nvPicPr>
          <p:cNvPr id="6" name="Picture 2" descr="52662636609527903303247.jpg"/>
          <p:cNvPicPr>
            <a:picLocks noChangeAspect="1" noChangeArrowheads="1"/>
          </p:cNvPicPr>
          <p:nvPr/>
        </p:nvPicPr>
        <p:blipFill>
          <a:blip r:embed="rId3"/>
          <a:srcRect l="2500" t="77778" r="2500" b="4444"/>
          <a:stretch>
            <a:fillRect/>
          </a:stretch>
        </p:blipFill>
        <p:spPr bwMode="auto">
          <a:xfrm>
            <a:off x="228600" y="457200"/>
            <a:ext cx="8686800" cy="1219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84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3429000" cy="5257800"/>
          </a:xfrm>
        </p:spPr>
        <p:txBody>
          <a:bodyPr>
            <a:normAutofit fontScale="92500" lnSpcReduction="10000"/>
          </a:bodyPr>
          <a:lstStyle/>
          <a:p>
            <a:pPr marL="222250" indent="-222250"/>
            <a:r>
              <a:rPr lang="zh-CN" altLang="en-US" sz="3300" dirty="0"/>
              <a:t>将两个电线圈缠绕在一个铁芯或铁环上</a:t>
            </a:r>
            <a:endParaRPr lang="en-US" altLang="zh-CN" sz="3300" dirty="0"/>
          </a:p>
          <a:p>
            <a:pPr marL="222250" indent="-222250"/>
            <a:r>
              <a:rPr lang="zh-CN" altLang="en-US" sz="3300" dirty="0"/>
              <a:t>一边与交流电源连接</a:t>
            </a:r>
            <a:r>
              <a:rPr lang="en-US" altLang="zh-CN" sz="3300" dirty="0"/>
              <a:t> </a:t>
            </a:r>
            <a:r>
              <a:rPr lang="zh-CN" altLang="en-US" sz="3300" dirty="0"/>
              <a:t>（</a:t>
            </a:r>
            <a:r>
              <a:rPr lang="zh-CN" altLang="en-US" sz="3300" b="1" dirty="0">
                <a:solidFill>
                  <a:srgbClr val="0000FF"/>
                </a:solidFill>
              </a:rPr>
              <a:t>初级线圈</a:t>
            </a:r>
            <a:r>
              <a:rPr lang="zh-CN" altLang="en-US" sz="3300" dirty="0"/>
              <a:t>）</a:t>
            </a:r>
            <a:r>
              <a:rPr lang="zh-CN" altLang="en-US" sz="3300" b="1" dirty="0">
                <a:solidFill>
                  <a:srgbClr val="0000FF"/>
                </a:solidFill>
              </a:rPr>
              <a:t> </a:t>
            </a:r>
            <a:endParaRPr lang="en-US" altLang="zh-CN" sz="3300" dirty="0"/>
          </a:p>
          <a:p>
            <a:pPr marL="222250" indent="-222250"/>
            <a:r>
              <a:rPr lang="zh-CN" altLang="en-US" sz="3300" dirty="0"/>
              <a:t>另一边与用电器连接</a:t>
            </a:r>
            <a:r>
              <a:rPr lang="en-US" altLang="zh-CN" sz="3300" dirty="0"/>
              <a:t>: </a:t>
            </a:r>
            <a:r>
              <a:rPr lang="zh-CN" altLang="en-US" sz="3300" dirty="0"/>
              <a:t>（</a:t>
            </a:r>
            <a:r>
              <a:rPr lang="zh-CN" altLang="en-US" sz="3300" b="1" dirty="0">
                <a:solidFill>
                  <a:srgbClr val="FF0000"/>
                </a:solidFill>
              </a:rPr>
              <a:t>次级线圈</a:t>
            </a:r>
            <a:r>
              <a:rPr lang="en-US" altLang="zh-CN" sz="3300" dirty="0"/>
              <a:t> </a:t>
            </a:r>
            <a:r>
              <a:rPr lang="zh-CN" altLang="en-US" sz="3300" dirty="0"/>
              <a:t>）</a:t>
            </a:r>
            <a:endParaRPr lang="en-US" altLang="zh-CN" sz="3300" dirty="0"/>
          </a:p>
          <a:p>
            <a:pPr marL="222250" indent="-222250"/>
            <a:r>
              <a:rPr lang="zh-CN" altLang="en-US" sz="3300" dirty="0"/>
              <a:t>两边电线</a:t>
            </a:r>
            <a:r>
              <a:rPr lang="zh-CN" altLang="en-US" sz="3300" b="1" dirty="0"/>
              <a:t>不相连接</a:t>
            </a:r>
            <a:r>
              <a:rPr lang="zh-CN" altLang="en-US" sz="3300" dirty="0"/>
              <a:t>，却能</a:t>
            </a:r>
            <a:r>
              <a:rPr lang="zh-CN" altLang="en-US" sz="3300" b="1" dirty="0">
                <a:solidFill>
                  <a:srgbClr val="FF0000"/>
                </a:solidFill>
              </a:rPr>
              <a:t>升压</a:t>
            </a:r>
            <a:r>
              <a:rPr lang="zh-CN" altLang="en-US" sz="3300" dirty="0"/>
              <a:t>或</a:t>
            </a:r>
            <a:r>
              <a:rPr lang="zh-CN" altLang="en-US" sz="3300" b="1" dirty="0">
                <a:solidFill>
                  <a:srgbClr val="FF0000"/>
                </a:solidFill>
              </a:rPr>
              <a:t>降压</a:t>
            </a:r>
            <a:endParaRPr lang="en-US" altLang="zh-CN" sz="3300" dirty="0"/>
          </a:p>
          <a:p>
            <a:pPr marL="222250" indent="-222250">
              <a:buNone/>
            </a:pPr>
            <a:endParaRPr lang="en-US" altLang="zh-CN" dirty="0"/>
          </a:p>
        </p:txBody>
      </p:sp>
      <p:sp>
        <p:nvSpPr>
          <p:cNvPr id="14340" name="AutoShape 4" descr="Image result for ååå¨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342" name="AutoShape 6" descr="Image result for ååå¨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7" name="Picture 4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752600"/>
            <a:ext cx="5325746" cy="3352800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>
            <a:normAutofit/>
          </a:bodyPr>
          <a:lstStyle/>
          <a:p>
            <a:r>
              <a:rPr lang="zh-CN" altLang="en-US" b="1" dirty="0"/>
              <a:t>如何制作变压器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14800" y="5410200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250" indent="-222250"/>
            <a:r>
              <a:rPr lang="zh-CN" altLang="en-US" sz="3200" b="1" dirty="0">
                <a:solidFill>
                  <a:srgbClr val="0000FF"/>
                </a:solidFill>
              </a:rPr>
              <a:t>初级线圈</a:t>
            </a:r>
            <a:r>
              <a:rPr lang="en-US" altLang="zh-CN" sz="3200" dirty="0">
                <a:solidFill>
                  <a:prstClr val="black"/>
                </a:solidFill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sym typeface="Wingdings" pitchFamily="2" charset="2"/>
              </a:rPr>
              <a:t> </a:t>
            </a:r>
            <a:r>
              <a:rPr lang="zh-CN" altLang="en-US" sz="3200" b="1" dirty="0">
                <a:solidFill>
                  <a:srgbClr val="0000FF"/>
                </a:solidFill>
              </a:rPr>
              <a:t>输入电压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marL="222250" indent="-222250"/>
            <a:r>
              <a:rPr lang="zh-CN" altLang="en-US" sz="3200" b="1" dirty="0">
                <a:solidFill>
                  <a:srgbClr val="FF0000"/>
                </a:solidFill>
              </a:rPr>
              <a:t>次级线圈</a:t>
            </a:r>
            <a:r>
              <a:rPr lang="en-US" altLang="zh-CN" sz="3200" dirty="0">
                <a:solidFill>
                  <a:prstClr val="black"/>
                </a:solidFill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sym typeface="Wingdings" pitchFamily="2" charset="2"/>
              </a:rPr>
              <a:t> </a:t>
            </a:r>
            <a:r>
              <a:rPr lang="zh-CN" altLang="en-US" sz="3200" b="1" dirty="0">
                <a:solidFill>
                  <a:srgbClr val="FF0000"/>
                </a:solidFill>
              </a:rPr>
              <a:t>输出电压</a:t>
            </a:r>
            <a:endParaRPr 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69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55626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升压</a:t>
            </a:r>
            <a:r>
              <a:rPr lang="zh-CN" altLang="en-US" b="1" dirty="0"/>
              <a:t>变压器 ：</a:t>
            </a:r>
            <a:endParaRPr lang="en-US" altLang="zh-CN" sz="2200" dirty="0"/>
          </a:p>
          <a:p>
            <a:r>
              <a:rPr lang="zh-CN" altLang="en-US" dirty="0"/>
              <a:t>初级线圈匝数</a:t>
            </a:r>
            <a:r>
              <a:rPr lang="zh-CN" altLang="en-US" b="1" dirty="0">
                <a:solidFill>
                  <a:srgbClr val="0000FF"/>
                </a:solidFill>
              </a:rPr>
              <a:t>小于</a:t>
            </a:r>
            <a:r>
              <a:rPr lang="zh-CN" altLang="en-US" dirty="0"/>
              <a:t>次级线圈匝数</a:t>
            </a:r>
            <a:endParaRPr lang="en-US" altLang="zh-CN" dirty="0"/>
          </a:p>
          <a:p>
            <a:r>
              <a:rPr lang="zh-CN" altLang="en-US" dirty="0"/>
              <a:t>输入电压</a:t>
            </a:r>
            <a:r>
              <a:rPr lang="zh-CN" altLang="en-US" b="1" dirty="0">
                <a:solidFill>
                  <a:srgbClr val="0000FF"/>
                </a:solidFill>
              </a:rPr>
              <a:t>小于</a:t>
            </a:r>
            <a:r>
              <a:rPr lang="zh-CN" altLang="en-US" dirty="0"/>
              <a:t>输出电压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</a:p>
          <a:p>
            <a:endParaRPr lang="en-US" altLang="zh-CN" dirty="0"/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降压</a:t>
            </a:r>
            <a:r>
              <a:rPr lang="zh-CN" altLang="en-US" b="1" dirty="0"/>
              <a:t>变压器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初级线圈匝数</a:t>
            </a:r>
            <a:r>
              <a:rPr lang="zh-CN" altLang="en-US" b="1" dirty="0">
                <a:solidFill>
                  <a:srgbClr val="FF0000"/>
                </a:solidFill>
              </a:rPr>
              <a:t>大于</a:t>
            </a:r>
            <a:r>
              <a:rPr lang="zh-CN" altLang="en-US" dirty="0"/>
              <a:t>次级线圈匝数</a:t>
            </a:r>
            <a:endParaRPr lang="en-US" altLang="zh-CN" dirty="0"/>
          </a:p>
          <a:p>
            <a:r>
              <a:rPr lang="zh-CN" altLang="en-US" dirty="0"/>
              <a:t>输入电压</a:t>
            </a:r>
            <a:r>
              <a:rPr lang="zh-CN" altLang="en-US" b="1" dirty="0">
                <a:solidFill>
                  <a:srgbClr val="FF0000"/>
                </a:solidFill>
              </a:rPr>
              <a:t>大于</a:t>
            </a:r>
            <a:r>
              <a:rPr lang="zh-CN" altLang="en-US" dirty="0"/>
              <a:t>输出电压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400" dirty="0">
                <a:solidFill>
                  <a:prstClr val="black"/>
                </a:solidFill>
              </a:rPr>
              <a:t>变压器如何</a:t>
            </a:r>
            <a:r>
              <a:rPr lang="zh-CN" altLang="en-US" sz="4400" b="1" dirty="0">
                <a:solidFill>
                  <a:srgbClr val="0000FF"/>
                </a:solidFill>
              </a:rPr>
              <a:t>升压</a:t>
            </a:r>
            <a:r>
              <a:rPr lang="zh-CN" altLang="en-US" sz="4400" dirty="0">
                <a:solidFill>
                  <a:prstClr val="black"/>
                </a:solidFill>
              </a:rPr>
              <a:t>或</a:t>
            </a:r>
            <a:r>
              <a:rPr lang="zh-CN" altLang="en-US" sz="4400" b="1" dirty="0">
                <a:solidFill>
                  <a:srgbClr val="FF0000"/>
                </a:solidFill>
              </a:rPr>
              <a:t>降压</a:t>
            </a:r>
            <a:r>
              <a:rPr lang="zh-CN" altLang="en-US" sz="4400" dirty="0">
                <a:solidFill>
                  <a:prstClr val="black"/>
                </a:solidFill>
              </a:rPr>
              <a:t>？</a:t>
            </a:r>
            <a:endParaRPr lang="en-US" sz="4400" dirty="0">
              <a:solidFill>
                <a:prstClr val="black"/>
              </a:solidFill>
            </a:endParaRPr>
          </a:p>
        </p:txBody>
      </p:sp>
      <p:pic>
        <p:nvPicPr>
          <p:cNvPr id="10" name="Picture 6" descr="Image result for éåååå¨"/>
          <p:cNvPicPr>
            <a:picLocks noChangeAspect="1" noChangeArrowheads="1"/>
          </p:cNvPicPr>
          <p:nvPr/>
        </p:nvPicPr>
        <p:blipFill>
          <a:blip r:embed="rId2"/>
          <a:srcRect l="6667" t="29556" r="63334" b="21111"/>
          <a:stretch>
            <a:fillRect/>
          </a:stretch>
        </p:blipFill>
        <p:spPr bwMode="auto">
          <a:xfrm>
            <a:off x="6172200" y="990600"/>
            <a:ext cx="2286000" cy="2819400"/>
          </a:xfrm>
          <a:prstGeom prst="rect">
            <a:avLst/>
          </a:prstGeom>
          <a:noFill/>
        </p:spPr>
      </p:pic>
      <p:pic>
        <p:nvPicPr>
          <p:cNvPr id="11" name="Picture 6" descr="Image result for éåååå¨"/>
          <p:cNvPicPr>
            <a:picLocks noChangeAspect="1" noChangeArrowheads="1"/>
          </p:cNvPicPr>
          <p:nvPr/>
        </p:nvPicPr>
        <p:blipFill>
          <a:blip r:embed="rId2"/>
          <a:srcRect l="59167" t="27778" r="9167" b="22222"/>
          <a:stretch>
            <a:fillRect/>
          </a:stretch>
        </p:blipFill>
        <p:spPr bwMode="auto">
          <a:xfrm>
            <a:off x="6172200" y="3733800"/>
            <a:ext cx="2438400" cy="28875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817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enaga全国电子驻地编辑类照片. 图片包括有岗位, 在期间, 区域, 照片, 住房, 白天, 马来西亚- 131219626">
            <a:extLst>
              <a:ext uri="{FF2B5EF4-FFF2-40B4-BE49-F238E27FC236}">
                <a16:creationId xmlns:a16="http://schemas.microsoft.com/office/drawing/2014/main" id="{08E64722-98A7-C555-39F9-B7C15430F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79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mage result for éåååå¨"/>
          <p:cNvPicPr>
            <a:picLocks noChangeAspect="1" noChangeArrowheads="1"/>
          </p:cNvPicPr>
          <p:nvPr/>
        </p:nvPicPr>
        <p:blipFill>
          <a:blip r:embed="rId2"/>
          <a:srcRect b="22222"/>
          <a:stretch>
            <a:fillRect/>
          </a:stretch>
        </p:blipFill>
        <p:spPr bwMode="auto">
          <a:xfrm>
            <a:off x="0" y="762000"/>
            <a:ext cx="9144000" cy="5334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916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MY" altLang="zh-CN" dirty="0"/>
              <a:t>7.4.2 </a:t>
            </a:r>
            <a:r>
              <a:rPr lang="zh-CN" altLang="en-US" dirty="0"/>
              <a:t>远距离输电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4678363"/>
          </a:xfrm>
        </p:spPr>
        <p:txBody>
          <a:bodyPr/>
          <a:lstStyle/>
          <a:p>
            <a:r>
              <a:rPr lang="zh-CN" altLang="en-US" dirty="0"/>
              <a:t>电厂与用户之间相距遥远，需要</a:t>
            </a:r>
            <a:r>
              <a:rPr lang="zh-CN" altLang="en-US" dirty="0">
                <a:solidFill>
                  <a:srgbClr val="FF0000"/>
                </a:solidFill>
              </a:rPr>
              <a:t>远距离输电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但输电导线有</a:t>
            </a:r>
            <a:r>
              <a:rPr lang="zh-CN" altLang="en-US" dirty="0">
                <a:solidFill>
                  <a:srgbClr val="FF0000"/>
                </a:solidFill>
              </a:rPr>
              <a:t>电阻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电流做功转化为电热</a:t>
            </a:r>
            <a:r>
              <a:rPr lang="zh-CN" altLang="en-US" dirty="0"/>
              <a:t>，造成电能损耗</a:t>
            </a:r>
            <a:endParaRPr lang="en-US" altLang="zh-CN" dirty="0"/>
          </a:p>
        </p:txBody>
      </p:sp>
      <p:pic>
        <p:nvPicPr>
          <p:cNvPr id="4" name="Picture 4" descr="Related image"/>
          <p:cNvPicPr>
            <a:picLocks noChangeAspect="1" noChangeArrowheads="1"/>
          </p:cNvPicPr>
          <p:nvPr/>
        </p:nvPicPr>
        <p:blipFill>
          <a:blip r:embed="rId2"/>
          <a:srcRect l="1709" r="1709" b="10870"/>
          <a:stretch>
            <a:fillRect/>
          </a:stretch>
        </p:blipFill>
        <p:spPr bwMode="auto">
          <a:xfrm>
            <a:off x="381000" y="3344942"/>
            <a:ext cx="8534400" cy="3132058"/>
          </a:xfrm>
          <a:prstGeom prst="rect">
            <a:avLst/>
          </a:prstGeom>
          <a:noFill/>
        </p:spPr>
      </p:pic>
      <p:sp>
        <p:nvSpPr>
          <p:cNvPr id="17410" name="AutoShape 2" descr="Image result for ååå¨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5D29A-DAB5-2CC6-8FB4-A0BDFB379986}"/>
              </a:ext>
            </a:extLst>
          </p:cNvPr>
          <p:cNvSpPr txBox="1"/>
          <p:nvPr/>
        </p:nvSpPr>
        <p:spPr>
          <a:xfrm>
            <a:off x="7764907" y="115997"/>
            <a:ext cx="1139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dirty="0">
                <a:solidFill>
                  <a:srgbClr val="FF0000"/>
                </a:solidFill>
              </a:rPr>
              <a:t>p/g 117</a:t>
            </a:r>
          </a:p>
        </p:txBody>
      </p:sp>
    </p:spTree>
    <p:extLst>
      <p:ext uri="{BB962C8B-B14F-4D97-AF65-F5344CB8AC3E}">
        <p14:creationId xmlns:p14="http://schemas.microsoft.com/office/powerpoint/2010/main" val="145542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为了</a:t>
            </a:r>
            <a:r>
              <a:rPr lang="zh-CN" altLang="en-US" dirty="0">
                <a:highlight>
                  <a:srgbClr val="FFFF00"/>
                </a:highlight>
              </a:rPr>
              <a:t>减小远距离输电</a:t>
            </a:r>
            <a:r>
              <a:rPr lang="zh-CN" altLang="en-US" dirty="0"/>
              <a:t>的能耗：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1.	</a:t>
            </a:r>
            <a:r>
              <a:rPr lang="zh-CN" altLang="en-US" b="1" dirty="0">
                <a:solidFill>
                  <a:srgbClr val="0000FF"/>
                </a:solidFill>
              </a:rPr>
              <a:t>减小输电导线的电阻</a:t>
            </a:r>
            <a:r>
              <a:rPr lang="zh-CN" altLang="en-US" dirty="0"/>
              <a:t>：</a:t>
            </a:r>
            <a:endParaRPr lang="en-US" altLang="zh-CN" dirty="0"/>
          </a:p>
          <a:p>
            <a:pPr marL="974725" indent="-344488"/>
            <a:r>
              <a:rPr lang="zh-CN" altLang="en-US" dirty="0"/>
              <a:t>增加导线</a:t>
            </a:r>
            <a:r>
              <a:rPr lang="zh-CN" altLang="en-US" b="1" dirty="0">
                <a:solidFill>
                  <a:srgbClr val="FF0000"/>
                </a:solidFill>
              </a:rPr>
              <a:t>横截面积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974725" indent="-344488"/>
            <a:r>
              <a:rPr lang="zh-CN" altLang="en-US" dirty="0"/>
              <a:t>用善于导热的</a:t>
            </a:r>
            <a:r>
              <a:rPr lang="zh-CN" altLang="en-US" b="1" dirty="0">
                <a:solidFill>
                  <a:srgbClr val="FF0000"/>
                </a:solidFill>
              </a:rPr>
              <a:t>导线材料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58838" indent="-522288">
              <a:buNone/>
            </a:pPr>
            <a:r>
              <a:rPr lang="en-US" dirty="0"/>
              <a:t>2.	</a:t>
            </a:r>
            <a:r>
              <a:rPr lang="zh-CN" altLang="en-US" dirty="0"/>
              <a:t>减少电流</a:t>
            </a:r>
            <a:r>
              <a:rPr lang="en-US" altLang="zh-CN" dirty="0"/>
              <a:t>-</a:t>
            </a:r>
            <a:r>
              <a:rPr lang="zh-CN" altLang="en-US" b="1" dirty="0">
                <a:solidFill>
                  <a:srgbClr val="0000FF"/>
                </a:solidFill>
              </a:rPr>
              <a:t>高压输电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039813" indent="-411163"/>
            <a:r>
              <a:rPr lang="zh-CN" altLang="en-US" dirty="0"/>
              <a:t>可减少输电电流</a:t>
            </a:r>
            <a:endParaRPr lang="en-US" altLang="zh-CN" dirty="0"/>
          </a:p>
          <a:p>
            <a:pPr marL="1039813" indent="-411163"/>
            <a:r>
              <a:rPr lang="zh-CN" altLang="en-US" dirty="0"/>
              <a:t>可</a:t>
            </a:r>
            <a:r>
              <a:rPr lang="zh-CN" altLang="en-US" b="1" dirty="0">
                <a:solidFill>
                  <a:srgbClr val="FF0000"/>
                </a:solidFill>
              </a:rPr>
              <a:t>减少能耗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039813" indent="-411163">
              <a:buNone/>
            </a:pPr>
            <a:r>
              <a:rPr lang="zh-CN" altLang="en-US" dirty="0"/>
              <a:t>（若发电厂电功率保持不变）</a:t>
            </a:r>
            <a:endParaRPr lang="en-US" dirty="0"/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如何减小远距离输电的能耗？</a:t>
            </a:r>
            <a:endParaRPr lang="en-US" dirty="0"/>
          </a:p>
        </p:txBody>
      </p:sp>
      <p:pic>
        <p:nvPicPr>
          <p:cNvPr id="16390" name="Picture 6" descr="Image result for p=v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4164928"/>
            <a:ext cx="2057400" cy="70002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705600" y="5307928"/>
                <a:ext cx="2438400" cy="1272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400" dirty="0">
                    <a:solidFill>
                      <a:prstClr val="black"/>
                    </a:solidFill>
                  </a:rPr>
                  <a:t>I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5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𝑃</m:t>
                        </m:r>
                      </m:num>
                      <m:den>
                        <m:r>
                          <a:rPr lang="en-US" sz="5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𝑉</m:t>
                        </m:r>
                      </m:den>
                    </m:f>
                  </m:oMath>
                </a14:m>
                <a:endParaRPr lang="en-MY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5307928"/>
                <a:ext cx="2438400" cy="1272656"/>
              </a:xfrm>
              <a:prstGeom prst="rect">
                <a:avLst/>
              </a:prstGeom>
              <a:blipFill>
                <a:blip r:embed="rId3"/>
                <a:stretch>
                  <a:fillRect l="-13250" b="-1538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Arrow 3"/>
          <p:cNvSpPr/>
          <p:nvPr/>
        </p:nvSpPr>
        <p:spPr>
          <a:xfrm>
            <a:off x="6324600" y="5612728"/>
            <a:ext cx="3810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</a:endParaRPr>
          </a:p>
        </p:txBody>
      </p:sp>
      <p:sp>
        <p:nvSpPr>
          <p:cNvPr id="5" name="Down Arrow 4"/>
          <p:cNvSpPr/>
          <p:nvPr/>
        </p:nvSpPr>
        <p:spPr>
          <a:xfrm flipV="1">
            <a:off x="8284029" y="6069928"/>
            <a:ext cx="3048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</a:endParaRPr>
          </a:p>
        </p:txBody>
      </p:sp>
      <p:pic>
        <p:nvPicPr>
          <p:cNvPr id="2052" name="Picture 4" descr="探讨在高压电缆线路中回流线对降低护层电压的作用">
            <a:extLst>
              <a:ext uri="{FF2B5EF4-FFF2-40B4-BE49-F238E27FC236}">
                <a16:creationId xmlns:a16="http://schemas.microsoft.com/office/drawing/2014/main" id="{048C5C3D-DF47-89DF-153D-BD16CB569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272" y="1282924"/>
            <a:ext cx="3341728" cy="270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51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8B38-1C27-499C-CB1C-5589FF12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高压电缆</a:t>
            </a:r>
            <a:endParaRPr lang="en-MY" dirty="0"/>
          </a:p>
        </p:txBody>
      </p:sp>
      <p:pic>
        <p:nvPicPr>
          <p:cNvPr id="3074" name="Picture 2" descr="新建5.5公里隧道，郑东新区龙湖区域高压线将全部入地-映象新闻-独家-映象网">
            <a:extLst>
              <a:ext uri="{FF2B5EF4-FFF2-40B4-BE49-F238E27FC236}">
                <a16:creationId xmlns:a16="http://schemas.microsoft.com/office/drawing/2014/main" id="{85C712DA-8C7A-CEB7-E966-AFD40FC3C6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7638"/>
            <a:ext cx="3744788" cy="484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塔牌电缆欢迎您！">
            <a:extLst>
              <a:ext uri="{FF2B5EF4-FFF2-40B4-BE49-F238E27FC236}">
                <a16:creationId xmlns:a16="http://schemas.microsoft.com/office/drawing/2014/main" id="{CD6D62BD-BEDF-89D0-7B53-CD3C6E697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228" y="1417638"/>
            <a:ext cx="4843260" cy="484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6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AE61-9AAC-4EAC-7443-012CF7D4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做习题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0D88-8883-E6E2-975C-AB87A6F6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作业簿 </a:t>
            </a:r>
            <a:endParaRPr lang="en-MY" altLang="zh-CN" dirty="0"/>
          </a:p>
          <a:p>
            <a:r>
              <a:rPr lang="en-US" altLang="zh-CN" dirty="0"/>
              <a:t>p/g 88 </a:t>
            </a:r>
            <a:r>
              <a:rPr lang="zh-CN" altLang="en-US" dirty="0"/>
              <a:t>选择题</a:t>
            </a:r>
            <a:endParaRPr lang="en-MY" altLang="zh-CN" dirty="0"/>
          </a:p>
          <a:p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MY" altLang="zh-CN" dirty="0"/>
              <a:t>15</a:t>
            </a:r>
          </a:p>
          <a:p>
            <a:endParaRPr lang="en-MY" dirty="0"/>
          </a:p>
          <a:p>
            <a:r>
              <a:rPr lang="en-MY" dirty="0"/>
              <a:t>p/g 90 </a:t>
            </a:r>
            <a:r>
              <a:rPr lang="zh-CN" altLang="en-US" dirty="0"/>
              <a:t>是非题</a:t>
            </a:r>
            <a:endParaRPr lang="en-MY" altLang="zh-CN" dirty="0"/>
          </a:p>
          <a:p>
            <a:r>
              <a:rPr lang="en-US" altLang="zh-CN" dirty="0"/>
              <a:t>No 7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27FAD-216B-DA9F-CAAA-AD0FDB5C4B1C}"/>
              </a:ext>
            </a:extLst>
          </p:cNvPr>
          <p:cNvSpPr txBox="1"/>
          <p:nvPr/>
        </p:nvSpPr>
        <p:spPr>
          <a:xfrm>
            <a:off x="2843808" y="2688457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40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1EF0B-CF50-6DBA-5BB4-D62460B5D49B}"/>
              </a:ext>
            </a:extLst>
          </p:cNvPr>
          <p:cNvSpPr txBox="1"/>
          <p:nvPr/>
        </p:nvSpPr>
        <p:spPr>
          <a:xfrm>
            <a:off x="2826924" y="4407310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4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631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AE61-9AAC-4EAC-7443-012CF7D4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做习题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0D88-8883-E6E2-975C-AB87A6F6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作业簿 </a:t>
            </a:r>
            <a:endParaRPr lang="en-MY" altLang="zh-CN" dirty="0"/>
          </a:p>
          <a:p>
            <a:r>
              <a:rPr lang="en-US" altLang="zh-CN" dirty="0"/>
              <a:t>p/g 89 </a:t>
            </a:r>
            <a:r>
              <a:rPr lang="zh-CN" altLang="en-US" dirty="0"/>
              <a:t>填空题</a:t>
            </a:r>
            <a:endParaRPr lang="en-MY" altLang="zh-CN" dirty="0"/>
          </a:p>
          <a:p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MY" altLang="zh-CN" dirty="0"/>
              <a:t>5</a:t>
            </a:r>
          </a:p>
          <a:p>
            <a:endParaRPr lang="en-MY" altLang="zh-CN" dirty="0"/>
          </a:p>
          <a:p>
            <a:r>
              <a:rPr lang="zh-CN" altLang="en-US" sz="4000" dirty="0">
                <a:solidFill>
                  <a:srgbClr val="FF0000"/>
                </a:solidFill>
              </a:rPr>
              <a:t>答案：高电压、低电流的传输方式</a:t>
            </a:r>
            <a:endParaRPr lang="en-MY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36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260</Words>
  <Application>Microsoft Office PowerPoint</Application>
  <PresentationFormat>全屏显示(4:3)</PresentationFormat>
  <Paragraphs>52</Paragraphs>
  <Slides>12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1_Office Theme</vt:lpstr>
      <vt:lpstr>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7.4 变压器和电能的传输</vt:lpstr>
      <vt:lpstr>PowerPoint 演示文稿</vt:lpstr>
      <vt:lpstr>。</vt:lpstr>
      <vt:lpstr>如何制作变压器</vt:lpstr>
      <vt:lpstr>PowerPoint 演示文稿</vt:lpstr>
      <vt:lpstr>PowerPoint 演示文稿</vt:lpstr>
      <vt:lpstr>PowerPoint 演示文稿</vt:lpstr>
      <vt:lpstr>7.4.2 远距离输电</vt:lpstr>
      <vt:lpstr>如何减小远距离输电的能耗？</vt:lpstr>
      <vt:lpstr>高压电缆</vt:lpstr>
      <vt:lpstr>做习题</vt:lpstr>
      <vt:lpstr>做习题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7.4 变压器和电能的传输</dc:title>
  <dc:creator>user</dc:creator>
  <cp:lastModifiedBy>Ei Bee Lim</cp:lastModifiedBy>
  <cp:revision>14</cp:revision>
  <dcterms:created xsi:type="dcterms:W3CDTF">2021-08-03T00:55:04Z</dcterms:created>
  <dcterms:modified xsi:type="dcterms:W3CDTF">2025-07-22T22:53:21Z</dcterms:modified>
</cp:coreProperties>
</file>
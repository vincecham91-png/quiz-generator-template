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355" r:id="rId5"/>
    <p:sldId id="259" r:id="rId6"/>
    <p:sldId id="345" r:id="rId7"/>
    <p:sldId id="354" r:id="rId8"/>
    <p:sldId id="363" r:id="rId9"/>
    <p:sldId id="365" r:id="rId10"/>
    <p:sldId id="367" r:id="rId11"/>
    <p:sldId id="324" r:id="rId12"/>
    <p:sldId id="357" r:id="rId13"/>
    <p:sldId id="260" r:id="rId14"/>
    <p:sldId id="364" r:id="rId15"/>
    <p:sldId id="264" r:id="rId16"/>
    <p:sldId id="346" r:id="rId17"/>
    <p:sldId id="347" r:id="rId18"/>
    <p:sldId id="358" r:id="rId19"/>
    <p:sldId id="361" r:id="rId20"/>
    <p:sldId id="274" r:id="rId21"/>
    <p:sldId id="271" r:id="rId22"/>
    <p:sldId id="366" r:id="rId23"/>
    <p:sldId id="348" r:id="rId24"/>
    <p:sldId id="359" r:id="rId25"/>
    <p:sldId id="353" r:id="rId26"/>
    <p:sldId id="352" r:id="rId27"/>
    <p:sldId id="320" r:id="rId28"/>
    <p:sldId id="315" r:id="rId29"/>
    <p:sldId id="350" r:id="rId30"/>
    <p:sldId id="351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黑体" pitchFamily="2" charset="-122"/>
        <a:ea typeface="黑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28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FFF99"/>
    <a:srgbClr val="FFFF66"/>
    <a:srgbClr val="FFEBFF"/>
    <a:srgbClr val="FFFBFF"/>
    <a:srgbClr val="FFE1FF"/>
    <a:srgbClr val="FFFFCC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1577" autoAdjust="0"/>
  </p:normalViewPr>
  <p:slideViewPr>
    <p:cSldViewPr>
      <p:cViewPr varScale="1">
        <p:scale>
          <a:sx n="57" d="100"/>
          <a:sy n="57" d="100"/>
        </p:scale>
        <p:origin x="1528" y="44"/>
      </p:cViewPr>
      <p:guideLst>
        <p:guide orient="horz" pos="2182"/>
        <p:guide pos="28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9T00:59:34.57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69,'3'-2,"1"-1,-1 1,0 0,1 0,-1 0,1 0,-1 1,1-1,0 1,0 0,5-1,48-3,-40 4,524-4,-311 7,3934-2,-4102 3,0 3,67 15,-58-8,74 3,-83-10,88 20,-87-14,86 7,282 38,-237-24,-127-23,134 15,380-22,-303-6,1173 3,-1260-15,-18-1,630 14,-420 4,510-2,-758-3,214-31,-161 7,221-4,529 30,-403 4,1051-3,-1108-15,-77 0,241-26,-531 31,250-1,-163 9,-148-2,0-2,69-18,-41 7,-20 10,1 1,0 4,67 4,-27 1,5-3,-59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1337D8-7A1F-4E68-AFA2-6271D4BBC0D6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FFCA0-81FC-445E-86F1-733A30C3E37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1384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6FFCA0-81FC-445E-86F1-733A30C3E376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792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507A7-AE4D-4096-B105-3930A4B5B822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F2A77-9655-40C2-B6DC-4117BECAEDBA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5830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A874C-CCEE-440C-A533-778D4A9FC4BC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505F0-E1D3-4365-A837-5E13C208536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167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76FD1-79B1-44FD-B6AD-6555C8A3ABD2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FF62FA-11C3-4394-8253-742BE4246007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5189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16AF4-9421-4663-A23A-5C184407CFD5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692FF-7A0A-459E-B555-C6FE9A618378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2691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AE498-9D6B-40DB-977E-361B9CC215EC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CB89CB-D1EE-40F4-BA8A-E867E94C971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461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09AAAA-340E-4834-9588-0BBA2FD9D84D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6C92D-3D5F-4297-9335-86B3DFE77555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4583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6234A-7C79-4711-850D-ABB63795CBCA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B5D239-7582-4162-B67C-C38FFED4DBA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437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D964E-D7EA-44D2-A9BE-1BC0A2E1C422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10335-4699-46A9-93A4-0922841D5072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3394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ED73A-37A1-49BE-B6C7-027EF2BA30D6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E5BE4-DAE8-4B34-8ACE-A0B51BE5B965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1469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10205-C51F-405C-A8EF-967BE930E9F8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C78CD-7AD3-4E95-9E8E-9B0D5C16F6D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1139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9BDCC-D8F9-4A94-A425-D49D88A065E5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BB706-7CDC-4E72-BFD7-1E97E0308C3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125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A59C70B-895F-49CC-84CF-1671D510CD27}" type="datetimeFigureOut">
              <a:rPr lang="zh-CN" altLang="en-US"/>
              <a:pPr>
                <a:defRPr/>
              </a:pPr>
              <a:t>2025/7/16</a:t>
            </a:fld>
            <a:endParaRPr 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BFBF1AB-2465-4F47-8D9A-B1B702E9DCB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slide" Target="slide2.xml"/><Relationship Id="rId7" Type="http://schemas.openxmlformats.org/officeDocument/2006/relationships/slide" Target="slide2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5.xml"/><Relationship Id="rId4" Type="http://schemas.openxmlformats.org/officeDocument/2006/relationships/slide" Target="slide3.xml"/><Relationship Id="rId9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2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2" name="Rectangle 3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3" name="Rectangle 3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4" name="Rectangle 35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5" name="Rectangle 36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6" name="Rectangle 3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2057400" y="685800"/>
            <a:ext cx="6254750" cy="134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marL="12700">
              <a:lnSpc>
                <a:spcPts val="4890"/>
              </a:lnSpc>
            </a:pPr>
            <a:r>
              <a:rPr lang="zh-CN" altLang="en-US" sz="2800" spc="-35" dirty="0">
                <a:solidFill>
                  <a:srgbClr val="C00000"/>
                </a:solidFill>
                <a:latin typeface="+mj-ea"/>
                <a:cs typeface="SimSun"/>
              </a:rPr>
              <a:t>初三科学下册</a:t>
            </a:r>
            <a:endParaRPr lang="zh-CN" altLang="en-US" sz="4800" spc="-35" dirty="0">
              <a:solidFill>
                <a:srgbClr val="C00000"/>
              </a:solidFill>
              <a:latin typeface="+mj-ea"/>
              <a:cs typeface="SimSun"/>
            </a:endParaRPr>
          </a:p>
          <a:p>
            <a:pPr marL="12700">
              <a:lnSpc>
                <a:spcPts val="4890"/>
              </a:lnSpc>
            </a:pPr>
            <a:r>
              <a:rPr lang="zh-CN" altLang="en-US" sz="4800" spc="-35" dirty="0">
                <a:solidFill>
                  <a:srgbClr val="C00000"/>
                </a:solidFill>
                <a:latin typeface="+mj-ea"/>
                <a:cs typeface="SimSun"/>
              </a:rPr>
              <a:t>第七</a:t>
            </a:r>
            <a:r>
              <a:rPr lang="zh-CN" altLang="en-US" sz="4800" spc="-45" dirty="0">
                <a:solidFill>
                  <a:srgbClr val="C00000"/>
                </a:solidFill>
                <a:latin typeface="+mj-ea"/>
                <a:cs typeface="SimSun"/>
              </a:rPr>
              <a:t>章 电的应用</a:t>
            </a:r>
            <a:endParaRPr lang="zh-CN" altLang="en-US" sz="4800" dirty="0">
              <a:solidFill>
                <a:srgbClr val="C00000"/>
              </a:solidFill>
              <a:latin typeface="+mj-ea"/>
              <a:cs typeface="SimSun"/>
            </a:endParaRP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1752600" y="2565400"/>
            <a:ext cx="576103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400" dirty="0"/>
              <a:t>7</a:t>
            </a:r>
            <a:r>
              <a:rPr lang="zh-CN" altLang="zh-CN" sz="4400" dirty="0"/>
              <a:t>.</a:t>
            </a:r>
            <a:r>
              <a:rPr lang="en-US" altLang="zh-CN" sz="4400" dirty="0"/>
              <a:t>1 </a:t>
            </a:r>
            <a:r>
              <a:rPr lang="zh-CN" sz="4400" dirty="0"/>
              <a:t>串联电</a:t>
            </a:r>
            <a:r>
              <a:rPr lang="zh-CN" altLang="en-US" sz="4400" dirty="0"/>
              <a:t>路的特点</a:t>
            </a:r>
            <a:endParaRPr lang="zh-CN" sz="4400" dirty="0"/>
          </a:p>
        </p:txBody>
      </p:sp>
      <p:pic>
        <p:nvPicPr>
          <p:cNvPr id="2059" name="Picture 11" descr="1614919_104230064_2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77" t="64920" r="9196"/>
          <a:stretch>
            <a:fillRect/>
          </a:stretch>
        </p:blipFill>
        <p:spPr bwMode="auto">
          <a:xfrm>
            <a:off x="468313" y="4221163"/>
            <a:ext cx="180022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0" name="Picture 12" descr="1614919_104230064_2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80" b="57085"/>
          <a:stretch>
            <a:fillRect/>
          </a:stretch>
        </p:blipFill>
        <p:spPr bwMode="auto">
          <a:xfrm>
            <a:off x="2268538" y="5229225"/>
            <a:ext cx="169227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 descr="1614919_104230064_2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61" b="47186"/>
          <a:stretch>
            <a:fillRect/>
          </a:stretch>
        </p:blipFill>
        <p:spPr bwMode="auto">
          <a:xfrm>
            <a:off x="5553075" y="4508500"/>
            <a:ext cx="132397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 descr="1614919_104230064_2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77" r="36507" b="42795"/>
          <a:stretch>
            <a:fillRect/>
          </a:stretch>
        </p:blipFill>
        <p:spPr bwMode="auto">
          <a:xfrm>
            <a:off x="4184650" y="4149725"/>
            <a:ext cx="11080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3" name="Picture 15" descr="1614919_104230064_2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9" t="46216" r="54965"/>
          <a:stretch>
            <a:fillRect/>
          </a:stretch>
        </p:blipFill>
        <p:spPr bwMode="auto">
          <a:xfrm>
            <a:off x="7213600" y="3789363"/>
            <a:ext cx="1319213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827088" y="2708275"/>
            <a:ext cx="76327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1. </a:t>
            </a:r>
            <a:r>
              <a:rPr lang="zh-CN" altLang="en-US" sz="3600" dirty="0"/>
              <a:t>了解</a:t>
            </a:r>
            <a:r>
              <a:rPr lang="zh-CN" altLang="en-US" sz="3600" dirty="0">
                <a:latin typeface="Arial" charset="0"/>
              </a:rPr>
              <a:t>串</a:t>
            </a:r>
            <a:r>
              <a:rPr lang="zh-CN" altLang="en-US" sz="3600" dirty="0"/>
              <a:t>联电路中各处电流，总电压与各部分电路两端电压的关系</a:t>
            </a:r>
            <a:endParaRPr lang="en-US" altLang="zh-CN" sz="3600" dirty="0"/>
          </a:p>
          <a:p>
            <a:pPr eaLnBrk="1" hangingPunct="1"/>
            <a:r>
              <a:rPr lang="en-US" altLang="zh-CN" sz="3600" dirty="0"/>
              <a:t>2. </a:t>
            </a:r>
            <a:r>
              <a:rPr lang="zh-CN" altLang="en-US" sz="3600" dirty="0"/>
              <a:t>掌握串联电路的总电阻与各串联导体电阻的关系</a:t>
            </a:r>
          </a:p>
          <a:p>
            <a:pPr eaLnBrk="1" hangingPunct="1"/>
            <a:endParaRPr lang="zh-CN" altLang="en-US" sz="3600" dirty="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11188" y="14843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4000" dirty="0">
                <a:solidFill>
                  <a:srgbClr val="002060"/>
                </a:solidFill>
                <a:latin typeface="Calibri" pitchFamily="34" charset="0"/>
              </a:rPr>
              <a:t>【</a:t>
            </a:r>
            <a:r>
              <a:rPr lang="zh-CN" altLang="en-US" sz="4000" dirty="0">
                <a:solidFill>
                  <a:srgbClr val="002060"/>
                </a:solidFill>
                <a:latin typeface="Calibri" pitchFamily="34" charset="0"/>
              </a:rPr>
              <a:t>教学目标</a:t>
            </a:r>
            <a:r>
              <a:rPr lang="en-US" altLang="zh-CN" sz="4000" dirty="0">
                <a:solidFill>
                  <a:srgbClr val="002060"/>
                </a:solidFill>
                <a:latin typeface="Calibri" pitchFamily="34" charset="0"/>
              </a:rPr>
              <a:t>】</a:t>
            </a:r>
          </a:p>
        </p:txBody>
      </p:sp>
      <p:sp>
        <p:nvSpPr>
          <p:cNvPr id="3077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78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79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80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81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82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11"/>
          <p:cNvSpPr>
            <a:spLocks noChangeArrowheads="1" noChangeShapeType="1" noTextEdit="1"/>
          </p:cNvSpPr>
          <p:nvPr/>
        </p:nvSpPr>
        <p:spPr bwMode="auto">
          <a:xfrm>
            <a:off x="2987675" y="2492375"/>
            <a:ext cx="335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新课导入</a:t>
            </a:r>
            <a:endParaRPr lang="en-MY" sz="6600" kern="1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4100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101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102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103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104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105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511" name="Group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996112"/>
              </p:ext>
            </p:extLst>
          </p:nvPr>
        </p:nvGraphicFramePr>
        <p:xfrm>
          <a:off x="179388" y="981075"/>
          <a:ext cx="7812087" cy="5593398"/>
        </p:xfrm>
        <a:graphic>
          <a:graphicData uri="http://schemas.openxmlformats.org/drawingml/2006/table">
            <a:tbl>
              <a:tblPr/>
              <a:tblGrid>
                <a:gridCol w="75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95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电路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电路图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连接特点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电流路径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开关的作用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用电器工作情况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串联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首尾相连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只有一条通路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控制所有用电器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互相影响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并联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首首相连尾尾相连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(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并列连接在两点之间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若干条通路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干路开关控制所有用电器，支路开关只控制它所在支路用电器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互不影响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416" name="Text Box 32"/>
          <p:cNvSpPr txBox="1">
            <a:spLocks noChangeArrowheads="1"/>
          </p:cNvSpPr>
          <p:nvPr/>
        </p:nvSpPr>
        <p:spPr bwMode="auto">
          <a:xfrm>
            <a:off x="2706029" y="60325"/>
            <a:ext cx="335651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楷体_GB2312" pitchFamily="1" charset="-122"/>
              </a:rPr>
              <a:t>串、并联电路</a:t>
            </a:r>
          </a:p>
        </p:txBody>
      </p:sp>
      <p:grpSp>
        <p:nvGrpSpPr>
          <p:cNvPr id="144417" name="Group 33"/>
          <p:cNvGrpSpPr>
            <a:grpSpLocks/>
          </p:cNvGrpSpPr>
          <p:nvPr/>
        </p:nvGrpSpPr>
        <p:grpSpPr bwMode="auto">
          <a:xfrm rot="2700000">
            <a:off x="2362200" y="2800350"/>
            <a:ext cx="228600" cy="228600"/>
            <a:chOff x="7751" y="5223"/>
            <a:chExt cx="306" cy="306"/>
          </a:xfrm>
        </p:grpSpPr>
        <p:sp>
          <p:nvSpPr>
            <p:cNvPr id="144418" name="Oval 34"/>
            <p:cNvSpPr>
              <a:spLocks noChangeAspect="1" noChangeArrowheads="1"/>
            </p:cNvSpPr>
            <p:nvPr/>
          </p:nvSpPr>
          <p:spPr bwMode="auto">
            <a:xfrm>
              <a:off x="7751" y="5223"/>
              <a:ext cx="306" cy="30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19" name="Line 35"/>
            <p:cNvSpPr>
              <a:spLocks noChangeShapeType="1"/>
            </p:cNvSpPr>
            <p:nvPr/>
          </p:nvSpPr>
          <p:spPr bwMode="auto">
            <a:xfrm rot="5400000">
              <a:off x="7752" y="5376"/>
              <a:ext cx="3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20" name="Line 36"/>
            <p:cNvSpPr>
              <a:spLocks noChangeShapeType="1"/>
            </p:cNvSpPr>
            <p:nvPr/>
          </p:nvSpPr>
          <p:spPr bwMode="auto">
            <a:xfrm>
              <a:off x="7751" y="5376"/>
              <a:ext cx="3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4421" name="Line 37"/>
          <p:cNvSpPr>
            <a:spLocks noChangeShapeType="1"/>
          </p:cNvSpPr>
          <p:nvPr/>
        </p:nvSpPr>
        <p:spPr bwMode="auto">
          <a:xfrm>
            <a:off x="2057400" y="2895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4422" name="Group 38"/>
          <p:cNvGrpSpPr>
            <a:grpSpLocks/>
          </p:cNvGrpSpPr>
          <p:nvPr/>
        </p:nvGrpSpPr>
        <p:grpSpPr bwMode="auto">
          <a:xfrm rot="2700000">
            <a:off x="1828800" y="2819400"/>
            <a:ext cx="228600" cy="228600"/>
            <a:chOff x="7751" y="5223"/>
            <a:chExt cx="306" cy="306"/>
          </a:xfrm>
        </p:grpSpPr>
        <p:sp>
          <p:nvSpPr>
            <p:cNvPr id="144423" name="Oval 39"/>
            <p:cNvSpPr>
              <a:spLocks noChangeAspect="1" noChangeArrowheads="1"/>
            </p:cNvSpPr>
            <p:nvPr/>
          </p:nvSpPr>
          <p:spPr bwMode="auto">
            <a:xfrm>
              <a:off x="7751" y="5223"/>
              <a:ext cx="306" cy="30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24" name="Line 40"/>
            <p:cNvSpPr>
              <a:spLocks noChangeShapeType="1"/>
            </p:cNvSpPr>
            <p:nvPr/>
          </p:nvSpPr>
          <p:spPr bwMode="auto">
            <a:xfrm rot="5400000">
              <a:off x="7752" y="5376"/>
              <a:ext cx="3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25" name="Line 41"/>
            <p:cNvSpPr>
              <a:spLocks noChangeShapeType="1"/>
            </p:cNvSpPr>
            <p:nvPr/>
          </p:nvSpPr>
          <p:spPr bwMode="auto">
            <a:xfrm>
              <a:off x="7751" y="5376"/>
              <a:ext cx="3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4426" name="Line 42"/>
          <p:cNvSpPr>
            <a:spLocks noChangeShapeType="1"/>
          </p:cNvSpPr>
          <p:nvPr/>
        </p:nvSpPr>
        <p:spPr bwMode="auto">
          <a:xfrm>
            <a:off x="2590800" y="2895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27" name="Line 43"/>
          <p:cNvSpPr>
            <a:spLocks noChangeShapeType="1"/>
          </p:cNvSpPr>
          <p:nvPr/>
        </p:nvSpPr>
        <p:spPr bwMode="auto">
          <a:xfrm>
            <a:off x="28956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28" name="Line 44"/>
          <p:cNvSpPr>
            <a:spLocks noChangeShapeType="1"/>
          </p:cNvSpPr>
          <p:nvPr/>
        </p:nvSpPr>
        <p:spPr bwMode="auto">
          <a:xfrm flipH="1">
            <a:off x="1524000" y="2895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29" name="Line 45"/>
          <p:cNvSpPr>
            <a:spLocks noChangeShapeType="1"/>
          </p:cNvSpPr>
          <p:nvPr/>
        </p:nvSpPr>
        <p:spPr bwMode="auto">
          <a:xfrm>
            <a:off x="15240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30" name="Line 46"/>
          <p:cNvSpPr>
            <a:spLocks noChangeShapeType="1"/>
          </p:cNvSpPr>
          <p:nvPr/>
        </p:nvSpPr>
        <p:spPr bwMode="auto">
          <a:xfrm>
            <a:off x="15240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31" name="Line 47"/>
          <p:cNvSpPr>
            <a:spLocks noChangeShapeType="1"/>
          </p:cNvSpPr>
          <p:nvPr/>
        </p:nvSpPr>
        <p:spPr bwMode="auto">
          <a:xfrm>
            <a:off x="1828800" y="3352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32" name="Line 48"/>
          <p:cNvSpPr>
            <a:spLocks noChangeShapeType="1"/>
          </p:cNvSpPr>
          <p:nvPr/>
        </p:nvSpPr>
        <p:spPr bwMode="auto">
          <a:xfrm>
            <a:off x="1905000" y="34290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33" name="Line 49"/>
          <p:cNvSpPr>
            <a:spLocks noChangeShapeType="1"/>
          </p:cNvSpPr>
          <p:nvPr/>
        </p:nvSpPr>
        <p:spPr bwMode="auto">
          <a:xfrm>
            <a:off x="1905000" y="3505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34" name="Oval 50"/>
          <p:cNvSpPr>
            <a:spLocks noChangeArrowheads="1"/>
          </p:cNvSpPr>
          <p:nvPr/>
        </p:nvSpPr>
        <p:spPr bwMode="auto">
          <a:xfrm>
            <a:off x="2209800" y="3429000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35" name="Line 51"/>
          <p:cNvSpPr>
            <a:spLocks noChangeShapeType="1"/>
          </p:cNvSpPr>
          <p:nvPr/>
        </p:nvSpPr>
        <p:spPr bwMode="auto">
          <a:xfrm flipV="1">
            <a:off x="2286000" y="33528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36" name="Line 52"/>
          <p:cNvSpPr>
            <a:spLocks noChangeShapeType="1"/>
          </p:cNvSpPr>
          <p:nvPr/>
        </p:nvSpPr>
        <p:spPr bwMode="auto">
          <a:xfrm>
            <a:off x="25908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37" name="Text Box 53"/>
          <p:cNvSpPr txBox="1">
            <a:spLocks noChangeArrowheads="1"/>
          </p:cNvSpPr>
          <p:nvPr/>
        </p:nvSpPr>
        <p:spPr bwMode="auto">
          <a:xfrm>
            <a:off x="1752600" y="2343090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Times New Roman" pitchFamily="18" charset="0"/>
              </a:rPr>
              <a:t>L</a:t>
            </a:r>
            <a:r>
              <a:rPr kumimoji="1" lang="en-US" altLang="zh-CN" sz="2000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144438" name="Text Box 54"/>
          <p:cNvSpPr txBox="1">
            <a:spLocks noChangeArrowheads="1"/>
          </p:cNvSpPr>
          <p:nvPr/>
        </p:nvSpPr>
        <p:spPr bwMode="auto">
          <a:xfrm>
            <a:off x="2362200" y="2343090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Times New Roman" pitchFamily="18" charset="0"/>
              </a:rPr>
              <a:t>L</a:t>
            </a:r>
            <a:r>
              <a:rPr kumimoji="1" lang="en-US" altLang="zh-CN" sz="2000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144439" name="Text Box 55"/>
          <p:cNvSpPr txBox="1">
            <a:spLocks noChangeArrowheads="1"/>
          </p:cNvSpPr>
          <p:nvPr/>
        </p:nvSpPr>
        <p:spPr bwMode="auto">
          <a:xfrm>
            <a:off x="2241008" y="333865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Times New Roman" pitchFamily="18" charset="0"/>
              </a:rPr>
              <a:t>S</a:t>
            </a:r>
            <a:endParaRPr kumimoji="1" lang="en-US" altLang="zh-CN" baseline="-25000" dirty="0">
              <a:latin typeface="Times New Roman" pitchFamily="18" charset="0"/>
            </a:endParaRPr>
          </a:p>
        </p:txBody>
      </p:sp>
      <p:grpSp>
        <p:nvGrpSpPr>
          <p:cNvPr id="144440" name="Group 56"/>
          <p:cNvGrpSpPr>
            <a:grpSpLocks/>
          </p:cNvGrpSpPr>
          <p:nvPr/>
        </p:nvGrpSpPr>
        <p:grpSpPr bwMode="auto">
          <a:xfrm rot="2700000">
            <a:off x="2133600" y="4876800"/>
            <a:ext cx="228600" cy="228600"/>
            <a:chOff x="7751" y="5223"/>
            <a:chExt cx="306" cy="306"/>
          </a:xfrm>
        </p:grpSpPr>
        <p:sp>
          <p:nvSpPr>
            <p:cNvPr id="144441" name="Oval 57"/>
            <p:cNvSpPr>
              <a:spLocks noChangeAspect="1" noChangeArrowheads="1"/>
            </p:cNvSpPr>
            <p:nvPr/>
          </p:nvSpPr>
          <p:spPr bwMode="auto">
            <a:xfrm>
              <a:off x="7751" y="5223"/>
              <a:ext cx="306" cy="30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42" name="Line 58"/>
            <p:cNvSpPr>
              <a:spLocks noChangeShapeType="1"/>
            </p:cNvSpPr>
            <p:nvPr/>
          </p:nvSpPr>
          <p:spPr bwMode="auto">
            <a:xfrm rot="5400000">
              <a:off x="7752" y="5376"/>
              <a:ext cx="3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43" name="Line 59"/>
            <p:cNvSpPr>
              <a:spLocks noChangeShapeType="1"/>
            </p:cNvSpPr>
            <p:nvPr/>
          </p:nvSpPr>
          <p:spPr bwMode="auto">
            <a:xfrm>
              <a:off x="7751" y="5376"/>
              <a:ext cx="3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4444" name="Line 60"/>
          <p:cNvSpPr>
            <a:spLocks noChangeShapeType="1"/>
          </p:cNvSpPr>
          <p:nvPr/>
        </p:nvSpPr>
        <p:spPr bwMode="auto">
          <a:xfrm>
            <a:off x="23622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4445" name="Group 61"/>
          <p:cNvGrpSpPr>
            <a:grpSpLocks/>
          </p:cNvGrpSpPr>
          <p:nvPr/>
        </p:nvGrpSpPr>
        <p:grpSpPr bwMode="auto">
          <a:xfrm rot="2700000">
            <a:off x="2133600" y="4495800"/>
            <a:ext cx="228600" cy="228600"/>
            <a:chOff x="7751" y="5223"/>
            <a:chExt cx="306" cy="306"/>
          </a:xfrm>
        </p:grpSpPr>
        <p:sp>
          <p:nvSpPr>
            <p:cNvPr id="144446" name="Oval 62"/>
            <p:cNvSpPr>
              <a:spLocks noChangeAspect="1" noChangeArrowheads="1"/>
            </p:cNvSpPr>
            <p:nvPr/>
          </p:nvSpPr>
          <p:spPr bwMode="auto">
            <a:xfrm>
              <a:off x="7751" y="5223"/>
              <a:ext cx="306" cy="30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47" name="Line 63"/>
            <p:cNvSpPr>
              <a:spLocks noChangeShapeType="1"/>
            </p:cNvSpPr>
            <p:nvPr/>
          </p:nvSpPr>
          <p:spPr bwMode="auto">
            <a:xfrm rot="5400000">
              <a:off x="7752" y="5376"/>
              <a:ext cx="3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48" name="Line 64"/>
            <p:cNvSpPr>
              <a:spLocks noChangeShapeType="1"/>
            </p:cNvSpPr>
            <p:nvPr/>
          </p:nvSpPr>
          <p:spPr bwMode="auto">
            <a:xfrm>
              <a:off x="7751" y="5376"/>
              <a:ext cx="30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4449" name="Line 65"/>
          <p:cNvSpPr>
            <a:spLocks noChangeShapeType="1"/>
          </p:cNvSpPr>
          <p:nvPr/>
        </p:nvSpPr>
        <p:spPr bwMode="auto">
          <a:xfrm>
            <a:off x="2590800" y="478631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0" name="Line 66"/>
          <p:cNvSpPr>
            <a:spLocks noChangeShapeType="1"/>
          </p:cNvSpPr>
          <p:nvPr/>
        </p:nvSpPr>
        <p:spPr bwMode="auto">
          <a:xfrm>
            <a:off x="2895600" y="47863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1" name="Line 67"/>
          <p:cNvSpPr>
            <a:spLocks noChangeShapeType="1"/>
          </p:cNvSpPr>
          <p:nvPr/>
        </p:nvSpPr>
        <p:spPr bwMode="auto">
          <a:xfrm flipH="1">
            <a:off x="1524000" y="478631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2" name="Line 68"/>
          <p:cNvSpPr>
            <a:spLocks noChangeShapeType="1"/>
          </p:cNvSpPr>
          <p:nvPr/>
        </p:nvSpPr>
        <p:spPr bwMode="auto">
          <a:xfrm>
            <a:off x="1524000" y="47863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3" name="Line 69"/>
          <p:cNvSpPr>
            <a:spLocks noChangeShapeType="1"/>
          </p:cNvSpPr>
          <p:nvPr/>
        </p:nvSpPr>
        <p:spPr bwMode="auto">
          <a:xfrm>
            <a:off x="1524000" y="539591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4" name="Line 70"/>
          <p:cNvSpPr>
            <a:spLocks noChangeShapeType="1"/>
          </p:cNvSpPr>
          <p:nvPr/>
        </p:nvSpPr>
        <p:spPr bwMode="auto">
          <a:xfrm>
            <a:off x="1828800" y="52435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5" name="Line 71"/>
          <p:cNvSpPr>
            <a:spLocks noChangeShapeType="1"/>
          </p:cNvSpPr>
          <p:nvPr/>
        </p:nvSpPr>
        <p:spPr bwMode="auto">
          <a:xfrm>
            <a:off x="1905000" y="5319713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6" name="Line 72"/>
          <p:cNvSpPr>
            <a:spLocks noChangeShapeType="1"/>
          </p:cNvSpPr>
          <p:nvPr/>
        </p:nvSpPr>
        <p:spPr bwMode="auto">
          <a:xfrm>
            <a:off x="1905000" y="53959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7" name="Oval 73"/>
          <p:cNvSpPr>
            <a:spLocks noChangeArrowheads="1"/>
          </p:cNvSpPr>
          <p:nvPr/>
        </p:nvSpPr>
        <p:spPr bwMode="auto">
          <a:xfrm>
            <a:off x="2209800" y="53197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58" name="Line 74"/>
          <p:cNvSpPr>
            <a:spLocks noChangeShapeType="1"/>
          </p:cNvSpPr>
          <p:nvPr/>
        </p:nvSpPr>
        <p:spPr bwMode="auto">
          <a:xfrm flipV="1">
            <a:off x="2286000" y="5243513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59" name="Line 75"/>
          <p:cNvSpPr>
            <a:spLocks noChangeShapeType="1"/>
          </p:cNvSpPr>
          <p:nvPr/>
        </p:nvSpPr>
        <p:spPr bwMode="auto">
          <a:xfrm>
            <a:off x="2590800" y="539591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60" name="Text Box 76"/>
          <p:cNvSpPr txBox="1">
            <a:spLocks noChangeArrowheads="1"/>
          </p:cNvSpPr>
          <p:nvPr/>
        </p:nvSpPr>
        <p:spPr bwMode="auto">
          <a:xfrm>
            <a:off x="2209800" y="4114800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Times New Roman" pitchFamily="18" charset="0"/>
              </a:rPr>
              <a:t>L</a:t>
            </a:r>
            <a:r>
              <a:rPr kumimoji="1" lang="en-US" altLang="zh-CN" sz="2000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144461" name="Text Box 77"/>
          <p:cNvSpPr txBox="1">
            <a:spLocks noChangeArrowheads="1"/>
          </p:cNvSpPr>
          <p:nvPr/>
        </p:nvSpPr>
        <p:spPr bwMode="auto">
          <a:xfrm>
            <a:off x="2343150" y="4814887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Times New Roman" pitchFamily="18" charset="0"/>
              </a:rPr>
              <a:t>L</a:t>
            </a:r>
            <a:r>
              <a:rPr kumimoji="1" lang="en-US" altLang="zh-CN" sz="2000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144462" name="Text Box 78"/>
          <p:cNvSpPr txBox="1">
            <a:spLocks noChangeArrowheads="1"/>
          </p:cNvSpPr>
          <p:nvPr/>
        </p:nvSpPr>
        <p:spPr bwMode="auto">
          <a:xfrm>
            <a:off x="2286000" y="5395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</a:rPr>
              <a:t>S</a:t>
            </a:r>
            <a:endParaRPr kumimoji="1" lang="en-US" altLang="zh-CN" baseline="-25000">
              <a:latin typeface="Times New Roman" pitchFamily="18" charset="0"/>
            </a:endParaRPr>
          </a:p>
        </p:txBody>
      </p:sp>
      <p:sp>
        <p:nvSpPr>
          <p:cNvPr id="144463" name="Line 79"/>
          <p:cNvSpPr>
            <a:spLocks noChangeShapeType="1"/>
          </p:cNvSpPr>
          <p:nvPr/>
        </p:nvSpPr>
        <p:spPr bwMode="auto">
          <a:xfrm>
            <a:off x="2362200" y="5029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64" name="Line 80"/>
          <p:cNvSpPr>
            <a:spLocks noChangeShapeType="1"/>
          </p:cNvSpPr>
          <p:nvPr/>
        </p:nvSpPr>
        <p:spPr bwMode="auto">
          <a:xfrm>
            <a:off x="2590800" y="4648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65" name="Line 81"/>
          <p:cNvSpPr>
            <a:spLocks noChangeShapeType="1"/>
          </p:cNvSpPr>
          <p:nvPr/>
        </p:nvSpPr>
        <p:spPr bwMode="auto">
          <a:xfrm>
            <a:off x="1828800" y="4648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66" name="Line 82"/>
          <p:cNvSpPr>
            <a:spLocks noChangeShapeType="1"/>
          </p:cNvSpPr>
          <p:nvPr/>
        </p:nvSpPr>
        <p:spPr bwMode="auto">
          <a:xfrm>
            <a:off x="18288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67" name="Line 83"/>
          <p:cNvSpPr>
            <a:spLocks noChangeShapeType="1"/>
          </p:cNvSpPr>
          <p:nvPr/>
        </p:nvSpPr>
        <p:spPr bwMode="auto">
          <a:xfrm>
            <a:off x="1828800" y="5029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4468" name="Picture 84" descr="SLIDBAR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838200"/>
            <a:ext cx="4549775" cy="4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470" name="Line 86"/>
          <p:cNvSpPr>
            <a:spLocks noChangeShapeType="1"/>
          </p:cNvSpPr>
          <p:nvPr/>
        </p:nvSpPr>
        <p:spPr bwMode="auto">
          <a:xfrm>
            <a:off x="7956550" y="981075"/>
            <a:ext cx="684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44512" name="Group 128"/>
          <p:cNvGraphicFramePr>
            <a:graphicFrameLocks noGrp="1"/>
          </p:cNvGraphicFramePr>
          <p:nvPr/>
        </p:nvGraphicFramePr>
        <p:xfrm>
          <a:off x="7956550" y="981075"/>
          <a:ext cx="936625" cy="5543551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8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总开关位置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开关在任何位置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总开关在干路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72333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WordArt 11"/>
          <p:cNvSpPr>
            <a:spLocks noChangeArrowheads="1" noChangeShapeType="1" noTextEdit="1"/>
          </p:cNvSpPr>
          <p:nvPr/>
        </p:nvSpPr>
        <p:spPr bwMode="auto">
          <a:xfrm>
            <a:off x="2843213" y="2492375"/>
            <a:ext cx="335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新课探索</a:t>
            </a:r>
            <a:endParaRPr lang="en-MY" sz="6600" kern="1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614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14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15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15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15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15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87720" y="869454"/>
            <a:ext cx="6930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【</a:t>
            </a:r>
            <a:r>
              <a:rPr lang="zh-CN" altLang="en-US" sz="3600" dirty="0">
                <a:solidFill>
                  <a:srgbClr val="002060"/>
                </a:solidFill>
                <a:latin typeface="Verdana" pitchFamily="34" charset="0"/>
              </a:rPr>
              <a:t>实验活动</a:t>
            </a:r>
            <a:r>
              <a:rPr lang="en-MY" altLang="zh-CN" sz="3600" dirty="0">
                <a:solidFill>
                  <a:srgbClr val="002060"/>
                </a:solidFill>
                <a:latin typeface="Verdana" pitchFamily="34" charset="0"/>
              </a:rPr>
              <a:t>1</a:t>
            </a:r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】p/g 99</a:t>
            </a:r>
          </a:p>
        </p:txBody>
      </p:sp>
      <p:sp>
        <p:nvSpPr>
          <p:cNvPr id="7172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3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4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5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6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7177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4786041" y="4559360"/>
            <a:ext cx="3921367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I</a:t>
            </a:r>
            <a:r>
              <a:rPr lang="en-MY" altLang="zh-CN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=I</a:t>
            </a:r>
            <a:r>
              <a:rPr lang="en-US" altLang="zh-CN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=I</a:t>
            </a:r>
            <a:r>
              <a:rPr lang="en-US" altLang="zh-CN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3</a:t>
            </a:r>
            <a:endParaRPr lang="zh-CN" altLang="en-US" baseline="-25000" dirty="0">
              <a:solidFill>
                <a:srgbClr val="FF0000"/>
              </a:solidFill>
              <a:latin typeface="Verdana" pitchFamily="34" charset="0"/>
              <a:sym typeface="宋体" pitchFamily="2" charset="-122"/>
            </a:endParaRPr>
          </a:p>
          <a:p>
            <a:pPr eaLnBrk="1" hangingPunct="1"/>
            <a:r>
              <a:rPr lang="zh-CN" altLang="en-US" dirty="0">
                <a:sym typeface="宋体" pitchFamily="2" charset="-122"/>
              </a:rPr>
              <a:t>串联电路中</a:t>
            </a:r>
            <a:r>
              <a:rPr lang="en-MY" altLang="zh-CN" dirty="0">
                <a:sym typeface="宋体" pitchFamily="2" charset="-122"/>
              </a:rPr>
              <a:t>,</a:t>
            </a:r>
          </a:p>
          <a:p>
            <a:pPr eaLnBrk="1" hangingPunct="1"/>
            <a:r>
              <a:rPr lang="zh-CN" altLang="en-US" dirty="0">
                <a:sym typeface="宋体" pitchFamily="2" charset="-122"/>
              </a:rPr>
              <a:t>各处电流</a:t>
            </a:r>
            <a:r>
              <a:rPr lang="zh-CN" altLang="en-US" dirty="0">
                <a:highlight>
                  <a:srgbClr val="FFFF00"/>
                </a:highlight>
                <a:sym typeface="宋体" pitchFamily="2" charset="-122"/>
              </a:rPr>
              <a:t>强度相等</a:t>
            </a:r>
            <a:r>
              <a:rPr lang="zh-CN" altLang="en-US" dirty="0">
                <a:sym typeface="宋体" pitchFamily="2" charset="-122"/>
              </a:rPr>
              <a:t>。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50825" y="1485900"/>
            <a:ext cx="87122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Verdana" pitchFamily="34" charset="0"/>
              </a:rPr>
              <a:t>照图把电池组、开关、小灯泡L</a:t>
            </a:r>
            <a:r>
              <a:rPr lang="zh-CN" altLang="en-US" baseline="-25000" dirty="0">
                <a:latin typeface="Verdana" pitchFamily="34" charset="0"/>
              </a:rPr>
              <a:t>1</a:t>
            </a:r>
            <a:r>
              <a:rPr lang="zh-CN" altLang="en-US" dirty="0">
                <a:latin typeface="Verdana" pitchFamily="34" charset="0"/>
              </a:rPr>
              <a:t>和L</a:t>
            </a:r>
            <a:r>
              <a:rPr lang="zh-CN" altLang="en-US" baseline="-25000" dirty="0">
                <a:latin typeface="Verdana" pitchFamily="34" charset="0"/>
              </a:rPr>
              <a:t>2</a:t>
            </a:r>
            <a:r>
              <a:rPr lang="zh-CN" altLang="en-US" dirty="0">
                <a:latin typeface="Verdana" pitchFamily="34" charset="0"/>
              </a:rPr>
              <a:t>串联起来。用安培计先测量电池组正极和</a:t>
            </a:r>
            <a:r>
              <a:rPr lang="zh-CN" altLang="en-US" dirty="0">
                <a:solidFill>
                  <a:srgbClr val="000000"/>
                </a:solidFill>
                <a:latin typeface="Verdana" pitchFamily="34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latin typeface="Verdana" pitchFamily="34" charset="0"/>
              </a:rPr>
              <a:t>1</a:t>
            </a:r>
            <a:r>
              <a:rPr lang="zh-CN" altLang="en-US" baseline="-250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zh-CN" altLang="en-US" dirty="0">
                <a:latin typeface="Verdana" pitchFamily="34" charset="0"/>
              </a:rPr>
              <a:t>间的电流强度I</a:t>
            </a:r>
            <a:r>
              <a:rPr lang="en-MY" altLang="zh-CN" baseline="-25000" dirty="0">
                <a:latin typeface="Verdana" pitchFamily="34" charset="0"/>
              </a:rPr>
              <a:t>1</a:t>
            </a:r>
            <a:r>
              <a:rPr lang="zh-CN" altLang="en-US" dirty="0">
                <a:latin typeface="Verdana" pitchFamily="34" charset="0"/>
              </a:rPr>
              <a:t>，再依次测出L</a:t>
            </a:r>
            <a:r>
              <a:rPr lang="zh-CN" altLang="en-US" baseline="-25000" dirty="0">
                <a:latin typeface="Verdana" pitchFamily="34" charset="0"/>
              </a:rPr>
              <a:t>1</a:t>
            </a:r>
            <a:r>
              <a:rPr lang="zh-CN" altLang="en-US" dirty="0">
                <a:latin typeface="Verdana" pitchFamily="34" charset="0"/>
              </a:rPr>
              <a:t>和L</a:t>
            </a:r>
            <a:r>
              <a:rPr lang="zh-CN" altLang="en-US" baseline="-25000" dirty="0">
                <a:latin typeface="Verdana" pitchFamily="34" charset="0"/>
              </a:rPr>
              <a:t>2</a:t>
            </a:r>
            <a:r>
              <a:rPr lang="zh-CN" altLang="en-US" dirty="0">
                <a:latin typeface="Verdana" pitchFamily="34" charset="0"/>
              </a:rPr>
              <a:t>间、</a:t>
            </a:r>
            <a:r>
              <a:rPr lang="zh-CN" altLang="en-US" dirty="0">
                <a:solidFill>
                  <a:srgbClr val="000000"/>
                </a:solidFill>
                <a:latin typeface="Verdana" pitchFamily="34" charset="0"/>
              </a:rPr>
              <a:t> L</a:t>
            </a:r>
            <a:r>
              <a:rPr lang="en-US" altLang="zh-CN" baseline="-25000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lang="zh-CN" altLang="en-US" dirty="0">
                <a:latin typeface="Verdana" pitchFamily="34" charset="0"/>
              </a:rPr>
              <a:t>和电池组负极间的电流强度I</a:t>
            </a:r>
            <a:r>
              <a:rPr lang="en-US" altLang="zh-CN" baseline="-25000" dirty="0">
                <a:latin typeface="Verdana" pitchFamily="34" charset="0"/>
              </a:rPr>
              <a:t>2</a:t>
            </a:r>
            <a:r>
              <a:rPr lang="zh-CN" altLang="en-US" dirty="0">
                <a:latin typeface="Verdana" pitchFamily="34" charset="0"/>
              </a:rPr>
              <a:t>及</a:t>
            </a:r>
            <a:r>
              <a:rPr lang="en-US" altLang="zh-CN" dirty="0">
                <a:latin typeface="Verdana" pitchFamily="34" charset="0"/>
              </a:rPr>
              <a:t>I</a:t>
            </a:r>
            <a:r>
              <a:rPr lang="en-US" altLang="zh-CN" baseline="-25000" dirty="0">
                <a:latin typeface="Verdana" pitchFamily="34" charset="0"/>
              </a:rPr>
              <a:t>3</a:t>
            </a:r>
            <a:r>
              <a:rPr lang="zh-CN" altLang="en-US" dirty="0">
                <a:latin typeface="Verdana" pitchFamily="34" charset="0"/>
              </a:rPr>
              <a:t>，同时把测得的值记录下来。它们之间有什么关系？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70969" y="5715000"/>
            <a:ext cx="52943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L1</a:t>
            </a:r>
            <a:endParaRPr lang="en-MY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219200" y="5724525"/>
            <a:ext cx="52943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L2</a:t>
            </a:r>
            <a:endParaRPr lang="en-MY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F8EE6A-6F2E-D66A-1B4F-7BADB8CABEA9}"/>
              </a:ext>
            </a:extLst>
          </p:cNvPr>
          <p:cNvGrpSpPr/>
          <p:nvPr/>
        </p:nvGrpSpPr>
        <p:grpSpPr>
          <a:xfrm>
            <a:off x="336877" y="4089400"/>
            <a:ext cx="4449164" cy="2565400"/>
            <a:chOff x="283174" y="4292600"/>
            <a:chExt cx="4449164" cy="2565400"/>
          </a:xfrm>
        </p:grpSpPr>
        <p:pic>
          <p:nvPicPr>
            <p:cNvPr id="7178" name="Picture 10" descr="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807"/>
            <a:stretch>
              <a:fillRect/>
            </a:stretch>
          </p:blipFill>
          <p:spPr bwMode="auto">
            <a:xfrm>
              <a:off x="609600" y="4292600"/>
              <a:ext cx="4122738" cy="256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BF09BA-642E-A89D-E16C-225A6EE84710}"/>
                </a:ext>
              </a:extLst>
            </p:cNvPr>
            <p:cNvGrpSpPr/>
            <p:nvPr/>
          </p:nvGrpSpPr>
          <p:grpSpPr>
            <a:xfrm>
              <a:off x="3350941" y="4787325"/>
              <a:ext cx="919298" cy="1032450"/>
              <a:chOff x="3350941" y="4787325"/>
              <a:chExt cx="919298" cy="1032450"/>
            </a:xfrm>
          </p:grpSpPr>
          <p:pic>
            <p:nvPicPr>
              <p:cNvPr id="13318" name="Picture 6" descr="Ammeter Icon - Free PNG &amp; SVG 77552 - Noun Project">
                <a:extLst>
                  <a:ext uri="{FF2B5EF4-FFF2-40B4-BE49-F238E27FC236}">
                    <a16:creationId xmlns:a16="http://schemas.microsoft.com/office/drawing/2014/main" id="{AFB86E59-29C2-532A-6415-0ACC863B4F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219" t="20834" r="23780" b="20834"/>
              <a:stretch/>
            </p:blipFill>
            <p:spPr bwMode="auto">
              <a:xfrm>
                <a:off x="3350941" y="5286375"/>
                <a:ext cx="457200" cy="533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994566-7CE6-4400-AC0D-8F7BB20C30D2}"/>
                  </a:ext>
                </a:extLst>
              </p:cNvPr>
              <p:cNvSpPr txBox="1"/>
              <p:nvPr/>
            </p:nvSpPr>
            <p:spPr>
              <a:xfrm>
                <a:off x="3597138" y="4787325"/>
                <a:ext cx="67310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+mj-ea"/>
                    <a:ea typeface="+mj-ea"/>
                  </a:rPr>
                  <a:t>I</a:t>
                </a:r>
                <a:r>
                  <a:rPr lang="en-US" altLang="zh-CN" baseline="-25000" dirty="0"/>
                  <a:t>1</a:t>
                </a:r>
                <a:endParaRPr lang="en-MY" baseline="-25000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DA0F7A-36AF-4465-A384-451D3CC93A5B}"/>
                </a:ext>
              </a:extLst>
            </p:cNvPr>
            <p:cNvSpPr txBox="1"/>
            <p:nvPr/>
          </p:nvSpPr>
          <p:spPr>
            <a:xfrm>
              <a:off x="1872320" y="5586219"/>
              <a:ext cx="6731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+mj-ea"/>
                  <a:ea typeface="+mj-ea"/>
                </a:rPr>
                <a:t>I</a:t>
              </a:r>
              <a:r>
                <a:rPr lang="en-US" altLang="zh-CN" baseline="-25000" dirty="0"/>
                <a:t>2</a:t>
              </a:r>
              <a:endParaRPr lang="en-MY" baseline="-25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F10F34-584B-4875-E3A5-9318BE1DDE4A}"/>
                </a:ext>
              </a:extLst>
            </p:cNvPr>
            <p:cNvSpPr txBox="1"/>
            <p:nvPr/>
          </p:nvSpPr>
          <p:spPr>
            <a:xfrm>
              <a:off x="283174" y="5257070"/>
              <a:ext cx="6731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+mj-ea"/>
                  <a:ea typeface="+mj-ea"/>
                </a:rPr>
                <a:t>I</a:t>
              </a:r>
              <a:r>
                <a:rPr lang="en-US" altLang="zh-CN" baseline="-25000" dirty="0"/>
                <a:t>3</a:t>
              </a:r>
              <a:endParaRPr lang="en-MY" baseline="-25000" dirty="0"/>
            </a:p>
          </p:txBody>
        </p:sp>
      </p:grpSp>
      <p:sp>
        <p:nvSpPr>
          <p:cNvPr id="3" name="Text Box 10">
            <a:extLst>
              <a:ext uri="{FF2B5EF4-FFF2-40B4-BE49-F238E27FC236}">
                <a16:creationId xmlns:a16="http://schemas.microsoft.com/office/drawing/2014/main" id="{EBDDC811-928A-08AA-E056-18F91AA2A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42" y="91734"/>
            <a:ext cx="844226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400" dirty="0"/>
              <a:t>7</a:t>
            </a:r>
            <a:r>
              <a:rPr lang="zh-CN" altLang="zh-CN" sz="4400" dirty="0"/>
              <a:t>.</a:t>
            </a:r>
            <a:r>
              <a:rPr lang="en-US" altLang="zh-CN" sz="4400" dirty="0"/>
              <a:t>1.1 </a:t>
            </a:r>
            <a:r>
              <a:rPr lang="zh-CN" sz="4400" dirty="0"/>
              <a:t>串联电</a:t>
            </a:r>
            <a:r>
              <a:rPr lang="zh-CN" altLang="en-US" sz="4400" dirty="0"/>
              <a:t>路中电流的关系</a:t>
            </a:r>
            <a:endParaRPr lang="zh-CN" sz="4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" grpId="0" bldLvl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6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7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8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199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200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8201" name="Picture 10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07"/>
          <a:stretch>
            <a:fillRect/>
          </a:stretch>
        </p:blipFill>
        <p:spPr bwMode="auto">
          <a:xfrm>
            <a:off x="420657" y="3266288"/>
            <a:ext cx="4122738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858" y="3479807"/>
            <a:ext cx="401955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8575645" y="4225932"/>
            <a:ext cx="0" cy="7207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 flipV="1">
            <a:off x="6270595" y="3865570"/>
            <a:ext cx="792163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 flipH="1">
            <a:off x="6199158" y="5305432"/>
            <a:ext cx="7921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V="1">
            <a:off x="4759295" y="4152907"/>
            <a:ext cx="0" cy="7921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5046633" y="3865570"/>
            <a:ext cx="7921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62B78C7E-A0B5-183F-7FB7-435844D99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385661"/>
            <a:ext cx="3505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/>
            <a:r>
              <a:rPr lang="zh-CN" altLang="en-US" dirty="0">
                <a:sym typeface="宋体" pitchFamily="2" charset="-122"/>
              </a:rPr>
              <a:t>串联电路中</a:t>
            </a:r>
            <a:r>
              <a:rPr lang="en-MY" altLang="zh-CN" dirty="0">
                <a:sym typeface="宋体" pitchFamily="2" charset="-122"/>
              </a:rPr>
              <a:t>,</a:t>
            </a:r>
          </a:p>
          <a:p>
            <a:pPr eaLnBrk="1" hangingPunct="1"/>
            <a:r>
              <a:rPr lang="zh-CN" altLang="en-US" dirty="0">
                <a:sym typeface="宋体" pitchFamily="2" charset="-122"/>
              </a:rPr>
              <a:t>各处电流</a:t>
            </a:r>
            <a:r>
              <a:rPr lang="zh-CN" altLang="en-US" dirty="0">
                <a:highlight>
                  <a:srgbClr val="FFFF00"/>
                </a:highlight>
                <a:sym typeface="宋体" pitchFamily="2" charset="-122"/>
              </a:rPr>
              <a:t>强度相等</a:t>
            </a:r>
            <a:endParaRPr lang="en-MY" altLang="zh-CN" dirty="0">
              <a:highlight>
                <a:srgbClr val="FFFF00"/>
              </a:highlight>
              <a:sym typeface="宋体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I</a:t>
            </a:r>
            <a:r>
              <a:rPr lang="en-MY" altLang="zh-CN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=I</a:t>
            </a:r>
            <a:r>
              <a:rPr lang="en-US" altLang="zh-CN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=I</a:t>
            </a:r>
            <a:r>
              <a:rPr lang="en-US" altLang="zh-CN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3</a:t>
            </a:r>
            <a:endParaRPr lang="zh-CN" altLang="en-US" dirty="0">
              <a:sym typeface="宋体" pitchFamily="2" charset="-122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87091EA2-9E3A-16C2-19E7-E62DF2DB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00" y="353977"/>
            <a:ext cx="844226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400" dirty="0"/>
              <a:t>7</a:t>
            </a:r>
            <a:r>
              <a:rPr lang="zh-CN" altLang="zh-CN" sz="4400" dirty="0"/>
              <a:t>.</a:t>
            </a:r>
            <a:r>
              <a:rPr lang="en-US" altLang="zh-CN" sz="4400" dirty="0"/>
              <a:t>1.1 </a:t>
            </a:r>
            <a:r>
              <a:rPr lang="zh-CN" sz="4400" dirty="0"/>
              <a:t>串联电</a:t>
            </a:r>
            <a:r>
              <a:rPr lang="zh-CN" altLang="en-US" sz="4400" dirty="0"/>
              <a:t>路中电流的关系</a:t>
            </a:r>
            <a:endParaRPr lang="zh-CN" sz="4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3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11"/>
          <p:cNvSpPr>
            <a:spLocks noChangeArrowheads="1" noChangeShapeType="1" noTextEdit="1"/>
          </p:cNvSpPr>
          <p:nvPr/>
        </p:nvSpPr>
        <p:spPr bwMode="auto">
          <a:xfrm>
            <a:off x="598913" y="457200"/>
            <a:ext cx="2449087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作业练习</a:t>
            </a:r>
            <a:endParaRPr lang="en-MY" sz="6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31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D7146-C071-8A11-3881-DA20CB53CBCC}"/>
              </a:ext>
            </a:extLst>
          </p:cNvPr>
          <p:cNvSpPr txBox="1"/>
          <p:nvPr/>
        </p:nvSpPr>
        <p:spPr>
          <a:xfrm>
            <a:off x="3476625" y="423863"/>
            <a:ext cx="1425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p/g 86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06EF2-3198-4BAA-5F16-7E5FF7A21A11}"/>
              </a:ext>
            </a:extLst>
          </p:cNvPr>
          <p:cNvSpPr txBox="1"/>
          <p:nvPr/>
        </p:nvSpPr>
        <p:spPr>
          <a:xfrm>
            <a:off x="838200" y="1524000"/>
            <a:ext cx="1475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选择</a:t>
            </a:r>
            <a:endParaRPr lang="en-MY" altLang="zh-CN" sz="4000" dirty="0"/>
          </a:p>
          <a:p>
            <a:r>
              <a:rPr lang="en-MY" sz="4000" dirty="0"/>
              <a:t>No.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69BAA-0C37-B455-84ED-D73D57926E25}"/>
              </a:ext>
            </a:extLst>
          </p:cNvPr>
          <p:cNvSpPr txBox="1"/>
          <p:nvPr/>
        </p:nvSpPr>
        <p:spPr>
          <a:xfrm>
            <a:off x="3099675" y="2120968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D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3898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11"/>
          <p:cNvSpPr>
            <a:spLocks noChangeArrowheads="1" noChangeShapeType="1" noTextEdit="1"/>
          </p:cNvSpPr>
          <p:nvPr/>
        </p:nvSpPr>
        <p:spPr bwMode="auto">
          <a:xfrm>
            <a:off x="598913" y="457200"/>
            <a:ext cx="2449087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作业练习</a:t>
            </a:r>
            <a:endParaRPr lang="en-MY" sz="6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31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D7146-C071-8A11-3881-DA20CB53CBCC}"/>
              </a:ext>
            </a:extLst>
          </p:cNvPr>
          <p:cNvSpPr txBox="1"/>
          <p:nvPr/>
        </p:nvSpPr>
        <p:spPr>
          <a:xfrm>
            <a:off x="3476625" y="423863"/>
            <a:ext cx="1425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p/g 86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06EF2-3198-4BAA-5F16-7E5FF7A21A11}"/>
              </a:ext>
            </a:extLst>
          </p:cNvPr>
          <p:cNvSpPr txBox="1"/>
          <p:nvPr/>
        </p:nvSpPr>
        <p:spPr>
          <a:xfrm>
            <a:off x="838200" y="1524000"/>
            <a:ext cx="1475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选择</a:t>
            </a:r>
            <a:endParaRPr lang="en-MY" altLang="zh-CN" sz="4000" dirty="0"/>
          </a:p>
          <a:p>
            <a:r>
              <a:rPr lang="en-MY" sz="4000" dirty="0"/>
              <a:t>No.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69BAA-0C37-B455-84ED-D73D57926E25}"/>
              </a:ext>
            </a:extLst>
          </p:cNvPr>
          <p:cNvSpPr txBox="1"/>
          <p:nvPr/>
        </p:nvSpPr>
        <p:spPr>
          <a:xfrm>
            <a:off x="3099675" y="2120968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A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7394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6A92E-EE67-2635-DDE7-61474D85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11">
            <a:extLst>
              <a:ext uri="{FF2B5EF4-FFF2-40B4-BE49-F238E27FC236}">
                <a16:creationId xmlns:a16="http://schemas.microsoft.com/office/drawing/2014/main" id="{BF5ED6D1-A820-DFC5-65DA-75824273E7D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98913" y="457200"/>
            <a:ext cx="2449087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作业练习</a:t>
            </a:r>
            <a:endParaRPr lang="en-MY" sz="6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316" name="Rectangle 32">
            <a:hlinkClick r:id="rId2" action="ppaction://hlinksldjump"/>
            <a:extLst>
              <a:ext uri="{FF2B5EF4-FFF2-40B4-BE49-F238E27FC236}">
                <a16:creationId xmlns:a16="http://schemas.microsoft.com/office/drawing/2014/main" id="{263942A5-87B1-271E-8846-ACBE77DBE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3">
            <a:hlinkClick r:id="rId3" action="ppaction://hlinksldjump"/>
            <a:extLst>
              <a:ext uri="{FF2B5EF4-FFF2-40B4-BE49-F238E27FC236}">
                <a16:creationId xmlns:a16="http://schemas.microsoft.com/office/drawing/2014/main" id="{3D81DCA9-C60C-9282-3601-5DA03DA1B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4">
            <a:hlinkClick r:id="rId4" action="ppaction://hlinksldjump"/>
            <a:extLst>
              <a:ext uri="{FF2B5EF4-FFF2-40B4-BE49-F238E27FC236}">
                <a16:creationId xmlns:a16="http://schemas.microsoft.com/office/drawing/2014/main" id="{C1ED18FA-7F68-BB7E-77B9-5C1750EB0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5">
            <a:hlinkClick r:id="rId5" action="ppaction://hlinksldjump"/>
            <a:extLst>
              <a:ext uri="{FF2B5EF4-FFF2-40B4-BE49-F238E27FC236}">
                <a16:creationId xmlns:a16="http://schemas.microsoft.com/office/drawing/2014/main" id="{4C7922D4-0D77-CBF7-D401-1DFAC69B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6">
            <a:hlinkClick r:id="rId6" action="ppaction://hlinksldjump"/>
            <a:extLst>
              <a:ext uri="{FF2B5EF4-FFF2-40B4-BE49-F238E27FC236}">
                <a16:creationId xmlns:a16="http://schemas.microsoft.com/office/drawing/2014/main" id="{0F76058A-2895-D665-A51E-9AF687C8A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Rectangle 37">
            <a:hlinkClick r:id="rId7" action="ppaction://hlinksldjump"/>
            <a:extLst>
              <a:ext uri="{FF2B5EF4-FFF2-40B4-BE49-F238E27FC236}">
                <a16:creationId xmlns:a16="http://schemas.microsoft.com/office/drawing/2014/main" id="{F8F4D449-7FA0-1E62-EC0A-335F14ACA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C44D0C-2E75-DBF4-4938-6D1B87C12080}"/>
              </a:ext>
            </a:extLst>
          </p:cNvPr>
          <p:cNvSpPr txBox="1"/>
          <p:nvPr/>
        </p:nvSpPr>
        <p:spPr>
          <a:xfrm>
            <a:off x="3476625" y="423863"/>
            <a:ext cx="1425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p/g 89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7926B-81EC-55FD-E283-26D220152BAC}"/>
              </a:ext>
            </a:extLst>
          </p:cNvPr>
          <p:cNvSpPr txBox="1"/>
          <p:nvPr/>
        </p:nvSpPr>
        <p:spPr>
          <a:xfrm>
            <a:off x="838200" y="1524000"/>
            <a:ext cx="1475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是非</a:t>
            </a:r>
            <a:endParaRPr lang="en-MY" altLang="zh-CN" sz="4000" dirty="0"/>
          </a:p>
          <a:p>
            <a:r>
              <a:rPr lang="en-MY" sz="4000" dirty="0"/>
              <a:t>No.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2D0B8-42AC-45A3-E47A-A562DAD54036}"/>
              </a:ext>
            </a:extLst>
          </p:cNvPr>
          <p:cNvSpPr txBox="1"/>
          <p:nvPr/>
        </p:nvSpPr>
        <p:spPr>
          <a:xfrm>
            <a:off x="3099675" y="2120968"/>
            <a:ext cx="699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是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775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765175"/>
            <a:ext cx="6372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【</a:t>
            </a:r>
            <a:r>
              <a:rPr lang="zh-CN" altLang="en-US" sz="3600" dirty="0">
                <a:solidFill>
                  <a:srgbClr val="002060"/>
                </a:solidFill>
                <a:latin typeface="Verdana" pitchFamily="34" charset="0"/>
              </a:rPr>
              <a:t>实验活动</a:t>
            </a:r>
            <a:r>
              <a:rPr lang="en-MY" altLang="zh-CN" sz="3600" dirty="0">
                <a:solidFill>
                  <a:srgbClr val="002060"/>
                </a:solidFill>
                <a:latin typeface="Verdana" pitchFamily="34" charset="0"/>
              </a:rPr>
              <a:t>2</a:t>
            </a:r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】p/g 100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466725" y="1485900"/>
            <a:ext cx="8137525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Verdana" pitchFamily="34" charset="0"/>
              </a:rPr>
              <a:t>照图连接串联电路。测出L</a:t>
            </a:r>
            <a:r>
              <a:rPr lang="zh-CN" altLang="en-US" baseline="-25000" dirty="0">
                <a:latin typeface="Verdana" pitchFamily="34" charset="0"/>
              </a:rPr>
              <a:t>1</a:t>
            </a:r>
            <a:r>
              <a:rPr lang="zh-CN" altLang="en-US" dirty="0">
                <a:latin typeface="Verdana" pitchFamily="34" charset="0"/>
              </a:rPr>
              <a:t>两端的电压V</a:t>
            </a:r>
            <a:r>
              <a:rPr lang="zh-CN" altLang="en-US" baseline="-25000" dirty="0">
                <a:latin typeface="Verdana" pitchFamily="34" charset="0"/>
              </a:rPr>
              <a:t>1</a:t>
            </a:r>
            <a:r>
              <a:rPr lang="zh-CN" altLang="en-US" dirty="0">
                <a:latin typeface="Verdana" pitchFamily="34" charset="0"/>
              </a:rPr>
              <a:t>、L</a:t>
            </a:r>
            <a:r>
              <a:rPr lang="zh-CN" altLang="en-US" baseline="-25000" dirty="0">
                <a:latin typeface="Verdana" pitchFamily="34" charset="0"/>
              </a:rPr>
              <a:t>2</a:t>
            </a:r>
            <a:r>
              <a:rPr lang="zh-CN" altLang="en-US" dirty="0">
                <a:latin typeface="Verdana" pitchFamily="34" charset="0"/>
              </a:rPr>
              <a:t>两端的电压V</a:t>
            </a:r>
            <a:r>
              <a:rPr lang="zh-CN" altLang="en-US" baseline="-25000" dirty="0">
                <a:latin typeface="Verdana" pitchFamily="34" charset="0"/>
              </a:rPr>
              <a:t>2</a:t>
            </a:r>
            <a:r>
              <a:rPr lang="zh-CN" altLang="en-US" dirty="0">
                <a:latin typeface="Verdana" pitchFamily="34" charset="0"/>
              </a:rPr>
              <a:t>以及L</a:t>
            </a:r>
            <a:r>
              <a:rPr lang="zh-CN" altLang="en-US" baseline="-25000" dirty="0">
                <a:latin typeface="Verdana" pitchFamily="34" charset="0"/>
              </a:rPr>
              <a:t>1</a:t>
            </a:r>
            <a:r>
              <a:rPr lang="zh-CN" altLang="en-US" dirty="0">
                <a:latin typeface="Verdana" pitchFamily="34" charset="0"/>
              </a:rPr>
              <a:t>和L</a:t>
            </a:r>
            <a:r>
              <a:rPr lang="zh-CN" altLang="en-US" baseline="-25000" dirty="0">
                <a:latin typeface="Verdana" pitchFamily="34" charset="0"/>
              </a:rPr>
              <a:t>2</a:t>
            </a:r>
            <a:r>
              <a:rPr lang="zh-CN" altLang="en-US" dirty="0">
                <a:latin typeface="Verdana" pitchFamily="34" charset="0"/>
              </a:rPr>
              <a:t>串联后的总电压V。把测得的数值记录下来。他们之间有什么关系？</a:t>
            </a:r>
          </a:p>
        </p:txBody>
      </p:sp>
      <p:sp>
        <p:nvSpPr>
          <p:cNvPr id="9221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2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3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4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5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9226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9227" name="Picture 11" descr="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3646488"/>
            <a:ext cx="3938587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4787900" y="3789363"/>
            <a:ext cx="4176713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V=V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+V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2</a:t>
            </a:r>
          </a:p>
          <a:p>
            <a:pPr eaLnBrk="1" hangingPunct="1"/>
            <a:r>
              <a:rPr lang="zh-CN" altLang="en-US" dirty="0">
                <a:sym typeface="宋体" pitchFamily="2" charset="-122"/>
              </a:rPr>
              <a:t>串联电路两端的总电压等于各部分电路两端的电压之和。</a:t>
            </a: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8B5028D3-4018-D58F-8E61-BFFB76795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40" y="82782"/>
            <a:ext cx="844226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400" dirty="0"/>
              <a:t>7</a:t>
            </a:r>
            <a:r>
              <a:rPr lang="zh-CN" altLang="zh-CN" sz="4400" dirty="0"/>
              <a:t>.</a:t>
            </a:r>
            <a:r>
              <a:rPr lang="en-US" altLang="zh-CN" sz="4400" dirty="0"/>
              <a:t>1.1 </a:t>
            </a:r>
            <a:r>
              <a:rPr lang="zh-CN" sz="4400" dirty="0"/>
              <a:t>串联电</a:t>
            </a:r>
            <a:r>
              <a:rPr lang="zh-CN" altLang="en-US" sz="4400" dirty="0"/>
              <a:t>路中电压的关系</a:t>
            </a:r>
            <a:endParaRPr lang="zh-CN" sz="4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8" grpId="0" bldLvl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7.1.2串联电路中电压的关系- YouTube">
            <a:extLst>
              <a:ext uri="{FF2B5EF4-FFF2-40B4-BE49-F238E27FC236}">
                <a16:creationId xmlns:a16="http://schemas.microsoft.com/office/drawing/2014/main" id="{307D55D6-7D67-4E70-66CE-D34C551E6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228600"/>
            <a:ext cx="9144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7.1.2串联电路中电压的关系- YouTube">
            <a:extLst>
              <a:ext uri="{FF2B5EF4-FFF2-40B4-BE49-F238E27FC236}">
                <a16:creationId xmlns:a16="http://schemas.microsoft.com/office/drawing/2014/main" id="{307D55D6-7D67-4E70-66CE-D34C551E6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5810715"/>
            <a:ext cx="9144000" cy="82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434BEE-C1CB-E144-234D-D93F10BBC547}"/>
              </a:ext>
            </a:extLst>
          </p:cNvPr>
          <p:cNvSpPr/>
          <p:nvPr/>
        </p:nvSpPr>
        <p:spPr bwMode="auto">
          <a:xfrm>
            <a:off x="3810000" y="2895600"/>
            <a:ext cx="1752600" cy="13716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DAE4AA-A317-3422-BE2E-51F6246FD03F}"/>
              </a:ext>
            </a:extLst>
          </p:cNvPr>
          <p:cNvSpPr/>
          <p:nvPr/>
        </p:nvSpPr>
        <p:spPr bwMode="auto">
          <a:xfrm>
            <a:off x="6019800" y="2895600"/>
            <a:ext cx="1752600" cy="13716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" name="Picture 2" descr="7.1.2串联电路中电压的关系- YouTube">
            <a:extLst>
              <a:ext uri="{FF2B5EF4-FFF2-40B4-BE49-F238E27FC236}">
                <a16:creationId xmlns:a16="http://schemas.microsoft.com/office/drawing/2014/main" id="{2BAE486D-4DA0-6926-F55C-E4D420B499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6800" y="4412166"/>
            <a:ext cx="72390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10A141-6F2D-0835-27A7-78669AD3698D}"/>
                  </a:ext>
                </a:extLst>
              </p14:cNvPr>
              <p14:cNvContentPartPr/>
              <p14:nvPr/>
            </p14:nvContentPartPr>
            <p14:xfrm>
              <a:off x="1605354" y="5996985"/>
              <a:ext cx="6759000" cy="103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10A141-6F2D-0835-27A7-78669AD369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3354" y="5853345"/>
                <a:ext cx="6902640" cy="39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34482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11"/>
          <p:cNvSpPr>
            <a:spLocks noChangeArrowheads="1" noChangeShapeType="1" noTextEdit="1"/>
          </p:cNvSpPr>
          <p:nvPr/>
        </p:nvSpPr>
        <p:spPr bwMode="auto">
          <a:xfrm>
            <a:off x="598913" y="457200"/>
            <a:ext cx="2449087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课内练习</a:t>
            </a:r>
            <a:endParaRPr lang="en-MY" sz="6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31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D7146-C071-8A11-3881-DA20CB53CBCC}"/>
              </a:ext>
            </a:extLst>
          </p:cNvPr>
          <p:cNvSpPr txBox="1"/>
          <p:nvPr/>
        </p:nvSpPr>
        <p:spPr>
          <a:xfrm>
            <a:off x="3476625" y="423863"/>
            <a:ext cx="1632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p/g 120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06EF2-3198-4BAA-5F16-7E5FF7A21A11}"/>
              </a:ext>
            </a:extLst>
          </p:cNvPr>
          <p:cNvSpPr txBox="1"/>
          <p:nvPr/>
        </p:nvSpPr>
        <p:spPr>
          <a:xfrm>
            <a:off x="838200" y="1524000"/>
            <a:ext cx="1475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选择</a:t>
            </a:r>
            <a:endParaRPr lang="en-MY" altLang="zh-CN" sz="4000" dirty="0"/>
          </a:p>
          <a:p>
            <a:r>
              <a:rPr lang="en-MY" sz="4000" dirty="0"/>
              <a:t>No.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69BAA-0C37-B455-84ED-D73D57926E25}"/>
              </a:ext>
            </a:extLst>
          </p:cNvPr>
          <p:cNvSpPr txBox="1"/>
          <p:nvPr/>
        </p:nvSpPr>
        <p:spPr>
          <a:xfrm>
            <a:off x="3099675" y="2120968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D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11"/>
          <p:cNvSpPr>
            <a:spLocks noChangeArrowheads="1" noChangeShapeType="1" noTextEdit="1"/>
          </p:cNvSpPr>
          <p:nvPr/>
        </p:nvSpPr>
        <p:spPr bwMode="auto">
          <a:xfrm>
            <a:off x="598913" y="457200"/>
            <a:ext cx="2449087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作业练习</a:t>
            </a:r>
            <a:endParaRPr lang="en-MY" sz="6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31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D7146-C071-8A11-3881-DA20CB53CBCC}"/>
              </a:ext>
            </a:extLst>
          </p:cNvPr>
          <p:cNvSpPr txBox="1"/>
          <p:nvPr/>
        </p:nvSpPr>
        <p:spPr>
          <a:xfrm>
            <a:off x="3476625" y="423863"/>
            <a:ext cx="1425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p/g 86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06EF2-3198-4BAA-5F16-7E5FF7A21A11}"/>
              </a:ext>
            </a:extLst>
          </p:cNvPr>
          <p:cNvSpPr txBox="1"/>
          <p:nvPr/>
        </p:nvSpPr>
        <p:spPr>
          <a:xfrm>
            <a:off x="838200" y="1524000"/>
            <a:ext cx="1475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选择</a:t>
            </a:r>
            <a:endParaRPr lang="en-MY" altLang="zh-CN" sz="4000" dirty="0"/>
          </a:p>
          <a:p>
            <a:r>
              <a:rPr lang="en-MY" sz="4000" dirty="0"/>
              <a:t>No.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69BAA-0C37-B455-84ED-D73D57926E25}"/>
              </a:ext>
            </a:extLst>
          </p:cNvPr>
          <p:cNvSpPr txBox="1"/>
          <p:nvPr/>
        </p:nvSpPr>
        <p:spPr>
          <a:xfrm>
            <a:off x="3099675" y="2120968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B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4188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020763" y="598488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4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187575" y="598488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5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352800" y="598488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6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5325" y="598488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7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710238" y="590550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8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853238" y="598488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01651" y="1984375"/>
            <a:ext cx="472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/>
              <a:t>串联电路： V = V</a:t>
            </a:r>
            <a:r>
              <a:rPr lang="zh-CN" altLang="en-US" baseline="-25000" dirty="0"/>
              <a:t>1</a:t>
            </a:r>
            <a:r>
              <a:rPr lang="zh-CN" altLang="en-US" dirty="0"/>
              <a:t>+ V</a:t>
            </a:r>
            <a:r>
              <a:rPr lang="zh-CN" altLang="en-US" baseline="-25000" dirty="0"/>
              <a:t>2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574676" y="2632075"/>
            <a:ext cx="4103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/>
              <a:t>因为       V = IR，  </a:t>
            </a:r>
            <a:endParaRPr lang="zh-CN" altLang="en-US" baseline="-25000" dirty="0"/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476250" y="4432300"/>
            <a:ext cx="6858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/>
              <a:t>因为串联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dirty="0"/>
              <a:t>=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baseline="-25000" dirty="0"/>
              <a:t>1</a:t>
            </a:r>
            <a:r>
              <a:rPr lang="zh-CN" altLang="en-US" dirty="0"/>
              <a:t>=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baseline="-25000" dirty="0"/>
              <a:t>2，</a:t>
            </a:r>
            <a:endParaRPr lang="zh-CN" altLang="en-US" dirty="0"/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574676" y="3424238"/>
            <a:ext cx="4679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/>
              <a:t>所以   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dirty="0"/>
              <a:t>R =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baseline="-25000" dirty="0"/>
              <a:t>1</a:t>
            </a:r>
            <a:r>
              <a:rPr lang="zh-CN" altLang="en-US" dirty="0"/>
              <a:t>R</a:t>
            </a:r>
            <a:r>
              <a:rPr lang="zh-CN" altLang="en-US" baseline="-25000" dirty="0"/>
              <a:t>1 </a:t>
            </a:r>
            <a:r>
              <a:rPr lang="zh-CN" altLang="en-US" dirty="0"/>
              <a:t>+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baseline="-25000" dirty="0"/>
              <a:t>2</a:t>
            </a:r>
            <a:r>
              <a:rPr lang="zh-CN" altLang="en-US" dirty="0"/>
              <a:t>R</a:t>
            </a:r>
            <a:r>
              <a:rPr lang="zh-CN" altLang="en-US" baseline="-25000" dirty="0"/>
              <a:t>2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333375" y="5151438"/>
            <a:ext cx="5562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/>
              <a:t> 所以      </a:t>
            </a:r>
            <a:r>
              <a:rPr lang="zh-CN" altLang="en-US">
                <a:solidFill>
                  <a:srgbClr val="FF0000"/>
                </a:solidFill>
              </a:rPr>
              <a:t>R = R</a:t>
            </a:r>
            <a:r>
              <a:rPr lang="zh-CN" altLang="en-US" baseline="-25000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+R</a:t>
            </a:r>
            <a:r>
              <a:rPr lang="zh-CN" altLang="en-US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501651" y="1213043"/>
            <a:ext cx="6477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4000" dirty="0">
                <a:latin typeface="Arial" charset="0"/>
                <a:ea typeface="宋体" pitchFamily="2" charset="-122"/>
              </a:rPr>
              <a:t>串联电路电阻关系的推导：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304800" y="5943600"/>
            <a:ext cx="8181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latin typeface="Arial" charset="0"/>
              </a:rPr>
              <a:t>即</a:t>
            </a:r>
            <a:r>
              <a:rPr lang="en-US" altLang="zh-CN" dirty="0">
                <a:latin typeface="Arial" charset="0"/>
              </a:rPr>
              <a:t>:</a:t>
            </a:r>
            <a:r>
              <a:rPr lang="zh-CN" altLang="en-US" dirty="0">
                <a:latin typeface="Arial" charset="0"/>
              </a:rPr>
              <a:t>串联电路的总电阻等于各</a:t>
            </a:r>
            <a:r>
              <a:rPr lang="zh-CN" altLang="en-US" dirty="0">
                <a:highlight>
                  <a:srgbClr val="FFFF00"/>
                </a:highlight>
                <a:latin typeface="Arial" charset="0"/>
              </a:rPr>
              <a:t>串联电阻之和</a:t>
            </a:r>
            <a:r>
              <a:rPr lang="zh-CN" altLang="en-US" dirty="0">
                <a:latin typeface="Arial" charset="0"/>
              </a:rPr>
              <a:t>。</a:t>
            </a:r>
          </a:p>
        </p:txBody>
      </p:sp>
      <p:grpSp>
        <p:nvGrpSpPr>
          <p:cNvPr id="10256" name="Group 16"/>
          <p:cNvGrpSpPr>
            <a:grpSpLocks/>
          </p:cNvGrpSpPr>
          <p:nvPr/>
        </p:nvGrpSpPr>
        <p:grpSpPr bwMode="auto">
          <a:xfrm>
            <a:off x="4879975" y="2327276"/>
            <a:ext cx="3930650" cy="2176463"/>
            <a:chOff x="0" y="35"/>
            <a:chExt cx="2476" cy="1371"/>
          </a:xfrm>
        </p:grpSpPr>
        <p:sp>
          <p:nvSpPr>
            <p:cNvPr id="10257" name="Line 17"/>
            <p:cNvSpPr>
              <a:spLocks noChangeShapeType="1"/>
            </p:cNvSpPr>
            <p:nvPr/>
          </p:nvSpPr>
          <p:spPr bwMode="auto">
            <a:xfrm>
              <a:off x="0" y="470"/>
              <a:ext cx="75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>
              <a:off x="1062" y="466"/>
              <a:ext cx="67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>
              <a:off x="2056" y="466"/>
              <a:ext cx="4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0260" name="Text Box 20"/>
            <p:cNvSpPr txBox="1">
              <a:spLocks noChangeArrowheads="1"/>
            </p:cNvSpPr>
            <p:nvPr/>
          </p:nvSpPr>
          <p:spPr bwMode="auto">
            <a:xfrm>
              <a:off x="720" y="42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2800"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800" baseline="-25000">
                  <a:latin typeface="Arial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0261" name="Text Box 21"/>
            <p:cNvSpPr txBox="1">
              <a:spLocks noChangeArrowheads="1"/>
            </p:cNvSpPr>
            <p:nvPr/>
          </p:nvSpPr>
          <p:spPr bwMode="auto">
            <a:xfrm>
              <a:off x="1749" y="42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2800"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800" baseline="-25000">
                  <a:latin typeface="Arial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0262" name="Line 22"/>
            <p:cNvSpPr>
              <a:spLocks noChangeShapeType="1"/>
            </p:cNvSpPr>
            <p:nvPr/>
          </p:nvSpPr>
          <p:spPr bwMode="auto">
            <a:xfrm flipV="1">
              <a:off x="204" y="475"/>
              <a:ext cx="96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0263" name="Text Box 23"/>
            <p:cNvSpPr txBox="1">
              <a:spLocks noChangeArrowheads="1"/>
            </p:cNvSpPr>
            <p:nvPr/>
          </p:nvSpPr>
          <p:spPr bwMode="auto">
            <a:xfrm>
              <a:off x="112" y="35"/>
              <a:ext cx="144" cy="4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3600" dirty="0">
                  <a:solidFill>
                    <a:srgbClr val="0000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endParaRPr lang="zh-CN" altLang="zh-CN" sz="3600" baseline="-250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10264" name="Group 24"/>
            <p:cNvGrpSpPr>
              <a:grpSpLocks/>
            </p:cNvGrpSpPr>
            <p:nvPr/>
          </p:nvGrpSpPr>
          <p:grpSpPr bwMode="auto">
            <a:xfrm>
              <a:off x="430" y="513"/>
              <a:ext cx="962" cy="768"/>
              <a:chOff x="0" y="0"/>
              <a:chExt cx="962" cy="768"/>
            </a:xfrm>
          </p:grpSpPr>
          <p:sp>
            <p:nvSpPr>
              <p:cNvPr id="10274" name="Line 25"/>
              <p:cNvSpPr>
                <a:spLocks noChangeShapeType="1"/>
              </p:cNvSpPr>
              <p:nvPr/>
            </p:nvSpPr>
            <p:spPr bwMode="auto">
              <a:xfrm>
                <a:off x="1" y="288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275" name="Line 26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276" name="Line 27"/>
              <p:cNvSpPr>
                <a:spLocks noChangeShapeType="1"/>
              </p:cNvSpPr>
              <p:nvPr/>
            </p:nvSpPr>
            <p:spPr bwMode="auto">
              <a:xfrm flipH="1">
                <a:off x="961" y="0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277" name="Text Box 28"/>
              <p:cNvSpPr txBox="1">
                <a:spLocks noChangeArrowheads="1"/>
              </p:cNvSpPr>
              <p:nvPr/>
            </p:nvSpPr>
            <p:spPr bwMode="auto">
              <a:xfrm>
                <a:off x="289" y="115"/>
                <a:ext cx="394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r>
                  <a:rPr lang="zh-CN" altLang="en-US" baseline="-25000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1</a:t>
                </a:r>
              </a:p>
            </p:txBody>
          </p:sp>
        </p:grpSp>
        <p:grpSp>
          <p:nvGrpSpPr>
            <p:cNvPr id="10265" name="Group 29"/>
            <p:cNvGrpSpPr>
              <a:grpSpLocks/>
            </p:cNvGrpSpPr>
            <p:nvPr/>
          </p:nvGrpSpPr>
          <p:grpSpPr bwMode="auto">
            <a:xfrm>
              <a:off x="1392" y="513"/>
              <a:ext cx="960" cy="768"/>
              <a:chOff x="0" y="0"/>
              <a:chExt cx="960" cy="768"/>
            </a:xfrm>
          </p:grpSpPr>
          <p:sp>
            <p:nvSpPr>
              <p:cNvPr id="10271" name="Line 30"/>
              <p:cNvSpPr>
                <a:spLocks noChangeShapeType="1"/>
              </p:cNvSpPr>
              <p:nvPr/>
            </p:nvSpPr>
            <p:spPr bwMode="auto">
              <a:xfrm flipH="1">
                <a:off x="958" y="0"/>
                <a:ext cx="2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272" name="Line 31"/>
              <p:cNvSpPr>
                <a:spLocks noChangeShapeType="1"/>
              </p:cNvSpPr>
              <p:nvPr/>
            </p:nvSpPr>
            <p:spPr bwMode="auto">
              <a:xfrm>
                <a:off x="0" y="288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273" name="Text Box 32"/>
              <p:cNvSpPr txBox="1">
                <a:spLocks noChangeArrowheads="1"/>
              </p:cNvSpPr>
              <p:nvPr/>
            </p:nvSpPr>
            <p:spPr bwMode="auto">
              <a:xfrm>
                <a:off x="357" y="122"/>
                <a:ext cx="394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r>
                  <a:rPr lang="zh-CN" altLang="en-US" baseline="-25000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2</a:t>
                </a:r>
              </a:p>
            </p:txBody>
          </p:sp>
        </p:grpSp>
        <p:grpSp>
          <p:nvGrpSpPr>
            <p:cNvPr id="10266" name="Group 33"/>
            <p:cNvGrpSpPr>
              <a:grpSpLocks/>
            </p:cNvGrpSpPr>
            <p:nvPr/>
          </p:nvGrpSpPr>
          <p:grpSpPr bwMode="auto">
            <a:xfrm>
              <a:off x="432" y="1041"/>
              <a:ext cx="1920" cy="365"/>
              <a:chOff x="0" y="0"/>
              <a:chExt cx="1920" cy="365"/>
            </a:xfrm>
          </p:grpSpPr>
          <p:sp>
            <p:nvSpPr>
              <p:cNvPr id="10269" name="Line 34"/>
              <p:cNvSpPr>
                <a:spLocks noChangeShapeType="1"/>
              </p:cNvSpPr>
              <p:nvPr/>
            </p:nvSpPr>
            <p:spPr bwMode="auto">
              <a:xfrm>
                <a:off x="0" y="173"/>
                <a:ext cx="19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0270" name="Text Box 35"/>
              <p:cNvSpPr txBox="1">
                <a:spLocks noChangeArrowheads="1"/>
              </p:cNvSpPr>
              <p:nvPr/>
            </p:nvSpPr>
            <p:spPr bwMode="auto">
              <a:xfrm>
                <a:off x="803" y="0"/>
                <a:ext cx="301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endParaRPr lang="zh-CN" altLang="en-US" baseline="-25000">
                  <a:solidFill>
                    <a:srgbClr val="FF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10267" name="Rectangle 36"/>
            <p:cNvSpPr>
              <a:spLocks noChangeArrowheads="1"/>
            </p:cNvSpPr>
            <p:nvPr/>
          </p:nvSpPr>
          <p:spPr bwMode="auto">
            <a:xfrm>
              <a:off x="702" y="398"/>
              <a:ext cx="480" cy="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Rectangle 37"/>
            <p:cNvSpPr>
              <a:spLocks noChangeArrowheads="1"/>
            </p:cNvSpPr>
            <p:nvPr/>
          </p:nvSpPr>
          <p:spPr bwMode="auto">
            <a:xfrm>
              <a:off x="1671" y="399"/>
              <a:ext cx="480" cy="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Text Box 10">
            <a:extLst>
              <a:ext uri="{FF2B5EF4-FFF2-40B4-BE49-F238E27FC236}">
                <a16:creationId xmlns:a16="http://schemas.microsoft.com/office/drawing/2014/main" id="{E0743622-1327-3890-6DAD-23CFB63C0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14" y="115495"/>
            <a:ext cx="772157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 dirty="0"/>
              <a:t>7</a:t>
            </a:r>
            <a:r>
              <a:rPr lang="zh-CN" altLang="zh-CN" sz="4400" dirty="0"/>
              <a:t>.</a:t>
            </a:r>
            <a:r>
              <a:rPr lang="en-US" altLang="zh-CN" sz="4400" dirty="0"/>
              <a:t>1.3 </a:t>
            </a:r>
            <a:r>
              <a:rPr lang="zh-CN" sz="4400" dirty="0"/>
              <a:t>串联电</a:t>
            </a:r>
            <a:r>
              <a:rPr lang="zh-CN" altLang="en-US" sz="4400" dirty="0"/>
              <a:t>路中电阻的关系</a:t>
            </a:r>
            <a:endParaRPr lang="zh-C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9DEF9-B159-6C97-06C8-B3F7793BFA61}"/>
              </a:ext>
            </a:extLst>
          </p:cNvPr>
          <p:cNvSpPr txBox="1"/>
          <p:nvPr/>
        </p:nvSpPr>
        <p:spPr>
          <a:xfrm>
            <a:off x="7318376" y="940301"/>
            <a:ext cx="1632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p/g 101</a:t>
            </a:r>
            <a:endParaRPr lang="en-MY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utoUpdateAnimBg="0"/>
      <p:bldP spid="10250" grpId="0" autoUpdateAnimBg="0"/>
      <p:bldP spid="10251" grpId="0" autoUpdateAnimBg="0"/>
      <p:bldP spid="10252" grpId="0" autoUpdateAnimBg="0"/>
      <p:bldP spid="10253" grpId="0" autoUpdateAnimBg="0"/>
      <p:bldP spid="1025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611981" y="1147981"/>
            <a:ext cx="7920038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dirty="0">
                <a:latin typeface="宋体" pitchFamily="2" charset="-122"/>
              </a:rPr>
              <a:t>把一个4</a:t>
            </a:r>
            <a:r>
              <a:rPr lang="zh-CN" altLang="en-US" dirty="0">
                <a:latin typeface="宋体" pitchFamily="2" charset="-122"/>
                <a:sym typeface="宋体" pitchFamily="2" charset="-122"/>
              </a:rPr>
              <a:t>Ω的电阻和一个6Ω的电阻串联起来，接在电压是12V的电源上，求这个串联电路中的电流强度</a:t>
            </a:r>
            <a:r>
              <a:rPr lang="zh-CN" altLang="en-US" dirty="0">
                <a:latin typeface="宋体" pitchFamily="2" charset="-122"/>
              </a:rPr>
              <a:t>。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446360" y="346075"/>
            <a:ext cx="213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【</a:t>
            </a:r>
            <a:r>
              <a:rPr lang="zh-CN" altLang="en-US" sz="3600" dirty="0">
                <a:solidFill>
                  <a:srgbClr val="002060"/>
                </a:solidFill>
                <a:latin typeface="Verdana" pitchFamily="34" charset="0"/>
              </a:rPr>
              <a:t>例题</a:t>
            </a:r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】</a:t>
            </a:r>
          </a:p>
        </p:txBody>
      </p:sp>
      <p:sp>
        <p:nvSpPr>
          <p:cNvPr id="11269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0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1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2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3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274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graphicFrame>
        <p:nvGraphicFramePr>
          <p:cNvPr id="11275" name="Object 11"/>
          <p:cNvGraphicFramePr>
            <a:graphicFrameLocks noChangeAspect="1"/>
          </p:cNvGraphicFramePr>
          <p:nvPr/>
        </p:nvGraphicFramePr>
        <p:xfrm>
          <a:off x="428625" y="3963988"/>
          <a:ext cx="3929063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70220" imgH="393635" progId="">
                  <p:embed/>
                </p:oleObj>
              </mc:Choice>
              <mc:Fallback>
                <p:oleObj r:id="rId3" imgW="1270220" imgH="393635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3963988"/>
                        <a:ext cx="3929063" cy="1163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2"/>
          <p:cNvGraphicFramePr>
            <a:graphicFrameLocks noChangeAspect="1"/>
          </p:cNvGraphicFramePr>
          <p:nvPr/>
        </p:nvGraphicFramePr>
        <p:xfrm>
          <a:off x="500063" y="3000375"/>
          <a:ext cx="588803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16555" imgH="215725" progId="">
                  <p:embed/>
                </p:oleObj>
              </mc:Choice>
              <mc:Fallback>
                <p:oleObj r:id="rId5" imgW="1816555" imgH="215725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000375"/>
                        <a:ext cx="5888037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714875" y="3886200"/>
            <a:ext cx="3930650" cy="2203450"/>
            <a:chOff x="0" y="18"/>
            <a:chExt cx="2476" cy="1388"/>
          </a:xfrm>
        </p:grpSpPr>
        <p:sp>
          <p:nvSpPr>
            <p:cNvPr id="11282" name="Line 17"/>
            <p:cNvSpPr>
              <a:spLocks noChangeShapeType="1"/>
            </p:cNvSpPr>
            <p:nvPr/>
          </p:nvSpPr>
          <p:spPr bwMode="auto">
            <a:xfrm>
              <a:off x="0" y="470"/>
              <a:ext cx="75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1283" name="Line 18"/>
            <p:cNvSpPr>
              <a:spLocks noChangeShapeType="1"/>
            </p:cNvSpPr>
            <p:nvPr/>
          </p:nvSpPr>
          <p:spPr bwMode="auto">
            <a:xfrm>
              <a:off x="1062" y="466"/>
              <a:ext cx="67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1284" name="Line 19"/>
            <p:cNvSpPr>
              <a:spLocks noChangeShapeType="1"/>
            </p:cNvSpPr>
            <p:nvPr/>
          </p:nvSpPr>
          <p:spPr bwMode="auto">
            <a:xfrm>
              <a:off x="2056" y="466"/>
              <a:ext cx="4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1285" name="Text Box 20"/>
            <p:cNvSpPr txBox="1">
              <a:spLocks noChangeArrowheads="1"/>
            </p:cNvSpPr>
            <p:nvPr/>
          </p:nvSpPr>
          <p:spPr bwMode="auto">
            <a:xfrm>
              <a:off x="720" y="42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2800"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800" baseline="-25000">
                  <a:latin typeface="Arial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1286" name="Text Box 21"/>
            <p:cNvSpPr txBox="1">
              <a:spLocks noChangeArrowheads="1"/>
            </p:cNvSpPr>
            <p:nvPr/>
          </p:nvSpPr>
          <p:spPr bwMode="auto">
            <a:xfrm>
              <a:off x="1749" y="42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2800"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800" baseline="-25000">
                  <a:latin typeface="Arial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1287" name="Line 22"/>
            <p:cNvSpPr>
              <a:spLocks noChangeShapeType="1"/>
            </p:cNvSpPr>
            <p:nvPr/>
          </p:nvSpPr>
          <p:spPr bwMode="auto">
            <a:xfrm flipV="1">
              <a:off x="204" y="475"/>
              <a:ext cx="96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1288" name="Text Box 23"/>
            <p:cNvSpPr txBox="1">
              <a:spLocks noChangeArrowheads="1"/>
            </p:cNvSpPr>
            <p:nvPr/>
          </p:nvSpPr>
          <p:spPr bwMode="auto">
            <a:xfrm>
              <a:off x="102" y="18"/>
              <a:ext cx="228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3600" dirty="0">
                  <a:solidFill>
                    <a:srgbClr val="0000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endParaRPr lang="zh-CN" altLang="zh-CN" sz="3600" baseline="-250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11289" name="Group 24"/>
            <p:cNvGrpSpPr>
              <a:grpSpLocks/>
            </p:cNvGrpSpPr>
            <p:nvPr/>
          </p:nvGrpSpPr>
          <p:grpSpPr bwMode="auto">
            <a:xfrm>
              <a:off x="430" y="513"/>
              <a:ext cx="962" cy="768"/>
              <a:chOff x="0" y="0"/>
              <a:chExt cx="962" cy="768"/>
            </a:xfrm>
          </p:grpSpPr>
          <p:sp>
            <p:nvSpPr>
              <p:cNvPr id="11299" name="Line 25"/>
              <p:cNvSpPr>
                <a:spLocks noChangeShapeType="1"/>
              </p:cNvSpPr>
              <p:nvPr/>
            </p:nvSpPr>
            <p:spPr bwMode="auto">
              <a:xfrm>
                <a:off x="1" y="288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300" name="Line 26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301" name="Line 27"/>
              <p:cNvSpPr>
                <a:spLocks noChangeShapeType="1"/>
              </p:cNvSpPr>
              <p:nvPr/>
            </p:nvSpPr>
            <p:spPr bwMode="auto">
              <a:xfrm flipH="1">
                <a:off x="961" y="0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302" name="Text Box 28"/>
              <p:cNvSpPr txBox="1">
                <a:spLocks noChangeArrowheads="1"/>
              </p:cNvSpPr>
              <p:nvPr/>
            </p:nvSpPr>
            <p:spPr bwMode="auto">
              <a:xfrm>
                <a:off x="289" y="115"/>
                <a:ext cx="394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r>
                  <a:rPr lang="zh-CN" altLang="en-US" baseline="-25000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1</a:t>
                </a:r>
              </a:p>
            </p:txBody>
          </p:sp>
        </p:grpSp>
        <p:grpSp>
          <p:nvGrpSpPr>
            <p:cNvPr id="11290" name="Group 29"/>
            <p:cNvGrpSpPr>
              <a:grpSpLocks/>
            </p:cNvGrpSpPr>
            <p:nvPr/>
          </p:nvGrpSpPr>
          <p:grpSpPr bwMode="auto">
            <a:xfrm>
              <a:off x="1392" y="513"/>
              <a:ext cx="960" cy="768"/>
              <a:chOff x="0" y="0"/>
              <a:chExt cx="960" cy="768"/>
            </a:xfrm>
          </p:grpSpPr>
          <p:sp>
            <p:nvSpPr>
              <p:cNvPr id="11296" name="Line 30"/>
              <p:cNvSpPr>
                <a:spLocks noChangeShapeType="1"/>
              </p:cNvSpPr>
              <p:nvPr/>
            </p:nvSpPr>
            <p:spPr bwMode="auto">
              <a:xfrm flipH="1">
                <a:off x="958" y="0"/>
                <a:ext cx="2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297" name="Line 31"/>
              <p:cNvSpPr>
                <a:spLocks noChangeShapeType="1"/>
              </p:cNvSpPr>
              <p:nvPr/>
            </p:nvSpPr>
            <p:spPr bwMode="auto">
              <a:xfrm>
                <a:off x="0" y="288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298" name="Text Box 32"/>
              <p:cNvSpPr txBox="1">
                <a:spLocks noChangeArrowheads="1"/>
              </p:cNvSpPr>
              <p:nvPr/>
            </p:nvSpPr>
            <p:spPr bwMode="auto">
              <a:xfrm>
                <a:off x="357" y="122"/>
                <a:ext cx="394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r>
                  <a:rPr lang="zh-CN" altLang="en-US" baseline="-25000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2</a:t>
                </a:r>
              </a:p>
            </p:txBody>
          </p:sp>
        </p:grpSp>
        <p:grpSp>
          <p:nvGrpSpPr>
            <p:cNvPr id="11291" name="Group 33"/>
            <p:cNvGrpSpPr>
              <a:grpSpLocks/>
            </p:cNvGrpSpPr>
            <p:nvPr/>
          </p:nvGrpSpPr>
          <p:grpSpPr bwMode="auto">
            <a:xfrm>
              <a:off x="432" y="1041"/>
              <a:ext cx="1920" cy="365"/>
              <a:chOff x="0" y="0"/>
              <a:chExt cx="1920" cy="365"/>
            </a:xfrm>
          </p:grpSpPr>
          <p:sp>
            <p:nvSpPr>
              <p:cNvPr id="11294" name="Line 34"/>
              <p:cNvSpPr>
                <a:spLocks noChangeShapeType="1"/>
              </p:cNvSpPr>
              <p:nvPr/>
            </p:nvSpPr>
            <p:spPr bwMode="auto">
              <a:xfrm>
                <a:off x="0" y="173"/>
                <a:ext cx="19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295" name="Text Box 35"/>
              <p:cNvSpPr txBox="1">
                <a:spLocks noChangeArrowheads="1"/>
              </p:cNvSpPr>
              <p:nvPr/>
            </p:nvSpPr>
            <p:spPr bwMode="auto">
              <a:xfrm>
                <a:off x="803" y="0"/>
                <a:ext cx="301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endParaRPr lang="zh-CN" altLang="en-US" baseline="-25000">
                  <a:solidFill>
                    <a:srgbClr val="FF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11292" name="Rectangle 36"/>
            <p:cNvSpPr>
              <a:spLocks noChangeArrowheads="1"/>
            </p:cNvSpPr>
            <p:nvPr/>
          </p:nvSpPr>
          <p:spPr bwMode="auto">
            <a:xfrm>
              <a:off x="702" y="398"/>
              <a:ext cx="480" cy="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3" name="Rectangle 37"/>
            <p:cNvSpPr>
              <a:spLocks noChangeArrowheads="1"/>
            </p:cNvSpPr>
            <p:nvPr/>
          </p:nvSpPr>
          <p:spPr bwMode="auto">
            <a:xfrm>
              <a:off x="1671" y="399"/>
              <a:ext cx="480" cy="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6286500" y="3857625"/>
            <a:ext cx="1009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宋体" pitchFamily="2" charset="-122"/>
              </a:rPr>
              <a:t>=</a:t>
            </a:r>
            <a:r>
              <a:rPr lang="zh-CN" altLang="en-US">
                <a:latin typeface="宋体" pitchFamily="2" charset="-122"/>
              </a:rPr>
              <a:t>4</a:t>
            </a:r>
            <a:r>
              <a:rPr lang="zh-CN" altLang="en-US">
                <a:latin typeface="宋体" pitchFamily="2" charset="-122"/>
                <a:sym typeface="宋体" pitchFamily="2" charset="-122"/>
              </a:rPr>
              <a:t>Ω</a:t>
            </a:r>
            <a:endParaRPr lang="zh-CN" altLang="en-US"/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7929563" y="3857625"/>
            <a:ext cx="1009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宋体" pitchFamily="2" charset="-122"/>
              </a:rPr>
              <a:t>=6</a:t>
            </a:r>
            <a:r>
              <a:rPr lang="zh-CN" altLang="en-US">
                <a:latin typeface="宋体" pitchFamily="2" charset="-122"/>
                <a:sym typeface="宋体" pitchFamily="2" charset="-122"/>
              </a:rPr>
              <a:t>Ω</a:t>
            </a:r>
            <a:endParaRPr lang="zh-CN" altLang="en-US"/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7072313" y="5500688"/>
            <a:ext cx="1011237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宋体" pitchFamily="2" charset="-122"/>
                <a:sym typeface="宋体" pitchFamily="2" charset="-122"/>
              </a:rPr>
              <a:t>=</a:t>
            </a:r>
            <a:r>
              <a:rPr lang="zh-CN" altLang="en-US">
                <a:solidFill>
                  <a:srgbClr val="FF0000"/>
                </a:solidFill>
                <a:latin typeface="宋体" pitchFamily="2" charset="-122"/>
                <a:sym typeface="宋体" pitchFamily="2" charset="-122"/>
              </a:rPr>
              <a:t>12V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07950" y="6165850"/>
            <a:ext cx="3892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itchFamily="49" charset="-122"/>
                <a:ea typeface="楷体" pitchFamily="49" charset="-122"/>
              </a:rPr>
              <a:t>还记得欧姆定律吗？</a:t>
            </a:r>
            <a:endParaRPr lang="en-MY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611188" y="971550"/>
            <a:ext cx="7920037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b="0" dirty="0">
                <a:latin typeface="宋体" pitchFamily="2" charset="-122"/>
              </a:rPr>
              <a:t>有一个电铃，它的电阻是10</a:t>
            </a:r>
            <a:r>
              <a:rPr lang="zh-CN" altLang="en-US" b="0" dirty="0">
                <a:latin typeface="宋体" pitchFamily="2" charset="-122"/>
                <a:sym typeface="宋体" pitchFamily="2" charset="-122"/>
              </a:rPr>
              <a:t>Ω，在正常工作时，它两端的电压应该是6V。但是我们手边现有的电压是8V，要把电铃接在这个电源上，需要给它</a:t>
            </a:r>
            <a:r>
              <a:rPr lang="zh-CN" altLang="en-US" dirty="0">
                <a:solidFill>
                  <a:srgbClr val="C00000"/>
                </a:solidFill>
                <a:latin typeface="宋体" pitchFamily="2" charset="-122"/>
                <a:sym typeface="宋体" pitchFamily="2" charset="-122"/>
              </a:rPr>
              <a:t>串联</a:t>
            </a:r>
            <a:r>
              <a:rPr lang="zh-CN" altLang="en-US" b="0" dirty="0">
                <a:latin typeface="宋体" pitchFamily="2" charset="-122"/>
                <a:sym typeface="宋体" pitchFamily="2" charset="-122"/>
              </a:rPr>
              <a:t>一个多少欧姆的电阻？</a:t>
            </a:r>
            <a:endParaRPr lang="zh-CN" altLang="en-US" b="0" dirty="0">
              <a:latin typeface="宋体" pitchFamily="2" charset="-122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428625" y="285750"/>
            <a:ext cx="424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【</a:t>
            </a:r>
            <a:r>
              <a:rPr lang="zh-CN" altLang="en-US" sz="3600" dirty="0">
                <a:solidFill>
                  <a:srgbClr val="002060"/>
                </a:solidFill>
                <a:latin typeface="Verdana" pitchFamily="34" charset="0"/>
              </a:rPr>
              <a:t>例题</a:t>
            </a:r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】</a:t>
            </a:r>
          </a:p>
        </p:txBody>
      </p:sp>
      <p:sp>
        <p:nvSpPr>
          <p:cNvPr id="12293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4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5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6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7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298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285750" y="3929063"/>
          <a:ext cx="50419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21000" imgH="431810" progId="">
                  <p:embed/>
                </p:oleObj>
              </mc:Choice>
              <mc:Fallback>
                <p:oleObj r:id="rId3" imgW="1321000" imgH="43181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3929063"/>
                        <a:ext cx="5041900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/>
        </p:nvGraphicFramePr>
        <p:xfrm>
          <a:off x="285750" y="5072063"/>
          <a:ext cx="4897438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48130" imgH="393635" progId="">
                  <p:embed/>
                </p:oleObj>
              </mc:Choice>
              <mc:Fallback>
                <p:oleObj r:id="rId5" imgW="1448130" imgH="393635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5072063"/>
                        <a:ext cx="4897438" cy="1330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521797"/>
              </p:ext>
            </p:extLst>
          </p:nvPr>
        </p:nvGraphicFramePr>
        <p:xfrm>
          <a:off x="285750" y="3286125"/>
          <a:ext cx="5003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3560" imgH="215640" progId="">
                  <p:embed/>
                </p:oleObj>
              </mc:Choice>
              <mc:Fallback>
                <p:oleObj name="Equation" r:id="rId7" imgW="1663560" imgH="21564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3286125"/>
                        <a:ext cx="50038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105846" y="3429000"/>
            <a:ext cx="3930650" cy="2232025"/>
            <a:chOff x="0" y="0"/>
            <a:chExt cx="2476" cy="1406"/>
          </a:xfrm>
        </p:grpSpPr>
        <p:sp>
          <p:nvSpPr>
            <p:cNvPr id="12306" name="Line 17"/>
            <p:cNvSpPr>
              <a:spLocks noChangeShapeType="1"/>
            </p:cNvSpPr>
            <p:nvPr/>
          </p:nvSpPr>
          <p:spPr bwMode="auto">
            <a:xfrm>
              <a:off x="0" y="470"/>
              <a:ext cx="75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2307" name="Line 18"/>
            <p:cNvSpPr>
              <a:spLocks noChangeShapeType="1"/>
            </p:cNvSpPr>
            <p:nvPr/>
          </p:nvSpPr>
          <p:spPr bwMode="auto">
            <a:xfrm>
              <a:off x="1062" y="466"/>
              <a:ext cx="67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2308" name="Line 19"/>
            <p:cNvSpPr>
              <a:spLocks noChangeShapeType="1"/>
            </p:cNvSpPr>
            <p:nvPr/>
          </p:nvSpPr>
          <p:spPr bwMode="auto">
            <a:xfrm>
              <a:off x="2056" y="466"/>
              <a:ext cx="4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2309" name="Text Box 20"/>
            <p:cNvSpPr txBox="1">
              <a:spLocks noChangeArrowheads="1"/>
            </p:cNvSpPr>
            <p:nvPr/>
          </p:nvSpPr>
          <p:spPr bwMode="auto">
            <a:xfrm>
              <a:off x="616" y="42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2800" dirty="0"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800" baseline="-25000" dirty="0">
                  <a:latin typeface="Arial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2310" name="Text Box 21"/>
            <p:cNvSpPr txBox="1">
              <a:spLocks noChangeArrowheads="1"/>
            </p:cNvSpPr>
            <p:nvPr/>
          </p:nvSpPr>
          <p:spPr bwMode="auto">
            <a:xfrm>
              <a:off x="1749" y="42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2800"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800" baseline="-25000">
                  <a:latin typeface="Arial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2311" name="Line 22"/>
            <p:cNvSpPr>
              <a:spLocks noChangeShapeType="1"/>
            </p:cNvSpPr>
            <p:nvPr/>
          </p:nvSpPr>
          <p:spPr bwMode="auto">
            <a:xfrm flipV="1">
              <a:off x="204" y="475"/>
              <a:ext cx="96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2312" name="Text Box 23"/>
            <p:cNvSpPr txBox="1">
              <a:spLocks noChangeArrowheads="1"/>
            </p:cNvSpPr>
            <p:nvPr/>
          </p:nvSpPr>
          <p:spPr bwMode="auto">
            <a:xfrm>
              <a:off x="102" y="0"/>
              <a:ext cx="228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3600">
                  <a:solidFill>
                    <a:srgbClr val="0000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endParaRPr lang="zh-CN" altLang="zh-CN" sz="3600" baseline="-2500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12313" name="Group 24"/>
            <p:cNvGrpSpPr>
              <a:grpSpLocks/>
            </p:cNvGrpSpPr>
            <p:nvPr/>
          </p:nvGrpSpPr>
          <p:grpSpPr bwMode="auto">
            <a:xfrm>
              <a:off x="430" y="513"/>
              <a:ext cx="962" cy="768"/>
              <a:chOff x="0" y="0"/>
              <a:chExt cx="962" cy="768"/>
            </a:xfrm>
          </p:grpSpPr>
          <p:sp>
            <p:nvSpPr>
              <p:cNvPr id="12323" name="Line 25"/>
              <p:cNvSpPr>
                <a:spLocks noChangeShapeType="1"/>
              </p:cNvSpPr>
              <p:nvPr/>
            </p:nvSpPr>
            <p:spPr bwMode="auto">
              <a:xfrm>
                <a:off x="1" y="288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324" name="Line 26"/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2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325" name="Line 27"/>
              <p:cNvSpPr>
                <a:spLocks noChangeShapeType="1"/>
              </p:cNvSpPr>
              <p:nvPr/>
            </p:nvSpPr>
            <p:spPr bwMode="auto">
              <a:xfrm flipH="1">
                <a:off x="961" y="0"/>
                <a:ext cx="1" cy="38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326" name="Text Box 28"/>
              <p:cNvSpPr txBox="1">
                <a:spLocks noChangeArrowheads="1"/>
              </p:cNvSpPr>
              <p:nvPr/>
            </p:nvSpPr>
            <p:spPr bwMode="auto">
              <a:xfrm>
                <a:off x="289" y="115"/>
                <a:ext cx="394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r>
                  <a:rPr lang="zh-CN" altLang="en-US" baseline="-25000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1</a:t>
                </a:r>
              </a:p>
            </p:txBody>
          </p:sp>
        </p:grpSp>
        <p:grpSp>
          <p:nvGrpSpPr>
            <p:cNvPr id="12314" name="Group 29"/>
            <p:cNvGrpSpPr>
              <a:grpSpLocks/>
            </p:cNvGrpSpPr>
            <p:nvPr/>
          </p:nvGrpSpPr>
          <p:grpSpPr bwMode="auto">
            <a:xfrm>
              <a:off x="1392" y="513"/>
              <a:ext cx="960" cy="768"/>
              <a:chOff x="0" y="0"/>
              <a:chExt cx="960" cy="768"/>
            </a:xfrm>
          </p:grpSpPr>
          <p:sp>
            <p:nvSpPr>
              <p:cNvPr id="12320" name="Line 30"/>
              <p:cNvSpPr>
                <a:spLocks noChangeShapeType="1"/>
              </p:cNvSpPr>
              <p:nvPr/>
            </p:nvSpPr>
            <p:spPr bwMode="auto">
              <a:xfrm flipH="1">
                <a:off x="958" y="0"/>
                <a:ext cx="2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321" name="Line 31"/>
              <p:cNvSpPr>
                <a:spLocks noChangeShapeType="1"/>
              </p:cNvSpPr>
              <p:nvPr/>
            </p:nvSpPr>
            <p:spPr bwMode="auto">
              <a:xfrm>
                <a:off x="0" y="288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322" name="Text Box 32"/>
              <p:cNvSpPr txBox="1">
                <a:spLocks noChangeArrowheads="1"/>
              </p:cNvSpPr>
              <p:nvPr/>
            </p:nvSpPr>
            <p:spPr bwMode="auto">
              <a:xfrm>
                <a:off x="357" y="122"/>
                <a:ext cx="394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r>
                  <a:rPr lang="zh-CN" altLang="en-US" baseline="-25000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2</a:t>
                </a:r>
              </a:p>
            </p:txBody>
          </p:sp>
        </p:grpSp>
        <p:grpSp>
          <p:nvGrpSpPr>
            <p:cNvPr id="12315" name="Group 33"/>
            <p:cNvGrpSpPr>
              <a:grpSpLocks/>
            </p:cNvGrpSpPr>
            <p:nvPr/>
          </p:nvGrpSpPr>
          <p:grpSpPr bwMode="auto">
            <a:xfrm>
              <a:off x="432" y="1041"/>
              <a:ext cx="1920" cy="365"/>
              <a:chOff x="0" y="0"/>
              <a:chExt cx="1920" cy="365"/>
            </a:xfrm>
          </p:grpSpPr>
          <p:sp>
            <p:nvSpPr>
              <p:cNvPr id="12318" name="Line 34"/>
              <p:cNvSpPr>
                <a:spLocks noChangeShapeType="1"/>
              </p:cNvSpPr>
              <p:nvPr/>
            </p:nvSpPr>
            <p:spPr bwMode="auto">
              <a:xfrm>
                <a:off x="0" y="173"/>
                <a:ext cx="19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319" name="Text Box 35"/>
              <p:cNvSpPr txBox="1">
                <a:spLocks noChangeArrowheads="1"/>
              </p:cNvSpPr>
              <p:nvPr/>
            </p:nvSpPr>
            <p:spPr bwMode="auto">
              <a:xfrm>
                <a:off x="803" y="0"/>
                <a:ext cx="301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defRPr>
                </a:lvl9pPr>
              </a:lstStyle>
              <a:p>
                <a:r>
                  <a:rPr lang="zh-CN" altLang="en-US">
                    <a:solidFill>
                      <a:srgbClr val="FF0000"/>
                    </a:solidFill>
                    <a:latin typeface="Arial" charset="0"/>
                    <a:ea typeface="宋体" pitchFamily="2" charset="-122"/>
                  </a:rPr>
                  <a:t>V</a:t>
                </a:r>
                <a:endParaRPr lang="zh-CN" altLang="en-US" baseline="-25000">
                  <a:solidFill>
                    <a:srgbClr val="FF0000"/>
                  </a:solidFill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12316" name="Rectangle 36"/>
            <p:cNvSpPr>
              <a:spLocks noChangeArrowheads="1"/>
            </p:cNvSpPr>
            <p:nvPr/>
          </p:nvSpPr>
          <p:spPr bwMode="auto">
            <a:xfrm>
              <a:off x="702" y="398"/>
              <a:ext cx="480" cy="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7" name="Rectangle 37"/>
            <p:cNvSpPr>
              <a:spLocks noChangeArrowheads="1"/>
            </p:cNvSpPr>
            <p:nvPr/>
          </p:nvSpPr>
          <p:spPr bwMode="auto">
            <a:xfrm>
              <a:off x="1671" y="399"/>
              <a:ext cx="480" cy="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6516216" y="3429000"/>
            <a:ext cx="1217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=10</a:t>
            </a:r>
            <a:r>
              <a:rPr lang="zh-CN" altLang="en-US" dirty="0">
                <a:latin typeface="宋体" pitchFamily="2" charset="-122"/>
                <a:sym typeface="宋体" pitchFamily="2" charset="-122"/>
              </a:rPr>
              <a:t>Ω</a:t>
            </a:r>
            <a:endParaRPr lang="zh-CN" altLang="en-US" dirty="0"/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5857875" y="4429125"/>
            <a:ext cx="1143000" cy="565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6000" rIns="0" bIns="3600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Arial" charset="0"/>
                <a:ea typeface="宋体" pitchFamily="2" charset="-122"/>
              </a:rPr>
              <a:t>V</a:t>
            </a:r>
            <a:r>
              <a:rPr lang="zh-CN" altLang="en-US" baseline="-2500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宋体" pitchFamily="2" charset="-122"/>
                <a:sym typeface="宋体" pitchFamily="2" charset="-122"/>
              </a:rPr>
              <a:t>=6</a:t>
            </a:r>
            <a:r>
              <a:rPr lang="zh-CN" altLang="en-US">
                <a:solidFill>
                  <a:srgbClr val="FF0000"/>
                </a:solidFill>
                <a:latin typeface="宋体" pitchFamily="2" charset="-122"/>
                <a:sym typeface="宋体" pitchFamily="2" charset="-122"/>
              </a:rPr>
              <a:t>V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7429500" y="5072063"/>
            <a:ext cx="804863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宋体" pitchFamily="2" charset="-122"/>
                <a:sym typeface="宋体" pitchFamily="2" charset="-122"/>
              </a:rPr>
              <a:t>=8</a:t>
            </a:r>
            <a:r>
              <a:rPr lang="zh-CN" altLang="en-US">
                <a:solidFill>
                  <a:srgbClr val="FF0000"/>
                </a:solidFill>
                <a:latin typeface="宋体" pitchFamily="2" charset="-122"/>
                <a:sym typeface="宋体" pitchFamily="2" charset="-122"/>
              </a:rPr>
              <a:t>V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24200" y="38100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latin typeface="楷体" pitchFamily="49" charset="-122"/>
                <a:ea typeface="楷体" pitchFamily="49" charset="-122"/>
              </a:rPr>
              <a:t>是否可把电铃</a:t>
            </a:r>
            <a:r>
              <a:rPr lang="en-US" altLang="zh-CN" sz="2400" b="0" dirty="0">
                <a:latin typeface="楷体" pitchFamily="49" charset="-122"/>
                <a:ea typeface="楷体" pitchFamily="49" charset="-122"/>
              </a:rPr>
              <a:t>(6V)</a:t>
            </a:r>
            <a:r>
              <a:rPr lang="zh-CN" altLang="en-US" sz="2400" b="0" dirty="0">
                <a:latin typeface="楷体" pitchFamily="49" charset="-122"/>
                <a:ea typeface="楷体" pitchFamily="49" charset="-122"/>
              </a:rPr>
              <a:t>直接接到</a:t>
            </a:r>
            <a:r>
              <a:rPr lang="en-US" altLang="zh-CN" sz="2400" b="0" dirty="0">
                <a:latin typeface="楷体" pitchFamily="49" charset="-122"/>
                <a:ea typeface="楷体" pitchFamily="49" charset="-122"/>
              </a:rPr>
              <a:t>8V</a:t>
            </a:r>
            <a:r>
              <a:rPr lang="zh-CN" altLang="en-US" sz="2400" b="0" dirty="0">
                <a:latin typeface="楷体" pitchFamily="49" charset="-122"/>
                <a:ea typeface="楷体" pitchFamily="49" charset="-122"/>
              </a:rPr>
              <a:t>的电路上？</a:t>
            </a:r>
            <a:endParaRPr lang="en-MY" sz="2400" b="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0" name="矩形 35"/>
          <p:cNvSpPr>
            <a:spLocks noChangeArrowheads="1"/>
          </p:cNvSpPr>
          <p:nvPr/>
        </p:nvSpPr>
        <p:spPr bwMode="auto">
          <a:xfrm>
            <a:off x="8322939" y="3420864"/>
            <a:ext cx="8050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=</a:t>
            </a:r>
            <a:r>
              <a:rPr lang="zh-CN" altLang="en-US" dirty="0">
                <a:latin typeface="宋体" pitchFamily="2" charset="-122"/>
                <a:sym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  <a:sym typeface="宋体" pitchFamily="2" charset="-122"/>
              </a:rPr>
              <a:t>?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762000"/>
            <a:ext cx="8610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把阻值分别为</a:t>
            </a:r>
            <a:r>
              <a:rPr lang="en-US" altLang="zh-CN" dirty="0"/>
              <a:t>4</a:t>
            </a:r>
            <a:r>
              <a:rPr lang="el-GR" altLang="zh-CN" dirty="0"/>
              <a:t>Ω</a:t>
            </a:r>
            <a:r>
              <a:rPr lang="zh-CN" altLang="en-US" dirty="0"/>
              <a:t>和</a:t>
            </a:r>
            <a:r>
              <a:rPr lang="en-US" altLang="zh-CN" dirty="0"/>
              <a:t>8</a:t>
            </a:r>
            <a:r>
              <a:rPr lang="el-GR" altLang="zh-CN" dirty="0"/>
              <a:t>Ω</a:t>
            </a:r>
            <a:r>
              <a:rPr lang="zh-CN" altLang="en-US" dirty="0"/>
              <a:t>的电阻串联起来，接在电压为</a:t>
            </a:r>
            <a:r>
              <a:rPr lang="en-US" altLang="zh-CN" dirty="0"/>
              <a:t>6V</a:t>
            </a:r>
            <a:r>
              <a:rPr lang="zh-CN" altLang="en-US" dirty="0"/>
              <a:t>的电路中，则两个电阻两端的电压各为多大？</a:t>
            </a:r>
            <a:endParaRPr lang="en-MY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DB8C256-BF2E-57DB-0F9B-BDD235780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9499"/>
            <a:ext cx="5181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002060"/>
                </a:solidFill>
                <a:latin typeface="Verdana" pitchFamily="34" charset="0"/>
              </a:rPr>
              <a:t>课本</a:t>
            </a:r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【</a:t>
            </a:r>
            <a:r>
              <a:rPr lang="zh-CN" altLang="en-US" sz="3600" dirty="0">
                <a:solidFill>
                  <a:srgbClr val="002060"/>
                </a:solidFill>
                <a:latin typeface="Verdana" pitchFamily="34" charset="0"/>
              </a:rPr>
              <a:t>例</a:t>
            </a:r>
            <a:r>
              <a:rPr lang="en-MY" altLang="zh-CN" sz="3600" dirty="0">
                <a:solidFill>
                  <a:srgbClr val="002060"/>
                </a:solidFill>
                <a:latin typeface="Verdana" pitchFamily="34" charset="0"/>
              </a:rPr>
              <a:t>1</a:t>
            </a:r>
            <a:r>
              <a:rPr lang="en-US" altLang="zh-CN" sz="3600" dirty="0">
                <a:solidFill>
                  <a:srgbClr val="002060"/>
                </a:solidFill>
                <a:latin typeface="Verdana" pitchFamily="34" charset="0"/>
              </a:rPr>
              <a:t>】p/g 102</a:t>
            </a:r>
          </a:p>
        </p:txBody>
      </p:sp>
    </p:spTree>
    <p:extLst>
      <p:ext uri="{BB962C8B-B14F-4D97-AF65-F5344CB8AC3E}">
        <p14:creationId xmlns:p14="http://schemas.microsoft.com/office/powerpoint/2010/main" val="333672122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11"/>
          <p:cNvSpPr>
            <a:spLocks noChangeArrowheads="1" noChangeShapeType="1" noTextEdit="1"/>
          </p:cNvSpPr>
          <p:nvPr/>
        </p:nvSpPr>
        <p:spPr bwMode="auto">
          <a:xfrm>
            <a:off x="598913" y="457200"/>
            <a:ext cx="2449087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课内练习</a:t>
            </a:r>
            <a:endParaRPr lang="en-MY" sz="6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31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D7146-C071-8A11-3881-DA20CB53CBCC}"/>
              </a:ext>
            </a:extLst>
          </p:cNvPr>
          <p:cNvSpPr txBox="1"/>
          <p:nvPr/>
        </p:nvSpPr>
        <p:spPr>
          <a:xfrm>
            <a:off x="3476625" y="423863"/>
            <a:ext cx="1632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p/g 120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06EF2-3198-4BAA-5F16-7E5FF7A21A11}"/>
              </a:ext>
            </a:extLst>
          </p:cNvPr>
          <p:cNvSpPr txBox="1"/>
          <p:nvPr/>
        </p:nvSpPr>
        <p:spPr>
          <a:xfrm>
            <a:off x="838200" y="1524000"/>
            <a:ext cx="1475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选择</a:t>
            </a:r>
            <a:endParaRPr lang="en-MY" altLang="zh-CN" sz="4000" dirty="0"/>
          </a:p>
          <a:p>
            <a:r>
              <a:rPr lang="en-MY" sz="4000" dirty="0"/>
              <a:t>No.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69BAA-0C37-B455-84ED-D73D57926E25}"/>
              </a:ext>
            </a:extLst>
          </p:cNvPr>
          <p:cNvSpPr txBox="1"/>
          <p:nvPr/>
        </p:nvSpPr>
        <p:spPr>
          <a:xfrm>
            <a:off x="3099675" y="2120968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C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4448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468313" y="1803400"/>
            <a:ext cx="82804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1.</a:t>
            </a:r>
            <a:r>
              <a:rPr lang="zh-CN" altLang="en-US" dirty="0">
                <a:latin typeface="Arial" charset="0"/>
              </a:rPr>
              <a:t>串联电路中各处电流强度</a:t>
            </a:r>
            <a:r>
              <a:rPr lang="zh-CN" altLang="en-US" dirty="0">
                <a:solidFill>
                  <a:srgbClr val="FF0000"/>
                </a:solidFill>
                <a:latin typeface="Arial" charset="0"/>
              </a:rPr>
              <a:t>相等</a:t>
            </a:r>
            <a:r>
              <a:rPr lang="zh-CN" altLang="en-US" dirty="0">
                <a:latin typeface="Arial" charset="0"/>
              </a:rPr>
              <a:t>。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66725" y="2925763"/>
            <a:ext cx="8280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串联电路两端的总电压等于各部分电路两端的电压之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zh-CN" altLang="en-US" dirty="0"/>
              <a:t>。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68313" y="4508500"/>
            <a:ext cx="7777162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3.</a:t>
            </a:r>
            <a:r>
              <a:rPr lang="zh-CN" altLang="en-US" dirty="0"/>
              <a:t>串联电路的总电阻等于各串联电阻之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zh-CN" altLang="en-US" dirty="0"/>
              <a:t>。</a:t>
            </a:r>
          </a:p>
        </p:txBody>
      </p:sp>
      <p:sp>
        <p:nvSpPr>
          <p:cNvPr id="1843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39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0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1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2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3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6715125" y="1778000"/>
            <a:ext cx="2151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I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=I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=I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3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357938" y="3643313"/>
            <a:ext cx="2227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V=V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+V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2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3352800" y="533400"/>
            <a:ext cx="28051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zh-CN" altLang="en-US" sz="4400" dirty="0">
                <a:latin typeface="Verdana" pitchFamily="34" charset="0"/>
              </a:rPr>
              <a:t>小结</a:t>
            </a:r>
          </a:p>
        </p:txBody>
      </p:sp>
      <p:sp>
        <p:nvSpPr>
          <p:cNvPr id="16" name="矩形 13"/>
          <p:cNvSpPr>
            <a:spLocks noChangeArrowheads="1"/>
          </p:cNvSpPr>
          <p:nvPr/>
        </p:nvSpPr>
        <p:spPr bwMode="auto">
          <a:xfrm>
            <a:off x="6400800" y="5334000"/>
            <a:ext cx="22461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R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=</a:t>
            </a:r>
            <a:r>
              <a:rPr lang="en-US" altLang="zh-CN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R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+</a:t>
            </a:r>
            <a:r>
              <a:rPr lang="en-US" altLang="zh-CN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R</a:t>
            </a:r>
            <a:r>
              <a:rPr lang="zh-CN" altLang="en-US" baseline="-25000" dirty="0">
                <a:solidFill>
                  <a:srgbClr val="FF0000"/>
                </a:solidFill>
                <a:latin typeface="Verdana" pitchFamily="34" charset="0"/>
                <a:sym typeface="宋体" pitchFamily="2" charset="-122"/>
              </a:rPr>
              <a:t>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7" grpId="0" autoUpdateAnimBg="0"/>
      <p:bldP spid="16388" grpId="0" autoUpdateAnimBg="0"/>
      <p:bldP spid="12" grpId="0"/>
      <p:bldP spid="14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539750" y="270569"/>
            <a:ext cx="1460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600" dirty="0">
                <a:latin typeface="Verdana" pitchFamily="34" charset="0"/>
              </a:rPr>
              <a:t>练习</a:t>
            </a:r>
          </a:p>
        </p:txBody>
      </p:sp>
      <p:sp>
        <p:nvSpPr>
          <p:cNvPr id="14340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1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2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3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4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5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95287" y="1161157"/>
            <a:ext cx="83534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dirty="0"/>
              <a:t>1.灯L</a:t>
            </a:r>
            <a:r>
              <a:rPr lang="zh-CN" altLang="en-US" baseline="-25000" dirty="0"/>
              <a:t>1</a:t>
            </a:r>
            <a:r>
              <a:rPr lang="zh-CN" altLang="en-US" dirty="0"/>
              <a:t>和灯L</a:t>
            </a:r>
            <a:r>
              <a:rPr lang="zh-CN" altLang="en-US" baseline="-25000" dirty="0"/>
              <a:t>2</a:t>
            </a:r>
            <a:r>
              <a:rPr lang="zh-CN" altLang="en-US" dirty="0"/>
              <a:t>串联在12V的电路中，L</a:t>
            </a:r>
            <a:r>
              <a:rPr lang="zh-CN" altLang="en-US" baseline="-25000" dirty="0"/>
              <a:t>1</a:t>
            </a:r>
            <a:r>
              <a:rPr lang="zh-CN" altLang="en-US" dirty="0"/>
              <a:t>的电流为0.5A，L</a:t>
            </a:r>
            <a:r>
              <a:rPr lang="zh-CN" altLang="en-US" baseline="-25000" dirty="0"/>
              <a:t>1</a:t>
            </a:r>
            <a:r>
              <a:rPr lang="zh-CN" altLang="en-US" dirty="0"/>
              <a:t>的电阻为4Ω，求L</a:t>
            </a:r>
            <a:r>
              <a:rPr lang="zh-CN" altLang="en-US" baseline="-25000" dirty="0"/>
              <a:t>2</a:t>
            </a:r>
            <a:r>
              <a:rPr lang="zh-CN" altLang="en-US" dirty="0"/>
              <a:t>的电阻。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219700" y="2997200"/>
            <a:ext cx="3098800" cy="1295400"/>
            <a:chOff x="0" y="0"/>
            <a:chExt cx="4876" cy="2040"/>
          </a:xfrm>
        </p:grpSpPr>
        <p:grpSp>
          <p:nvGrpSpPr>
            <p:cNvPr id="14368" name="Group 12"/>
            <p:cNvGrpSpPr>
              <a:grpSpLocks/>
            </p:cNvGrpSpPr>
            <p:nvPr/>
          </p:nvGrpSpPr>
          <p:grpSpPr bwMode="auto">
            <a:xfrm>
              <a:off x="0" y="0"/>
              <a:ext cx="4876" cy="2040"/>
              <a:chOff x="0" y="0"/>
              <a:chExt cx="5556" cy="2834"/>
            </a:xfrm>
          </p:grpSpPr>
          <p:sp>
            <p:nvSpPr>
              <p:cNvPr id="14371" name="Line 13"/>
              <p:cNvSpPr>
                <a:spLocks noChangeShapeType="1"/>
              </p:cNvSpPr>
              <p:nvPr/>
            </p:nvSpPr>
            <p:spPr bwMode="auto">
              <a:xfrm>
                <a:off x="0" y="567"/>
                <a:ext cx="1" cy="18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72" name="Line 14"/>
              <p:cNvSpPr>
                <a:spLocks noChangeShapeType="1"/>
              </p:cNvSpPr>
              <p:nvPr/>
            </p:nvSpPr>
            <p:spPr bwMode="auto">
              <a:xfrm>
                <a:off x="0" y="567"/>
                <a:ext cx="226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73" name="Line 15"/>
              <p:cNvSpPr>
                <a:spLocks noChangeShapeType="1"/>
              </p:cNvSpPr>
              <p:nvPr/>
            </p:nvSpPr>
            <p:spPr bwMode="auto">
              <a:xfrm>
                <a:off x="2268" y="340"/>
                <a:ext cx="1" cy="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3" name="Line 16"/>
              <p:cNvSpPr>
                <a:spLocks noChangeShapeType="1"/>
              </p:cNvSpPr>
              <p:nvPr/>
            </p:nvSpPr>
            <p:spPr bwMode="auto">
              <a:xfrm>
                <a:off x="2608" y="0"/>
                <a:ext cx="1" cy="14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7" name="Line 17"/>
              <p:cNvSpPr>
                <a:spLocks noChangeShapeType="1"/>
              </p:cNvSpPr>
              <p:nvPr/>
            </p:nvSpPr>
            <p:spPr bwMode="auto">
              <a:xfrm>
                <a:off x="2608" y="567"/>
                <a:ext cx="1134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8" name="Oval 18"/>
              <p:cNvSpPr>
                <a:spLocks noChangeArrowheads="1"/>
              </p:cNvSpPr>
              <p:nvPr/>
            </p:nvSpPr>
            <p:spPr bwMode="auto">
              <a:xfrm flipV="1">
                <a:off x="3742" y="453"/>
                <a:ext cx="227" cy="22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19"/>
              <p:cNvSpPr>
                <a:spLocks noChangeShapeType="1"/>
              </p:cNvSpPr>
              <p:nvPr/>
            </p:nvSpPr>
            <p:spPr bwMode="auto">
              <a:xfrm flipV="1">
                <a:off x="3969" y="113"/>
                <a:ext cx="567" cy="3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78" name="Line 20"/>
              <p:cNvSpPr>
                <a:spLocks noChangeShapeType="1"/>
              </p:cNvSpPr>
              <p:nvPr/>
            </p:nvSpPr>
            <p:spPr bwMode="auto">
              <a:xfrm>
                <a:off x="4649" y="567"/>
                <a:ext cx="907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79" name="Line 21"/>
              <p:cNvSpPr>
                <a:spLocks noChangeShapeType="1"/>
              </p:cNvSpPr>
              <p:nvPr/>
            </p:nvSpPr>
            <p:spPr bwMode="auto">
              <a:xfrm>
                <a:off x="5556" y="567"/>
                <a:ext cx="1" cy="18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80" name="Line 22"/>
              <p:cNvSpPr>
                <a:spLocks noChangeShapeType="1"/>
              </p:cNvSpPr>
              <p:nvPr/>
            </p:nvSpPr>
            <p:spPr bwMode="auto">
              <a:xfrm>
                <a:off x="0" y="2381"/>
                <a:ext cx="1474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81" name="Oval 23"/>
              <p:cNvSpPr>
                <a:spLocks noChangeArrowheads="1"/>
              </p:cNvSpPr>
              <p:nvPr/>
            </p:nvSpPr>
            <p:spPr bwMode="auto">
              <a:xfrm>
                <a:off x="1474" y="1814"/>
                <a:ext cx="1020" cy="102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2" name="Oval 24"/>
              <p:cNvSpPr>
                <a:spLocks noChangeArrowheads="1"/>
              </p:cNvSpPr>
              <p:nvPr/>
            </p:nvSpPr>
            <p:spPr bwMode="auto">
              <a:xfrm>
                <a:off x="3515" y="1814"/>
                <a:ext cx="1020" cy="102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Line 25"/>
              <p:cNvSpPr>
                <a:spLocks noChangeShapeType="1"/>
              </p:cNvSpPr>
              <p:nvPr/>
            </p:nvSpPr>
            <p:spPr bwMode="auto">
              <a:xfrm>
                <a:off x="2494" y="2381"/>
                <a:ext cx="1134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84" name="Line 26"/>
              <p:cNvSpPr>
                <a:spLocks noChangeShapeType="1"/>
              </p:cNvSpPr>
              <p:nvPr/>
            </p:nvSpPr>
            <p:spPr bwMode="auto">
              <a:xfrm>
                <a:off x="4536" y="2381"/>
                <a:ext cx="102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85" name="Line 27"/>
              <p:cNvSpPr>
                <a:spLocks noChangeShapeType="1"/>
              </p:cNvSpPr>
              <p:nvPr/>
            </p:nvSpPr>
            <p:spPr bwMode="auto">
              <a:xfrm>
                <a:off x="1701" y="1928"/>
                <a:ext cx="680" cy="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86" name="Line 28"/>
              <p:cNvSpPr>
                <a:spLocks noChangeShapeType="1"/>
              </p:cNvSpPr>
              <p:nvPr/>
            </p:nvSpPr>
            <p:spPr bwMode="auto">
              <a:xfrm flipH="1">
                <a:off x="1701" y="1928"/>
                <a:ext cx="567" cy="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87" name="Line 29"/>
              <p:cNvSpPr>
                <a:spLocks noChangeShapeType="1"/>
              </p:cNvSpPr>
              <p:nvPr/>
            </p:nvSpPr>
            <p:spPr bwMode="auto">
              <a:xfrm>
                <a:off x="3742" y="1928"/>
                <a:ext cx="680" cy="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  <p:sp>
            <p:nvSpPr>
              <p:cNvPr id="14388" name="Line 30"/>
              <p:cNvSpPr>
                <a:spLocks noChangeShapeType="1"/>
              </p:cNvSpPr>
              <p:nvPr/>
            </p:nvSpPr>
            <p:spPr bwMode="auto">
              <a:xfrm flipH="1">
                <a:off x="3742" y="1928"/>
                <a:ext cx="567" cy="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MY"/>
              </a:p>
            </p:txBody>
          </p:sp>
        </p:grpSp>
        <p:sp>
          <p:nvSpPr>
            <p:cNvPr id="14369" name="Text Box 31"/>
            <p:cNvSpPr txBox="1">
              <a:spLocks noChangeArrowheads="1"/>
            </p:cNvSpPr>
            <p:nvPr/>
          </p:nvSpPr>
          <p:spPr bwMode="auto">
            <a:xfrm>
              <a:off x="1361" y="793"/>
              <a:ext cx="755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2000">
                  <a:latin typeface="Arial" charset="0"/>
                  <a:ea typeface="宋体" pitchFamily="2" charset="-122"/>
                </a:rPr>
                <a:t>L1</a:t>
              </a:r>
            </a:p>
          </p:txBody>
        </p:sp>
        <p:sp>
          <p:nvSpPr>
            <p:cNvPr id="14370" name="Text Box 32"/>
            <p:cNvSpPr txBox="1">
              <a:spLocks noChangeArrowheads="1"/>
            </p:cNvSpPr>
            <p:nvPr/>
          </p:nvSpPr>
          <p:spPr bwMode="auto">
            <a:xfrm>
              <a:off x="3175" y="793"/>
              <a:ext cx="755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sz="2000">
                  <a:latin typeface="Arial" charset="0"/>
                  <a:ea typeface="宋体" pitchFamily="2" charset="-122"/>
                </a:rPr>
                <a:t>L2</a:t>
              </a:r>
            </a:p>
          </p:txBody>
        </p:sp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6086475" y="2636838"/>
            <a:ext cx="2803525" cy="2241550"/>
            <a:chOff x="0" y="0"/>
            <a:chExt cx="4418" cy="3529"/>
          </a:xfrm>
        </p:grpSpPr>
        <p:sp>
          <p:nvSpPr>
            <p:cNvPr id="14364" name="Text Box 34"/>
            <p:cNvSpPr txBox="1">
              <a:spLocks noChangeArrowheads="1"/>
            </p:cNvSpPr>
            <p:nvPr/>
          </p:nvSpPr>
          <p:spPr bwMode="auto">
            <a:xfrm>
              <a:off x="226" y="0"/>
              <a:ext cx="1619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F21302"/>
                  </a:solidFill>
                  <a:latin typeface="Arial" charset="0"/>
                  <a:ea typeface="宋体" pitchFamily="2" charset="-122"/>
                </a:rPr>
                <a:t>12 V</a:t>
              </a:r>
            </a:p>
          </p:txBody>
        </p:sp>
        <p:sp>
          <p:nvSpPr>
            <p:cNvPr id="14365" name="Text Box 35"/>
            <p:cNvSpPr txBox="1">
              <a:spLocks noChangeArrowheads="1"/>
            </p:cNvSpPr>
            <p:nvPr/>
          </p:nvSpPr>
          <p:spPr bwMode="auto">
            <a:xfrm>
              <a:off x="2608" y="227"/>
              <a:ext cx="1810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F21302"/>
                  </a:solidFill>
                  <a:latin typeface="Arial" charset="0"/>
                  <a:ea typeface="宋体" pitchFamily="2" charset="-122"/>
                </a:rPr>
                <a:t>0.5 A</a:t>
              </a:r>
            </a:p>
          </p:txBody>
        </p:sp>
        <p:sp>
          <p:nvSpPr>
            <p:cNvPr id="14366" name="Text Box 36"/>
            <p:cNvSpPr txBox="1">
              <a:spLocks noChangeArrowheads="1"/>
            </p:cNvSpPr>
            <p:nvPr/>
          </p:nvSpPr>
          <p:spPr bwMode="auto">
            <a:xfrm>
              <a:off x="0" y="2608"/>
              <a:ext cx="1167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zh-CN" dirty="0">
                  <a:solidFill>
                    <a:srgbClr val="F21302"/>
                  </a:solidFill>
                  <a:latin typeface="Arial" charset="0"/>
                  <a:ea typeface="宋体" pitchFamily="2" charset="-122"/>
                </a:rPr>
                <a:t>4Ω</a:t>
              </a:r>
            </a:p>
          </p:txBody>
        </p:sp>
        <p:sp>
          <p:nvSpPr>
            <p:cNvPr id="14367" name="Text Box 37"/>
            <p:cNvSpPr txBox="1">
              <a:spLocks noChangeArrowheads="1"/>
            </p:cNvSpPr>
            <p:nvPr/>
          </p:nvSpPr>
          <p:spPr bwMode="auto">
            <a:xfrm>
              <a:off x="1701" y="2608"/>
              <a:ext cx="1771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F21302"/>
                  </a:solidFill>
                  <a:latin typeface="Arial" charset="0"/>
                  <a:ea typeface="宋体" pitchFamily="2" charset="-122"/>
                </a:rPr>
                <a:t>R</a:t>
              </a:r>
              <a:r>
                <a:rPr lang="zh-CN" altLang="en-US" baseline="-25000" dirty="0">
                  <a:solidFill>
                    <a:srgbClr val="F21302"/>
                  </a:solidFill>
                  <a:latin typeface="Arial" charset="0"/>
                  <a:ea typeface="宋体" pitchFamily="2" charset="-122"/>
                </a:rPr>
                <a:t>2</a:t>
              </a:r>
              <a:r>
                <a:rPr lang="zh-CN" altLang="en-US" dirty="0">
                  <a:solidFill>
                    <a:srgbClr val="F21302"/>
                  </a:solidFill>
                  <a:latin typeface="Arial" charset="0"/>
                  <a:ea typeface="宋体" pitchFamily="2" charset="-122"/>
                </a:rPr>
                <a:t>=?</a:t>
              </a:r>
            </a:p>
          </p:txBody>
        </p:sp>
      </p:grp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539750" y="4219575"/>
            <a:ext cx="2555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>
                <a:latin typeface="Arial" charset="0"/>
                <a:ea typeface="宋体" pitchFamily="2" charset="-122"/>
              </a:rPr>
              <a:t>R</a:t>
            </a:r>
            <a:r>
              <a:rPr lang="zh-CN" altLang="zh-CN" sz="1800">
                <a:latin typeface="Arial" charset="0"/>
                <a:ea typeface="宋体" pitchFamily="2" charset="-122"/>
              </a:rPr>
              <a:t>2</a:t>
            </a:r>
            <a:r>
              <a:rPr lang="en-US" altLang="zh-CN" sz="1800">
                <a:latin typeface="Arial" charset="0"/>
                <a:ea typeface="宋体" pitchFamily="2" charset="-122"/>
              </a:rPr>
              <a:t> </a:t>
            </a:r>
            <a:r>
              <a:rPr lang="zh-CN" altLang="zh-CN">
                <a:latin typeface="Arial" charset="0"/>
                <a:ea typeface="宋体" pitchFamily="2" charset="-122"/>
              </a:rPr>
              <a:t>=</a:t>
            </a:r>
            <a:r>
              <a:rPr lang="en-US" altLang="zh-CN">
                <a:latin typeface="Arial" charset="0"/>
                <a:ea typeface="宋体" pitchFamily="2" charset="-122"/>
              </a:rPr>
              <a:t> </a:t>
            </a:r>
            <a:r>
              <a:rPr lang="zh-CN" altLang="zh-CN">
                <a:latin typeface="Arial" charset="0"/>
                <a:ea typeface="宋体" pitchFamily="2" charset="-122"/>
              </a:rPr>
              <a:t>R</a:t>
            </a:r>
            <a:r>
              <a:rPr lang="en-US" altLang="zh-CN">
                <a:latin typeface="Arial" charset="0"/>
                <a:ea typeface="宋体" pitchFamily="2" charset="-122"/>
              </a:rPr>
              <a:t>  </a:t>
            </a:r>
            <a:r>
              <a:rPr lang="zh-CN" altLang="zh-CN">
                <a:latin typeface="Arial" charset="0"/>
                <a:ea typeface="宋体" pitchFamily="2" charset="-122"/>
              </a:rPr>
              <a:t>-</a:t>
            </a:r>
            <a:r>
              <a:rPr lang="en-US" altLang="zh-CN">
                <a:latin typeface="Arial" charset="0"/>
                <a:ea typeface="宋体" pitchFamily="2" charset="-122"/>
              </a:rPr>
              <a:t> </a:t>
            </a:r>
            <a:r>
              <a:rPr lang="zh-CN" altLang="zh-CN">
                <a:latin typeface="Arial" charset="0"/>
                <a:ea typeface="宋体" pitchFamily="2" charset="-122"/>
              </a:rPr>
              <a:t>R</a:t>
            </a:r>
            <a:r>
              <a:rPr lang="zh-CN" altLang="zh-CN" sz="2000">
                <a:latin typeface="Arial" charset="0"/>
                <a:ea typeface="宋体" pitchFamily="2" charset="-122"/>
              </a:rPr>
              <a:t>1</a:t>
            </a:r>
            <a:endParaRPr lang="zh-CN" altLang="zh-CN" sz="1200">
              <a:latin typeface="Arial" charset="0"/>
              <a:ea typeface="宋体" pitchFamily="2" charset="-122"/>
            </a:endParaRP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973138" y="4795838"/>
            <a:ext cx="2520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Arial" charset="0"/>
                <a:ea typeface="宋体" pitchFamily="2" charset="-122"/>
              </a:rPr>
              <a:t> = 24</a:t>
            </a:r>
            <a:r>
              <a:rPr lang="el-GR" altLang="en-US" sz="2800">
                <a:latin typeface="Arial" charset="0"/>
                <a:ea typeface="宋体" pitchFamily="2" charset="-122"/>
              </a:rPr>
              <a:t>Ω</a:t>
            </a:r>
            <a:r>
              <a:rPr lang="zh-CN" altLang="en-US">
                <a:latin typeface="Arial" charset="0"/>
                <a:ea typeface="宋体" pitchFamily="2" charset="-122"/>
              </a:rPr>
              <a:t> - 4 </a:t>
            </a:r>
            <a:r>
              <a:rPr lang="el-GR" altLang="en-US" sz="2800">
                <a:latin typeface="Arial" charset="0"/>
                <a:ea typeface="宋体" pitchFamily="2" charset="-122"/>
              </a:rPr>
              <a:t>Ω</a:t>
            </a:r>
            <a:endParaRPr lang="zh-CN" altLang="en-US" sz="1800">
              <a:latin typeface="Arial" charset="0"/>
              <a:ea typeface="宋体" pitchFamily="2" charset="-122"/>
            </a:endParaRP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998538" y="5373688"/>
            <a:ext cx="2555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Arial" charset="0"/>
                <a:ea typeface="宋体" pitchFamily="2" charset="-122"/>
              </a:rPr>
              <a:t> = 2</a:t>
            </a:r>
            <a:r>
              <a:rPr lang="en-US" altLang="en-US">
                <a:latin typeface="Arial" charset="0"/>
                <a:ea typeface="宋体" pitchFamily="2" charset="-122"/>
              </a:rPr>
              <a:t>0</a:t>
            </a:r>
            <a:r>
              <a:rPr lang="el-GR" altLang="en-US">
                <a:latin typeface="Arial" charset="0"/>
                <a:ea typeface="宋体" pitchFamily="2" charset="-122"/>
              </a:rPr>
              <a:t>Ω </a:t>
            </a:r>
            <a:endParaRPr lang="zh-CN" altLang="en-US" sz="1800">
              <a:latin typeface="Arial" charset="0"/>
              <a:ea typeface="宋体" pitchFamily="2" charset="-122"/>
            </a:endParaRPr>
          </a:p>
        </p:txBody>
      </p:sp>
      <p:sp>
        <p:nvSpPr>
          <p:cNvPr id="14377" name="Text Box 41"/>
          <p:cNvSpPr txBox="1">
            <a:spLocks noChangeArrowheads="1"/>
          </p:cNvSpPr>
          <p:nvPr/>
        </p:nvSpPr>
        <p:spPr bwMode="auto">
          <a:xfrm>
            <a:off x="574675" y="2936875"/>
            <a:ext cx="936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Arial" charset="0"/>
                <a:ea typeface="宋体" pitchFamily="2" charset="-122"/>
              </a:rPr>
              <a:t>R=</a:t>
            </a:r>
            <a:endParaRPr lang="el-GR" altLang="en-US">
              <a:latin typeface="Arial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1260475" y="2708275"/>
            <a:ext cx="1441450" cy="1160463"/>
            <a:chOff x="0" y="0"/>
            <a:chExt cx="907" cy="731"/>
          </a:xfrm>
        </p:grpSpPr>
        <p:sp>
          <p:nvSpPr>
            <p:cNvPr id="14360" name="Line 43"/>
            <p:cNvSpPr>
              <a:spLocks noChangeShapeType="1"/>
            </p:cNvSpPr>
            <p:nvPr/>
          </p:nvSpPr>
          <p:spPr bwMode="auto">
            <a:xfrm>
              <a:off x="0" y="35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361" name="Rectangle 44"/>
            <p:cNvSpPr>
              <a:spLocks noChangeArrowheads="1"/>
            </p:cNvSpPr>
            <p:nvPr/>
          </p:nvSpPr>
          <p:spPr bwMode="auto">
            <a:xfrm>
              <a:off x="91" y="0"/>
              <a:ext cx="26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dirty="0">
                  <a:latin typeface="Arial" charset="0"/>
                  <a:ea typeface="宋体" pitchFamily="2" charset="-122"/>
                </a:rPr>
                <a:t>V</a:t>
              </a:r>
              <a:endParaRPr lang="zh-CN" altLang="zh-CN" sz="1800" dirty="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362" name="Rectangle 45"/>
            <p:cNvSpPr>
              <a:spLocks noChangeArrowheads="1"/>
            </p:cNvSpPr>
            <p:nvPr/>
          </p:nvSpPr>
          <p:spPr bwMode="auto">
            <a:xfrm>
              <a:off x="172" y="363"/>
              <a:ext cx="21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14363" name="Text Box 46"/>
            <p:cNvSpPr txBox="1">
              <a:spLocks noChangeArrowheads="1"/>
            </p:cNvSpPr>
            <p:nvPr/>
          </p:nvSpPr>
          <p:spPr bwMode="auto">
            <a:xfrm>
              <a:off x="590" y="168"/>
              <a:ext cx="31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latin typeface="Arial" charset="0"/>
                  <a:ea typeface="宋体" pitchFamily="2" charset="-122"/>
                </a:rPr>
                <a:t>=</a:t>
              </a:r>
              <a:endParaRPr lang="el-GR" altLang="en-US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3997325" y="2997200"/>
            <a:ext cx="1222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latin typeface="Arial" charset="0"/>
                <a:ea typeface="宋体" pitchFamily="2" charset="-122"/>
              </a:rPr>
              <a:t>24</a:t>
            </a:r>
            <a:r>
              <a:rPr lang="el-GR" altLang="zh-CN" dirty="0">
                <a:latin typeface="Arial" charset="0"/>
                <a:ea typeface="宋体" pitchFamily="2" charset="-122"/>
              </a:rPr>
              <a:t>Ω</a:t>
            </a:r>
            <a:endParaRPr lang="el-GR" altLang="en-US" sz="1800" dirty="0">
              <a:latin typeface="Arial" charset="0"/>
              <a:ea typeface="宋体" pitchFamily="2" charset="-122"/>
            </a:endParaRP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2555875" y="2708275"/>
            <a:ext cx="1441450" cy="1095375"/>
            <a:chOff x="0" y="0"/>
            <a:chExt cx="907" cy="690"/>
          </a:xfrm>
        </p:grpSpPr>
        <p:sp>
          <p:nvSpPr>
            <p:cNvPr id="14356" name="Line 49"/>
            <p:cNvSpPr>
              <a:spLocks noChangeShapeType="1"/>
            </p:cNvSpPr>
            <p:nvPr/>
          </p:nvSpPr>
          <p:spPr bwMode="auto">
            <a:xfrm>
              <a:off x="0" y="35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357" name="Rectangle 50"/>
            <p:cNvSpPr>
              <a:spLocks noChangeArrowheads="1"/>
            </p:cNvSpPr>
            <p:nvPr/>
          </p:nvSpPr>
          <p:spPr bwMode="auto">
            <a:xfrm>
              <a:off x="91" y="0"/>
              <a:ext cx="6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>
                  <a:latin typeface="Arial" charset="0"/>
                  <a:ea typeface="宋体" pitchFamily="2" charset="-122"/>
                </a:rPr>
                <a:t>12V</a:t>
              </a:r>
              <a:endParaRPr lang="zh-CN" altLang="en-US" sz="18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358" name="Rectangle 51"/>
            <p:cNvSpPr>
              <a:spLocks noChangeArrowheads="1"/>
            </p:cNvSpPr>
            <p:nvPr/>
          </p:nvSpPr>
          <p:spPr bwMode="auto">
            <a:xfrm>
              <a:off x="91" y="363"/>
              <a:ext cx="3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>
                  <a:latin typeface="Arial" charset="0"/>
                  <a:ea typeface="宋体" pitchFamily="2" charset="-122"/>
                </a:rPr>
                <a:t>0.5A</a:t>
              </a:r>
            </a:p>
          </p:txBody>
        </p:sp>
        <p:sp>
          <p:nvSpPr>
            <p:cNvPr id="14359" name="Text Box 52"/>
            <p:cNvSpPr txBox="1">
              <a:spLocks noChangeArrowheads="1"/>
            </p:cNvSpPr>
            <p:nvPr/>
          </p:nvSpPr>
          <p:spPr bwMode="auto">
            <a:xfrm>
              <a:off x="590" y="168"/>
              <a:ext cx="31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latin typeface="Arial" charset="0"/>
                  <a:ea typeface="宋体" pitchFamily="2" charset="-122"/>
                </a:rPr>
                <a:t>=</a:t>
              </a:r>
              <a:endParaRPr lang="el-GR" altLang="en-US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4" grpId="0" animBg="1" autoUpdateAnimBg="0"/>
      <p:bldP spid="14375" grpId="0" animBg="1" autoUpdateAnimBg="0"/>
      <p:bldP spid="14376" grpId="0" animBg="1" autoUpdateAnimBg="0"/>
      <p:bldP spid="14377" grpId="0" animBg="1" autoUpdateAnimBg="0"/>
      <p:bldP spid="14383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11"/>
          <p:cNvSpPr>
            <a:spLocks noChangeArrowheads="1" noChangeShapeType="1" noTextEdit="1"/>
          </p:cNvSpPr>
          <p:nvPr/>
        </p:nvSpPr>
        <p:spPr bwMode="auto">
          <a:xfrm>
            <a:off x="598913" y="457200"/>
            <a:ext cx="2449087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作业练习</a:t>
            </a:r>
            <a:endParaRPr lang="en-MY" sz="6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316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1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D7146-C071-8A11-3881-DA20CB53CBCC}"/>
              </a:ext>
            </a:extLst>
          </p:cNvPr>
          <p:cNvSpPr txBox="1"/>
          <p:nvPr/>
        </p:nvSpPr>
        <p:spPr>
          <a:xfrm>
            <a:off x="3476625" y="423863"/>
            <a:ext cx="1425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p/g 86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06EF2-3198-4BAA-5F16-7E5FF7A21A11}"/>
              </a:ext>
            </a:extLst>
          </p:cNvPr>
          <p:cNvSpPr txBox="1"/>
          <p:nvPr/>
        </p:nvSpPr>
        <p:spPr>
          <a:xfrm>
            <a:off x="838200" y="1524000"/>
            <a:ext cx="147508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选择</a:t>
            </a:r>
            <a:endParaRPr lang="en-MY" altLang="zh-CN" sz="4000" dirty="0"/>
          </a:p>
          <a:p>
            <a:r>
              <a:rPr lang="en-MY" sz="4000" dirty="0"/>
              <a:t>No. 4</a:t>
            </a:r>
          </a:p>
          <a:p>
            <a:r>
              <a:rPr lang="en-MY" sz="4000" dirty="0"/>
              <a:t>No. 5</a:t>
            </a:r>
          </a:p>
          <a:p>
            <a:r>
              <a:rPr lang="en-MY" sz="4000" dirty="0"/>
              <a:t>No. 6</a:t>
            </a:r>
          </a:p>
          <a:p>
            <a:r>
              <a:rPr lang="en-MY" sz="4000" dirty="0"/>
              <a:t>No. 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69BAA-0C37-B455-84ED-D73D57926E25}"/>
              </a:ext>
            </a:extLst>
          </p:cNvPr>
          <p:cNvSpPr txBox="1"/>
          <p:nvPr/>
        </p:nvSpPr>
        <p:spPr>
          <a:xfrm>
            <a:off x="3099675" y="2120968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B</a:t>
            </a:r>
            <a:endParaRPr lang="en-MY" sz="4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2AA13-5557-9E3B-671C-E3C0B17F6978}"/>
              </a:ext>
            </a:extLst>
          </p:cNvPr>
          <p:cNvSpPr txBox="1"/>
          <p:nvPr/>
        </p:nvSpPr>
        <p:spPr>
          <a:xfrm>
            <a:off x="3073676" y="2755106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B</a:t>
            </a:r>
            <a:endParaRPr lang="en-MY" sz="4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1186F-0929-4C53-3950-8194417BB3B2}"/>
              </a:ext>
            </a:extLst>
          </p:cNvPr>
          <p:cNvSpPr txBox="1"/>
          <p:nvPr/>
        </p:nvSpPr>
        <p:spPr>
          <a:xfrm>
            <a:off x="4902015" y="1455990"/>
            <a:ext cx="379462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填空 </a:t>
            </a:r>
            <a:r>
              <a:rPr lang="en-MY" altLang="zh-CN" sz="4000" dirty="0"/>
              <a:t>p/g 88-89</a:t>
            </a:r>
          </a:p>
          <a:p>
            <a:r>
              <a:rPr lang="en-MY" sz="4000" dirty="0"/>
              <a:t>No. 1</a:t>
            </a:r>
          </a:p>
          <a:p>
            <a:r>
              <a:rPr lang="en-MY" sz="4000" dirty="0"/>
              <a:t>No. 3</a:t>
            </a:r>
          </a:p>
          <a:p>
            <a:endParaRPr lang="en-MY" altLang="zh-CN" sz="4000" dirty="0"/>
          </a:p>
          <a:p>
            <a:r>
              <a:rPr lang="zh-CN" altLang="en-US" sz="4000" dirty="0"/>
              <a:t>是非 </a:t>
            </a:r>
            <a:r>
              <a:rPr lang="en-MY" altLang="zh-CN" sz="4000" dirty="0"/>
              <a:t>p/g 89</a:t>
            </a:r>
          </a:p>
          <a:p>
            <a:r>
              <a:rPr lang="en-MY" sz="4000" dirty="0"/>
              <a:t>No.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319B7-507C-08A3-E17F-E8C1AD0F8F38}"/>
              </a:ext>
            </a:extLst>
          </p:cNvPr>
          <p:cNvSpPr txBox="1"/>
          <p:nvPr/>
        </p:nvSpPr>
        <p:spPr>
          <a:xfrm>
            <a:off x="3048000" y="3302649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B</a:t>
            </a:r>
            <a:endParaRPr lang="en-MY" sz="40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4329D-045D-C438-5929-5103AC52070F}"/>
              </a:ext>
            </a:extLst>
          </p:cNvPr>
          <p:cNvSpPr txBox="1"/>
          <p:nvPr/>
        </p:nvSpPr>
        <p:spPr>
          <a:xfrm>
            <a:off x="3056252" y="3941184"/>
            <a:ext cx="442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C</a:t>
            </a:r>
            <a:endParaRPr lang="en-MY" sz="4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BC41D-15D9-FF4C-23FE-279AC4BC45B6}"/>
              </a:ext>
            </a:extLst>
          </p:cNvPr>
          <p:cNvSpPr txBox="1"/>
          <p:nvPr/>
        </p:nvSpPr>
        <p:spPr>
          <a:xfrm>
            <a:off x="6852309" y="4505695"/>
            <a:ext cx="699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非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172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492500" y="228600"/>
            <a:ext cx="28051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600" dirty="0">
                <a:latin typeface="Verdana" pitchFamily="34" charset="0"/>
              </a:rPr>
              <a:t>课内练习</a:t>
            </a:r>
          </a:p>
        </p:txBody>
      </p:sp>
      <p:sp>
        <p:nvSpPr>
          <p:cNvPr id="15364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5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6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7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8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9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84213" y="909638"/>
            <a:ext cx="7924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0" dirty="0"/>
              <a:t>2、两个电阻R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、R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串联后接到9伏电源上，流过R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的电流为0.3安，R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的阻值为20欧，求</a:t>
            </a:r>
            <a:r>
              <a:rPr lang="zh-CN" altLang="en-US" b="0" dirty="0">
                <a:solidFill>
                  <a:srgbClr val="FF0000"/>
                </a:solidFill>
              </a:rPr>
              <a:t>R</a:t>
            </a:r>
            <a:r>
              <a:rPr lang="zh-CN" altLang="en-US" b="0" baseline="-2500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的阻值</a:t>
            </a:r>
            <a:r>
              <a:rPr lang="zh-CN" altLang="en-US" b="0" dirty="0"/>
              <a:t>和</a:t>
            </a:r>
            <a:r>
              <a:rPr lang="zh-CN" altLang="en-US" b="0" dirty="0">
                <a:solidFill>
                  <a:srgbClr val="FF0000"/>
                </a:solidFill>
              </a:rPr>
              <a:t>R</a:t>
            </a:r>
            <a:r>
              <a:rPr lang="zh-CN" altLang="en-US" b="0" baseline="-2500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两端的电压</a:t>
            </a:r>
            <a:r>
              <a:rPr lang="zh-CN" altLang="en-US" b="0" dirty="0"/>
              <a:t>。</a:t>
            </a:r>
          </a:p>
        </p:txBody>
      </p:sp>
      <p:sp>
        <p:nvSpPr>
          <p:cNvPr id="27" name="矩形 2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57250" y="5715000"/>
            <a:ext cx="1420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u="sng">
                <a:latin typeface="Arial" charset="0"/>
                <a:ea typeface="宋体" pitchFamily="2" charset="-122"/>
              </a:rPr>
              <a:t>方法一</a:t>
            </a:r>
            <a:endParaRPr lang="zh-CN" altLang="en-US" u="sng"/>
          </a:p>
        </p:txBody>
      </p:sp>
      <p:sp>
        <p:nvSpPr>
          <p:cNvPr id="28" name="矩形 2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643313" y="5715000"/>
            <a:ext cx="1420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u="sng">
                <a:latin typeface="Arial" charset="0"/>
                <a:ea typeface="宋体" pitchFamily="2" charset="-122"/>
              </a:rPr>
              <a:t>方法二</a:t>
            </a:r>
            <a:endParaRPr lang="zh-CN" altLang="en-US" u="sn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492500" y="228600"/>
            <a:ext cx="28051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600" dirty="0">
                <a:latin typeface="Verdana" pitchFamily="34" charset="0"/>
              </a:rPr>
              <a:t>课内练习</a:t>
            </a:r>
          </a:p>
        </p:txBody>
      </p:sp>
      <p:sp>
        <p:nvSpPr>
          <p:cNvPr id="15364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5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6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7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8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69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84213" y="909638"/>
            <a:ext cx="7924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0" dirty="0"/>
              <a:t>2、两个电阻R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、R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串联后接到9伏电源上，流过R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的电流为0.3安，R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的阻值为20欧，求</a:t>
            </a:r>
            <a:r>
              <a:rPr lang="zh-CN" altLang="en-US" b="0" dirty="0">
                <a:solidFill>
                  <a:srgbClr val="FF0000"/>
                </a:solidFill>
              </a:rPr>
              <a:t>R</a:t>
            </a:r>
            <a:r>
              <a:rPr lang="zh-CN" altLang="en-US" b="0" baseline="-2500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的阻值</a:t>
            </a:r>
            <a:r>
              <a:rPr lang="zh-CN" altLang="en-US" b="0" dirty="0"/>
              <a:t>和</a:t>
            </a:r>
            <a:r>
              <a:rPr lang="zh-CN" altLang="en-US" b="0" dirty="0">
                <a:solidFill>
                  <a:srgbClr val="FF0000"/>
                </a:solidFill>
              </a:rPr>
              <a:t>R</a:t>
            </a:r>
            <a:r>
              <a:rPr lang="zh-CN" altLang="en-US" b="0" baseline="-2500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两端的电压</a:t>
            </a:r>
            <a:r>
              <a:rPr lang="zh-CN" altLang="en-US" b="0" dirty="0"/>
              <a:t>。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154738" y="2344738"/>
            <a:ext cx="2716212" cy="1219200"/>
            <a:chOff x="0" y="0"/>
            <a:chExt cx="1711" cy="768"/>
          </a:xfrm>
        </p:grpSpPr>
        <p:sp>
          <p:nvSpPr>
            <p:cNvPr id="15375" name="Rectangle 12"/>
            <p:cNvSpPr>
              <a:spLocks noChangeArrowheads="1"/>
            </p:cNvSpPr>
            <p:nvPr/>
          </p:nvSpPr>
          <p:spPr bwMode="auto">
            <a:xfrm>
              <a:off x="240" y="248"/>
              <a:ext cx="420" cy="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6" name="Rectangle 13"/>
            <p:cNvSpPr>
              <a:spLocks noChangeArrowheads="1"/>
            </p:cNvSpPr>
            <p:nvPr/>
          </p:nvSpPr>
          <p:spPr bwMode="auto">
            <a:xfrm>
              <a:off x="929" y="248"/>
              <a:ext cx="420" cy="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Line 14"/>
            <p:cNvSpPr>
              <a:spLocks noChangeShapeType="1"/>
            </p:cNvSpPr>
            <p:nvPr/>
          </p:nvSpPr>
          <p:spPr bwMode="auto">
            <a:xfrm>
              <a:off x="1349" y="290"/>
              <a:ext cx="1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5378" name="Text Box 15"/>
            <p:cNvSpPr txBox="1">
              <a:spLocks noChangeArrowheads="1"/>
            </p:cNvSpPr>
            <p:nvPr/>
          </p:nvSpPr>
          <p:spPr bwMode="auto">
            <a:xfrm>
              <a:off x="275" y="0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20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000" baseline="-250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5379" name="Text Box 16"/>
            <p:cNvSpPr txBox="1">
              <a:spLocks noChangeArrowheads="1"/>
            </p:cNvSpPr>
            <p:nvPr/>
          </p:nvSpPr>
          <p:spPr bwMode="auto">
            <a:xfrm>
              <a:off x="816" y="0"/>
              <a:ext cx="8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R</a:t>
              </a:r>
              <a:r>
                <a:rPr lang="zh-CN" altLang="en-US" sz="2000" baseline="-2500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2</a:t>
              </a:r>
              <a:r>
                <a:rPr lang="zh-CN" altLang="en-US" sz="200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=20欧</a:t>
              </a:r>
              <a:endParaRPr lang="zh-CN" altLang="en-US" sz="2000" baseline="-25000">
                <a:solidFill>
                  <a:srgbClr val="00206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380" name="Text Box 17"/>
            <p:cNvSpPr txBox="1">
              <a:spLocks noChangeArrowheads="1"/>
            </p:cNvSpPr>
            <p:nvPr/>
          </p:nvSpPr>
          <p:spPr bwMode="auto">
            <a:xfrm>
              <a:off x="0" y="288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I</a:t>
              </a:r>
              <a:r>
                <a:rPr lang="zh-CN" altLang="en-US" sz="1800" baseline="-2500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1</a:t>
              </a:r>
              <a:r>
                <a:rPr lang="zh-CN" altLang="en-US" sz="180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=0.3安</a:t>
              </a:r>
            </a:p>
          </p:txBody>
        </p:sp>
        <p:sp>
          <p:nvSpPr>
            <p:cNvPr id="15381" name="Line 18"/>
            <p:cNvSpPr>
              <a:spLocks noChangeShapeType="1"/>
            </p:cNvSpPr>
            <p:nvPr/>
          </p:nvSpPr>
          <p:spPr bwMode="auto">
            <a:xfrm>
              <a:off x="672" y="28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5382" name="Line 19"/>
            <p:cNvSpPr>
              <a:spLocks noChangeShapeType="1"/>
            </p:cNvSpPr>
            <p:nvPr/>
          </p:nvSpPr>
          <p:spPr bwMode="auto">
            <a:xfrm>
              <a:off x="0" y="28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5383" name="Line 20"/>
            <p:cNvSpPr>
              <a:spLocks noChangeShapeType="1"/>
            </p:cNvSpPr>
            <p:nvPr/>
          </p:nvSpPr>
          <p:spPr bwMode="auto">
            <a:xfrm>
              <a:off x="0" y="2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5384" name="Line 21"/>
            <p:cNvSpPr>
              <a:spLocks noChangeShapeType="1"/>
            </p:cNvSpPr>
            <p:nvPr/>
          </p:nvSpPr>
          <p:spPr bwMode="auto">
            <a:xfrm>
              <a:off x="1536" y="2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5385" name="Line 22"/>
            <p:cNvSpPr>
              <a:spLocks noChangeShapeType="1"/>
            </p:cNvSpPr>
            <p:nvPr/>
          </p:nvSpPr>
          <p:spPr bwMode="auto">
            <a:xfrm flipH="1">
              <a:off x="0" y="624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5386" name="Line 23"/>
            <p:cNvSpPr>
              <a:spLocks noChangeShapeType="1"/>
            </p:cNvSpPr>
            <p:nvPr/>
          </p:nvSpPr>
          <p:spPr bwMode="auto">
            <a:xfrm>
              <a:off x="1152" y="62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5387" name="Text Box 24"/>
            <p:cNvSpPr txBox="1">
              <a:spLocks noChangeArrowheads="1"/>
            </p:cNvSpPr>
            <p:nvPr/>
          </p:nvSpPr>
          <p:spPr bwMode="auto">
            <a:xfrm>
              <a:off x="528" y="480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Arial" charset="0"/>
                  <a:ea typeface="宋体" pitchFamily="2" charset="-122"/>
                </a:rPr>
                <a:t>V</a:t>
              </a:r>
              <a:r>
                <a:rPr lang="zh-CN" altLang="en-US" sz="2000" dirty="0">
                  <a:latin typeface="Arial" charset="0"/>
                  <a:ea typeface="宋体" pitchFamily="2" charset="-122"/>
                </a:rPr>
                <a:t>=9伏</a:t>
              </a:r>
            </a:p>
          </p:txBody>
        </p:sp>
      </p:grpSp>
      <p:sp>
        <p:nvSpPr>
          <p:cNvPr id="27" name="矩形 2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57250" y="5715000"/>
            <a:ext cx="1420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u="sng">
                <a:latin typeface="Arial" charset="0"/>
                <a:ea typeface="宋体" pitchFamily="2" charset="-122"/>
              </a:rPr>
              <a:t>方法一</a:t>
            </a:r>
            <a:endParaRPr lang="zh-CN" altLang="en-US" u="sng"/>
          </a:p>
        </p:txBody>
      </p:sp>
      <p:sp>
        <p:nvSpPr>
          <p:cNvPr id="28" name="矩形 2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643313" y="5715000"/>
            <a:ext cx="1420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u="sng">
                <a:latin typeface="Arial" charset="0"/>
                <a:ea typeface="宋体" pitchFamily="2" charset="-122"/>
              </a:rPr>
              <a:t>方法二</a:t>
            </a:r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30639333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519487" y="196850"/>
            <a:ext cx="28051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600" dirty="0">
                <a:latin typeface="Verdana" pitchFamily="34" charset="0"/>
              </a:rPr>
              <a:t>课内练习</a:t>
            </a:r>
          </a:p>
        </p:txBody>
      </p:sp>
      <p:sp>
        <p:nvSpPr>
          <p:cNvPr id="1638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89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0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1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2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3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684213" y="909638"/>
            <a:ext cx="7924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0" dirty="0"/>
              <a:t>2、两个电阻R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、R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串联后接到9伏电源上，流过R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的电流为0.3安，R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的阻值为20欧，求</a:t>
            </a:r>
            <a:r>
              <a:rPr lang="zh-CN" altLang="en-US" b="0" dirty="0">
                <a:solidFill>
                  <a:srgbClr val="FF0000"/>
                </a:solidFill>
              </a:rPr>
              <a:t>R</a:t>
            </a:r>
            <a:r>
              <a:rPr lang="zh-CN" altLang="en-US" b="0" baseline="-2500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的阻值</a:t>
            </a:r>
            <a:r>
              <a:rPr lang="zh-CN" altLang="en-US" b="0" dirty="0"/>
              <a:t>和</a:t>
            </a:r>
            <a:r>
              <a:rPr lang="zh-CN" altLang="en-US" b="0" dirty="0">
                <a:solidFill>
                  <a:srgbClr val="FF0000"/>
                </a:solidFill>
              </a:rPr>
              <a:t>R</a:t>
            </a:r>
            <a:r>
              <a:rPr lang="zh-CN" altLang="en-US" b="0" baseline="-2500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两端的电压</a:t>
            </a:r>
            <a:r>
              <a:rPr lang="zh-CN" altLang="en-US" b="0" dirty="0"/>
              <a:t>。</a:t>
            </a:r>
          </a:p>
        </p:txBody>
      </p:sp>
      <p:grpSp>
        <p:nvGrpSpPr>
          <p:cNvPr id="16395" name="Group 11"/>
          <p:cNvGrpSpPr>
            <a:grpSpLocks/>
          </p:cNvGrpSpPr>
          <p:nvPr/>
        </p:nvGrpSpPr>
        <p:grpSpPr bwMode="auto">
          <a:xfrm>
            <a:off x="5572125" y="2143125"/>
            <a:ext cx="3929063" cy="1512888"/>
            <a:chOff x="-367" y="-127"/>
            <a:chExt cx="2475" cy="953"/>
          </a:xfrm>
        </p:grpSpPr>
        <p:sp>
          <p:nvSpPr>
            <p:cNvPr id="16400" name="Rectangle 12"/>
            <p:cNvSpPr>
              <a:spLocks noChangeArrowheads="1"/>
            </p:cNvSpPr>
            <p:nvPr/>
          </p:nvSpPr>
          <p:spPr bwMode="auto">
            <a:xfrm>
              <a:off x="240" y="248"/>
              <a:ext cx="420" cy="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1" name="Rectangle 13"/>
            <p:cNvSpPr>
              <a:spLocks noChangeArrowheads="1"/>
            </p:cNvSpPr>
            <p:nvPr/>
          </p:nvSpPr>
          <p:spPr bwMode="auto">
            <a:xfrm>
              <a:off x="929" y="248"/>
              <a:ext cx="420" cy="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2" name="Line 14"/>
            <p:cNvSpPr>
              <a:spLocks noChangeShapeType="1"/>
            </p:cNvSpPr>
            <p:nvPr/>
          </p:nvSpPr>
          <p:spPr bwMode="auto">
            <a:xfrm>
              <a:off x="1349" y="290"/>
              <a:ext cx="1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6403" name="Text Box 15"/>
            <p:cNvSpPr txBox="1">
              <a:spLocks noChangeArrowheads="1"/>
            </p:cNvSpPr>
            <p:nvPr/>
          </p:nvSpPr>
          <p:spPr bwMode="auto">
            <a:xfrm>
              <a:off x="218" y="-127"/>
              <a:ext cx="49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28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800" baseline="-250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6404" name="Text Box 16"/>
            <p:cNvSpPr txBox="1">
              <a:spLocks noChangeArrowheads="1"/>
            </p:cNvSpPr>
            <p:nvPr/>
          </p:nvSpPr>
          <p:spPr bwMode="auto">
            <a:xfrm>
              <a:off x="803" y="-127"/>
              <a:ext cx="130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R</a:t>
              </a:r>
              <a:r>
                <a:rPr lang="zh-CN" altLang="en-US" sz="2800" baseline="-250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2</a:t>
              </a:r>
              <a:r>
                <a:rPr lang="zh-CN" altLang="en-US" sz="28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=20</a:t>
              </a:r>
              <a:r>
                <a:rPr lang="el-GR" altLang="zh-CN" sz="28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Ω</a:t>
              </a:r>
              <a:endParaRPr lang="zh-CN" altLang="en-US" sz="2800" baseline="-25000" dirty="0">
                <a:solidFill>
                  <a:srgbClr val="FF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405" name="Text Box 17"/>
            <p:cNvSpPr txBox="1">
              <a:spLocks noChangeArrowheads="1"/>
            </p:cNvSpPr>
            <p:nvPr/>
          </p:nvSpPr>
          <p:spPr bwMode="auto">
            <a:xfrm>
              <a:off x="-367" y="288"/>
              <a:ext cx="113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r>
                <a:rPr lang="zh-CN" altLang="en-US" sz="2800" baseline="-250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1</a:t>
              </a:r>
              <a:r>
                <a:rPr lang="zh-CN" altLang="en-US" sz="28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=0.3</a:t>
              </a:r>
              <a:r>
                <a:rPr lang="en-US" altLang="zh-CN" sz="2800" dirty="0">
                  <a:solidFill>
                    <a:srgbClr val="FF0000"/>
                  </a:solidFill>
                  <a:latin typeface="Arial" charset="0"/>
                  <a:ea typeface="宋体" pitchFamily="2" charset="-122"/>
                </a:rPr>
                <a:t>A</a:t>
              </a:r>
              <a:endParaRPr lang="zh-CN" altLang="en-US" sz="2800" dirty="0">
                <a:solidFill>
                  <a:srgbClr val="FF000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406" name="Line 18"/>
            <p:cNvSpPr>
              <a:spLocks noChangeShapeType="1"/>
            </p:cNvSpPr>
            <p:nvPr/>
          </p:nvSpPr>
          <p:spPr bwMode="auto">
            <a:xfrm>
              <a:off x="672" y="28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6407" name="Line 19"/>
            <p:cNvSpPr>
              <a:spLocks noChangeShapeType="1"/>
            </p:cNvSpPr>
            <p:nvPr/>
          </p:nvSpPr>
          <p:spPr bwMode="auto">
            <a:xfrm>
              <a:off x="0" y="28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6408" name="Line 20"/>
            <p:cNvSpPr>
              <a:spLocks noChangeShapeType="1"/>
            </p:cNvSpPr>
            <p:nvPr/>
          </p:nvSpPr>
          <p:spPr bwMode="auto">
            <a:xfrm>
              <a:off x="0" y="2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6409" name="Line 21"/>
            <p:cNvSpPr>
              <a:spLocks noChangeShapeType="1"/>
            </p:cNvSpPr>
            <p:nvPr/>
          </p:nvSpPr>
          <p:spPr bwMode="auto">
            <a:xfrm>
              <a:off x="1536" y="2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6410" name="Line 22"/>
            <p:cNvSpPr>
              <a:spLocks noChangeShapeType="1"/>
            </p:cNvSpPr>
            <p:nvPr/>
          </p:nvSpPr>
          <p:spPr bwMode="auto">
            <a:xfrm flipH="1">
              <a:off x="0" y="624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6411" name="Line 23"/>
            <p:cNvSpPr>
              <a:spLocks noChangeShapeType="1"/>
            </p:cNvSpPr>
            <p:nvPr/>
          </p:nvSpPr>
          <p:spPr bwMode="auto">
            <a:xfrm>
              <a:off x="1152" y="62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6412" name="Text Box 24"/>
            <p:cNvSpPr txBox="1">
              <a:spLocks noChangeArrowheads="1"/>
            </p:cNvSpPr>
            <p:nvPr/>
          </p:nvSpPr>
          <p:spPr bwMode="auto">
            <a:xfrm>
              <a:off x="502" y="496"/>
              <a:ext cx="86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Arial" charset="0"/>
                  <a:ea typeface="宋体" pitchFamily="2" charset="-122"/>
                </a:rPr>
                <a:t>V</a:t>
              </a:r>
              <a:r>
                <a:rPr lang="zh-CN" altLang="en-US" sz="2800" dirty="0">
                  <a:latin typeface="Arial" charset="0"/>
                  <a:ea typeface="宋体" pitchFamily="2" charset="-122"/>
                </a:rPr>
                <a:t>=9</a:t>
              </a:r>
              <a:r>
                <a:rPr lang="en-US" altLang="zh-CN" sz="2800" dirty="0">
                  <a:latin typeface="Arial" charset="0"/>
                  <a:ea typeface="宋体" pitchFamily="2" charset="-122"/>
                </a:rPr>
                <a:t>V</a:t>
              </a:r>
              <a:endParaRPr lang="zh-CN" altLang="en-US" sz="2800" dirty="0"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6396" name="Text Box 25"/>
          <p:cNvSpPr txBox="1">
            <a:spLocks noChangeArrowheads="1"/>
          </p:cNvSpPr>
          <p:nvPr/>
        </p:nvSpPr>
        <p:spPr bwMode="auto">
          <a:xfrm>
            <a:off x="0" y="2571750"/>
            <a:ext cx="657225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	</a:t>
            </a:r>
            <a:r>
              <a:rPr lang="zh-CN" altLang="en-US" sz="2800" dirty="0">
                <a:latin typeface="Arial" charset="0"/>
                <a:ea typeface="宋体" pitchFamily="2" charset="-122"/>
              </a:rPr>
              <a:t>方法一：</a:t>
            </a:r>
            <a:endParaRPr lang="en-US" altLang="zh-CN" sz="2800" dirty="0">
              <a:latin typeface="Arial" charset="0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2060"/>
                </a:solidFill>
                <a:latin typeface="Arial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zh-CN" altLang="en-US" dirty="0">
                <a:solidFill>
                  <a:srgbClr val="00206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</a:t>
            </a:r>
            <a:r>
              <a:rPr lang="zh-CN" altLang="en-US" dirty="0">
                <a:solidFill>
                  <a:srgbClr val="00206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=0.3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A</a:t>
            </a:r>
            <a:endParaRPr lang="zh-CN" altLang="en-US" dirty="0">
              <a:solidFill>
                <a:srgbClr val="002060"/>
              </a:solidFill>
              <a:latin typeface="Arial" charset="0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        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</a:t>
            </a:r>
            <a:r>
              <a:rPr lang="zh-CN" altLang="en-US" dirty="0">
                <a:solidFill>
                  <a:srgbClr val="00206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R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 0.3×20 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 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 6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</a:t>
            </a:r>
            <a:endParaRPr lang="zh-CN" altLang="en-US" dirty="0">
              <a:solidFill>
                <a:srgbClr val="002060"/>
              </a:solidFill>
              <a:latin typeface="Arial" charset="0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        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总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-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 9-6 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 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 3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</a:t>
            </a:r>
            <a:endParaRPr lang="zh-CN" altLang="en-US" dirty="0">
              <a:solidFill>
                <a:srgbClr val="002060"/>
              </a:solidFill>
              <a:latin typeface="Arial" charset="0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        R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</a:t>
            </a:r>
            <a:r>
              <a:rPr lang="en-US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V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Times New Roman" pitchFamily="18" charset="0"/>
                <a:ea typeface="宋体" pitchFamily="2" charset="-122"/>
              </a:rPr>
              <a:t>/I</a:t>
            </a:r>
            <a:r>
              <a:rPr lang="zh-CN" altLang="en-US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=3/0.3</a:t>
            </a:r>
            <a:r>
              <a:rPr lang="el-GR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 Ω </a:t>
            </a:r>
            <a:r>
              <a:rPr lang="zh-CN" altLang="en-US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= 10</a:t>
            </a:r>
            <a:r>
              <a:rPr lang="el-GR" altLang="zh-CN" dirty="0">
                <a:solidFill>
                  <a:srgbClr val="002060"/>
                </a:solidFill>
                <a:latin typeface="Arial" charset="0"/>
                <a:ea typeface="宋体" pitchFamily="2" charset="-122"/>
              </a:rPr>
              <a:t>Ω</a:t>
            </a:r>
            <a:endParaRPr lang="zh-CN" altLang="en-US" dirty="0">
              <a:solidFill>
                <a:srgbClr val="002060"/>
              </a:solidFill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505200" y="228600"/>
            <a:ext cx="28051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600" dirty="0">
                <a:latin typeface="Verdana" pitchFamily="34" charset="0"/>
              </a:rPr>
              <a:t>课内练习</a:t>
            </a:r>
          </a:p>
        </p:txBody>
      </p:sp>
      <p:sp>
        <p:nvSpPr>
          <p:cNvPr id="17412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3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4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5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6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7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684213" y="909638"/>
            <a:ext cx="7924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0" dirty="0"/>
              <a:t>2、两个电阻R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、R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串联后接到9伏电源上，流过R</a:t>
            </a:r>
            <a:r>
              <a:rPr lang="zh-CN" altLang="en-US" b="0" baseline="-25000" dirty="0"/>
              <a:t>1</a:t>
            </a:r>
            <a:r>
              <a:rPr lang="zh-CN" altLang="en-US" b="0" dirty="0"/>
              <a:t>的电流为0.3安，R</a:t>
            </a:r>
            <a:r>
              <a:rPr lang="zh-CN" altLang="en-US" b="0" baseline="-25000" dirty="0"/>
              <a:t>2</a:t>
            </a:r>
            <a:r>
              <a:rPr lang="zh-CN" altLang="en-US" b="0" dirty="0"/>
              <a:t>的阻值为20欧，求</a:t>
            </a:r>
            <a:r>
              <a:rPr lang="zh-CN" altLang="en-US" b="0" dirty="0">
                <a:solidFill>
                  <a:srgbClr val="FF0000"/>
                </a:solidFill>
              </a:rPr>
              <a:t>R</a:t>
            </a:r>
            <a:r>
              <a:rPr lang="zh-CN" altLang="en-US" b="0" baseline="-2500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的阻值</a:t>
            </a:r>
            <a:r>
              <a:rPr lang="zh-CN" altLang="en-US" b="0" dirty="0"/>
              <a:t>和</a:t>
            </a:r>
            <a:r>
              <a:rPr lang="zh-CN" altLang="en-US" b="0" dirty="0">
                <a:solidFill>
                  <a:srgbClr val="FF0000"/>
                </a:solidFill>
              </a:rPr>
              <a:t>R</a:t>
            </a:r>
            <a:r>
              <a:rPr lang="zh-CN" altLang="en-US" b="0" baseline="-2500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两端的电压</a:t>
            </a:r>
            <a:r>
              <a:rPr lang="zh-CN" altLang="en-US" b="0" dirty="0"/>
              <a:t>。</a:t>
            </a:r>
          </a:p>
        </p:txBody>
      </p:sp>
      <p:grpSp>
        <p:nvGrpSpPr>
          <p:cNvPr id="17419" name="Group 11"/>
          <p:cNvGrpSpPr>
            <a:grpSpLocks/>
          </p:cNvGrpSpPr>
          <p:nvPr/>
        </p:nvGrpSpPr>
        <p:grpSpPr bwMode="auto">
          <a:xfrm>
            <a:off x="5500688" y="2143125"/>
            <a:ext cx="3643312" cy="1420813"/>
            <a:chOff x="-412" y="-127"/>
            <a:chExt cx="2295" cy="895"/>
          </a:xfrm>
        </p:grpSpPr>
        <p:sp>
          <p:nvSpPr>
            <p:cNvPr id="17424" name="Rectangle 12"/>
            <p:cNvSpPr>
              <a:spLocks noChangeArrowheads="1"/>
            </p:cNvSpPr>
            <p:nvPr/>
          </p:nvSpPr>
          <p:spPr bwMode="auto">
            <a:xfrm>
              <a:off x="240" y="248"/>
              <a:ext cx="420" cy="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5" name="Rectangle 13"/>
            <p:cNvSpPr>
              <a:spLocks noChangeArrowheads="1"/>
            </p:cNvSpPr>
            <p:nvPr/>
          </p:nvSpPr>
          <p:spPr bwMode="auto">
            <a:xfrm>
              <a:off x="929" y="248"/>
              <a:ext cx="420" cy="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6" name="Line 14"/>
            <p:cNvSpPr>
              <a:spLocks noChangeShapeType="1"/>
            </p:cNvSpPr>
            <p:nvPr/>
          </p:nvSpPr>
          <p:spPr bwMode="auto">
            <a:xfrm>
              <a:off x="1349" y="290"/>
              <a:ext cx="1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7427" name="Text Box 15"/>
            <p:cNvSpPr txBox="1">
              <a:spLocks noChangeArrowheads="1"/>
            </p:cNvSpPr>
            <p:nvPr/>
          </p:nvSpPr>
          <p:spPr bwMode="auto">
            <a:xfrm>
              <a:off x="83" y="-127"/>
              <a:ext cx="58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280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R</a:t>
              </a:r>
              <a:r>
                <a:rPr lang="zh-CN" altLang="zh-CN" sz="2800" baseline="-2500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7428" name="Text Box 16"/>
            <p:cNvSpPr txBox="1">
              <a:spLocks noChangeArrowheads="1"/>
            </p:cNvSpPr>
            <p:nvPr/>
          </p:nvSpPr>
          <p:spPr bwMode="auto">
            <a:xfrm>
              <a:off x="758" y="-127"/>
              <a:ext cx="11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R</a:t>
              </a:r>
              <a:r>
                <a:rPr lang="zh-CN" altLang="en-US" sz="2800" baseline="-250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2</a:t>
              </a:r>
              <a:r>
                <a:rPr lang="zh-CN" altLang="en-US" sz="28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=20</a:t>
              </a:r>
              <a:r>
                <a:rPr lang="el-GR" altLang="zh-CN" sz="28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Ω</a:t>
              </a:r>
              <a:endParaRPr lang="zh-CN" altLang="en-US" sz="2800" baseline="-25000" dirty="0">
                <a:solidFill>
                  <a:srgbClr val="00206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429" name="Text Box 17"/>
            <p:cNvSpPr txBox="1">
              <a:spLocks noChangeArrowheads="1"/>
            </p:cNvSpPr>
            <p:nvPr/>
          </p:nvSpPr>
          <p:spPr bwMode="auto">
            <a:xfrm>
              <a:off x="-412" y="288"/>
              <a:ext cx="118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I</a:t>
              </a:r>
              <a:r>
                <a:rPr lang="zh-CN" altLang="en-US" sz="2800" baseline="-250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1</a:t>
              </a:r>
              <a:r>
                <a:rPr lang="zh-CN" altLang="en-US" sz="28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=0.3</a:t>
              </a:r>
              <a:r>
                <a:rPr lang="en-US" altLang="zh-CN" sz="2800" dirty="0">
                  <a:solidFill>
                    <a:srgbClr val="002060"/>
                  </a:solidFill>
                  <a:latin typeface="Arial" charset="0"/>
                  <a:ea typeface="宋体" pitchFamily="2" charset="-122"/>
                </a:rPr>
                <a:t>A</a:t>
              </a:r>
              <a:endParaRPr lang="zh-CN" altLang="en-US" sz="2800" dirty="0">
                <a:solidFill>
                  <a:srgbClr val="002060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430" name="Line 18"/>
            <p:cNvSpPr>
              <a:spLocks noChangeShapeType="1"/>
            </p:cNvSpPr>
            <p:nvPr/>
          </p:nvSpPr>
          <p:spPr bwMode="auto">
            <a:xfrm>
              <a:off x="672" y="28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7431" name="Line 19"/>
            <p:cNvSpPr>
              <a:spLocks noChangeShapeType="1"/>
            </p:cNvSpPr>
            <p:nvPr/>
          </p:nvSpPr>
          <p:spPr bwMode="auto">
            <a:xfrm>
              <a:off x="0" y="28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7432" name="Line 20"/>
            <p:cNvSpPr>
              <a:spLocks noChangeShapeType="1"/>
            </p:cNvSpPr>
            <p:nvPr/>
          </p:nvSpPr>
          <p:spPr bwMode="auto">
            <a:xfrm>
              <a:off x="0" y="2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7433" name="Line 21"/>
            <p:cNvSpPr>
              <a:spLocks noChangeShapeType="1"/>
            </p:cNvSpPr>
            <p:nvPr/>
          </p:nvSpPr>
          <p:spPr bwMode="auto">
            <a:xfrm>
              <a:off x="1536" y="2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7434" name="Line 22"/>
            <p:cNvSpPr>
              <a:spLocks noChangeShapeType="1"/>
            </p:cNvSpPr>
            <p:nvPr/>
          </p:nvSpPr>
          <p:spPr bwMode="auto">
            <a:xfrm flipH="1">
              <a:off x="0" y="624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  <p:sp>
          <p:nvSpPr>
            <p:cNvPr id="17435" name="Line 23"/>
            <p:cNvSpPr>
              <a:spLocks noChangeShapeType="1"/>
            </p:cNvSpPr>
            <p:nvPr/>
          </p:nvSpPr>
          <p:spPr bwMode="auto">
            <a:xfrm>
              <a:off x="1152" y="62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MY"/>
            </a:p>
          </p:txBody>
        </p:sp>
      </p:grpSp>
      <p:sp>
        <p:nvSpPr>
          <p:cNvPr id="17420" name="Text Box 26"/>
          <p:cNvSpPr txBox="1">
            <a:spLocks noChangeArrowheads="1"/>
          </p:cNvSpPr>
          <p:nvPr/>
        </p:nvSpPr>
        <p:spPr bwMode="auto">
          <a:xfrm>
            <a:off x="0" y="2643188"/>
            <a:ext cx="6429375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	</a:t>
            </a:r>
            <a:r>
              <a:rPr lang="zh-CN" altLang="en-US" sz="2800" dirty="0">
                <a:latin typeface="Arial" charset="0"/>
                <a:ea typeface="宋体" pitchFamily="2" charset="-122"/>
              </a:rPr>
              <a:t>方法二：</a:t>
            </a:r>
            <a:endParaRPr lang="en-US" altLang="zh-CN" sz="2800" dirty="0">
              <a:latin typeface="Arial" charset="0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E61202"/>
                </a:solidFill>
                <a:latin typeface="Arial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zh-CN" altLang="en-US" dirty="0">
                <a:solidFill>
                  <a:srgbClr val="E6120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</a:t>
            </a:r>
            <a:r>
              <a:rPr lang="zh-CN" altLang="en-US" dirty="0">
                <a:solidFill>
                  <a:srgbClr val="E61202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</a:t>
            </a:r>
            <a:r>
              <a:rPr lang="zh-CN" altLang="en-US" dirty="0">
                <a:solidFill>
                  <a:srgbClr val="E61202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2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=0.3</a:t>
            </a:r>
            <a:r>
              <a:rPr lang="en-US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A</a:t>
            </a:r>
            <a:endParaRPr lang="zh-CN" altLang="en-US" dirty="0">
              <a:solidFill>
                <a:srgbClr val="E61202"/>
              </a:solidFill>
              <a:latin typeface="Arial" charset="0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        R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总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</a:t>
            </a:r>
            <a:r>
              <a:rPr lang="en-US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V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总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/</a:t>
            </a:r>
            <a:r>
              <a:rPr lang="zh-CN" altLang="en-US" dirty="0">
                <a:solidFill>
                  <a:srgbClr val="E61202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 9/0.3 </a:t>
            </a:r>
            <a:r>
              <a:rPr lang="el-GR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Ω 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 30</a:t>
            </a:r>
            <a:r>
              <a:rPr lang="el-GR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Ω</a:t>
            </a:r>
            <a:endParaRPr lang="zh-CN" altLang="en-US" dirty="0">
              <a:solidFill>
                <a:srgbClr val="E61202"/>
              </a:solidFill>
              <a:latin typeface="Arial" charset="0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        R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=R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总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-R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2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=30-20 </a:t>
            </a:r>
            <a:r>
              <a:rPr lang="el-GR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Ω 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 10</a:t>
            </a:r>
            <a:r>
              <a:rPr lang="el-GR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Ω</a:t>
            </a:r>
            <a:endParaRPr lang="zh-CN" altLang="en-US" dirty="0">
              <a:solidFill>
                <a:srgbClr val="E61202"/>
              </a:solidFill>
              <a:latin typeface="Arial" charset="0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        </a:t>
            </a:r>
            <a:r>
              <a:rPr lang="en-US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V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</a:t>
            </a:r>
            <a:r>
              <a:rPr lang="zh-CN" altLang="en-US" dirty="0">
                <a:solidFill>
                  <a:srgbClr val="E61202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R</a:t>
            </a:r>
            <a:r>
              <a:rPr lang="zh-CN" altLang="en-US" baseline="-25000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1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 0.3×10 </a:t>
            </a:r>
            <a:r>
              <a:rPr lang="en-US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V</a:t>
            </a:r>
            <a:r>
              <a:rPr lang="el-GR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 </a:t>
            </a:r>
            <a:r>
              <a:rPr lang="zh-CN" altLang="en-US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= 3</a:t>
            </a:r>
            <a:r>
              <a:rPr lang="en-US" altLang="zh-CN" dirty="0">
                <a:solidFill>
                  <a:srgbClr val="E61202"/>
                </a:solidFill>
                <a:latin typeface="Arial" charset="0"/>
                <a:ea typeface="宋体" pitchFamily="2" charset="-122"/>
              </a:rPr>
              <a:t>V</a:t>
            </a:r>
            <a:endParaRPr lang="zh-CN" altLang="en-US" dirty="0">
              <a:solidFill>
                <a:srgbClr val="E61202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6951663" y="3132138"/>
            <a:ext cx="1365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V</a:t>
            </a:r>
            <a:r>
              <a:rPr lang="zh-CN" altLang="en-US" sz="2800" dirty="0">
                <a:latin typeface="Arial" charset="0"/>
                <a:ea typeface="宋体" pitchFamily="2" charset="-122"/>
              </a:rPr>
              <a:t>=9</a:t>
            </a:r>
            <a:r>
              <a:rPr lang="en-US" altLang="zh-CN" sz="2800" dirty="0">
                <a:latin typeface="Arial" charset="0"/>
                <a:ea typeface="宋体" pitchFamily="2" charset="-122"/>
              </a:rPr>
              <a:t>V</a:t>
            </a:r>
            <a:endParaRPr lang="zh-CN" altLang="en-US" sz="2800" dirty="0"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0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1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2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3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4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5" name="WordArt 11"/>
          <p:cNvSpPr>
            <a:spLocks noChangeArrowheads="1" noChangeShapeType="1" noTextEdit="1"/>
          </p:cNvSpPr>
          <p:nvPr/>
        </p:nvSpPr>
        <p:spPr bwMode="auto">
          <a:xfrm>
            <a:off x="2916238" y="2492375"/>
            <a:ext cx="335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>
                  <a:outerShdw dist="35921" dir="2700000" algn="ctr" rotWithShape="0">
                    <a:srgbClr val="808080">
                      <a:alpha val="76999"/>
                    </a:srgbClr>
                  </a:outerShdw>
                </a:effectLst>
                <a:latin typeface="黑体"/>
                <a:ea typeface="黑体"/>
              </a:rPr>
              <a:t>课外练习</a:t>
            </a:r>
            <a:endParaRPr lang="en-MY" sz="6600" kern="1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>
                <a:outerShdw dist="35921" dir="2700000" algn="ctr" rotWithShape="0">
                  <a:srgbClr val="808080">
                    <a:alpha val="76999"/>
                  </a:srgbClr>
                </a:outerShdw>
              </a:effectLst>
              <a:latin typeface="黑体"/>
              <a:ea typeface="黑体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468313" y="1257330"/>
            <a:ext cx="82804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．某导体的电阻为10</a:t>
            </a:r>
            <a:r>
              <a:rPr lang="zh-CN" altLang="en-US"/>
              <a:t>欧，通</a:t>
            </a:r>
            <a:r>
              <a:rPr lang="zh-CN" altLang="en-US" dirty="0"/>
              <a:t>过它的电流为</a:t>
            </a:r>
            <a:r>
              <a:rPr lang="en-US" altLang="zh-CN" dirty="0"/>
              <a:t>0.6</a:t>
            </a:r>
            <a:r>
              <a:rPr lang="zh-CN" altLang="en-US" dirty="0"/>
              <a:t>安，两端电压是_____伏；若电流变为1.2安，则该导体的电阻为_____欧。</a:t>
            </a:r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．导体两端的电压为12伏时，通过的电流是0.4安，则导体电阻为_____欧；当导体两端电压为0伏时，导体中电流为____安，此时它的电阻为_____欧。</a:t>
            </a:r>
          </a:p>
          <a:p>
            <a:endParaRPr lang="zh-CN" altLang="en-US" dirty="0"/>
          </a:p>
        </p:txBody>
      </p:sp>
      <p:sp>
        <p:nvSpPr>
          <p:cNvPr id="20484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485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486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487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488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489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448968" y="1720850"/>
            <a:ext cx="3921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834731" y="2208213"/>
            <a:ext cx="598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643438" y="3606800"/>
            <a:ext cx="598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856288" y="4191000"/>
            <a:ext cx="3921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428875" y="4648200"/>
            <a:ext cx="598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684213" y="692150"/>
            <a:ext cx="828040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/>
              <a:t>3</a:t>
            </a:r>
            <a:r>
              <a:rPr lang="zh-CN" altLang="en-US"/>
              <a:t>．电路中的电源电压是6伏，灯L1的电阻是5欧，通过的电流是0.8安。求1）通过灯L2的电流  2） 灯L1两端的电压 3）灯L2两端的电压和灯L2的电阻</a:t>
            </a:r>
          </a:p>
        </p:txBody>
      </p:sp>
      <p:sp>
        <p:nvSpPr>
          <p:cNvPr id="2150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1509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1510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1511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1512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1513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068638"/>
            <a:ext cx="2514600" cy="18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2532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2533" name="Rectangle 3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2534" name="Rectangle 3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2535" name="Rectangle 3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2536" name="Rectangle 3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466725" y="836613"/>
            <a:ext cx="8424863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r>
              <a:rPr lang="zh-CN" altLang="en-US">
                <a:sym typeface="宋体" pitchFamily="2" charset="-122"/>
              </a:rPr>
              <a:t>4．如图所示，电阻</a:t>
            </a:r>
            <a:r>
              <a:rPr lang="en-US" altLang="zh-CN">
                <a:sym typeface="宋体" pitchFamily="2" charset="-122"/>
              </a:rPr>
              <a:t>R</a:t>
            </a:r>
            <a:r>
              <a:rPr lang="en-US" altLang="zh-CN" baseline="-25000">
                <a:sym typeface="宋体" pitchFamily="2" charset="-122"/>
              </a:rPr>
              <a:t>1</a:t>
            </a:r>
            <a:r>
              <a:rPr lang="en-US" altLang="zh-CN">
                <a:sym typeface="宋体" pitchFamily="2" charset="-122"/>
              </a:rPr>
              <a:t>=12</a:t>
            </a:r>
            <a:r>
              <a:rPr lang="zh-CN" altLang="en-US">
                <a:sym typeface="宋体" pitchFamily="2" charset="-122"/>
              </a:rPr>
              <a:t>欧。开关</a:t>
            </a:r>
            <a:r>
              <a:rPr lang="en-US" altLang="zh-CN">
                <a:sym typeface="宋体" pitchFamily="2" charset="-122"/>
              </a:rPr>
              <a:t>SA</a:t>
            </a:r>
            <a:r>
              <a:rPr lang="zh-CN" altLang="en-US">
                <a:sym typeface="宋体" pitchFamily="2" charset="-122"/>
              </a:rPr>
              <a:t>断开时， 通过的电流为</a:t>
            </a:r>
            <a:r>
              <a:rPr lang="en-US" altLang="zh-CN">
                <a:sym typeface="宋体" pitchFamily="2" charset="-122"/>
              </a:rPr>
              <a:t>0.3</a:t>
            </a:r>
            <a:r>
              <a:rPr lang="zh-CN" altLang="en-US">
                <a:sym typeface="宋体" pitchFamily="2" charset="-122"/>
              </a:rPr>
              <a:t>安；电键</a:t>
            </a:r>
            <a:r>
              <a:rPr lang="en-US" altLang="zh-CN">
                <a:sym typeface="宋体" pitchFamily="2" charset="-122"/>
              </a:rPr>
              <a:t>SA</a:t>
            </a:r>
            <a:r>
              <a:rPr lang="zh-CN" altLang="en-US">
                <a:sym typeface="宋体" pitchFamily="2" charset="-122"/>
              </a:rPr>
              <a:t>闭合时，电流表的示数为 </a:t>
            </a:r>
            <a:r>
              <a:rPr lang="en-US" altLang="zh-CN">
                <a:sym typeface="宋体" pitchFamily="2" charset="-122"/>
              </a:rPr>
              <a:t>0.5</a:t>
            </a:r>
            <a:r>
              <a:rPr lang="zh-CN" altLang="en-US">
                <a:sym typeface="宋体" pitchFamily="2" charset="-122"/>
              </a:rPr>
              <a:t>安。问：电源电压为多大？电阻</a:t>
            </a:r>
            <a:r>
              <a:rPr lang="en-US" altLang="zh-CN">
                <a:sym typeface="宋体" pitchFamily="2" charset="-122"/>
              </a:rPr>
              <a:t>R</a:t>
            </a:r>
            <a:r>
              <a:rPr lang="en-US" altLang="zh-CN" baseline="-25000">
                <a:sym typeface="宋体" pitchFamily="2" charset="-122"/>
              </a:rPr>
              <a:t>2</a:t>
            </a:r>
            <a:r>
              <a:rPr lang="zh-CN" altLang="en-US">
                <a:sym typeface="宋体" pitchFamily="2" charset="-122"/>
              </a:rPr>
              <a:t>的阻值为多大？</a:t>
            </a:r>
            <a:endParaRPr lang="zh-CN" altLang="en-US"/>
          </a:p>
        </p:txBody>
      </p:sp>
      <p:pic>
        <p:nvPicPr>
          <p:cNvPr id="22538" name="Picture 1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3429000"/>
            <a:ext cx="3260725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模板（2）">
  <a:themeElements>
    <a:clrScheme name="模板（2）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模板（2）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itchFamily="2" charset="-122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itchFamily="2" charset="-122"/>
            <a:ea typeface="黑体" pitchFamily="2" charset="-122"/>
          </a:defRPr>
        </a:defPPr>
      </a:lstStyle>
    </a:lnDef>
  </a:objectDefaults>
  <a:extraClrSchemeLst>
    <a:extraClrScheme>
      <a:clrScheme name="模板（2）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模板（2）</Template>
  <TotalTime>929</TotalTime>
  <Pages>0</Pages>
  <Words>1508</Words>
  <Characters>0</Characters>
  <Application>Microsoft Office PowerPoint</Application>
  <DocSecurity>0</DocSecurity>
  <PresentationFormat>全屏显示(4:3)</PresentationFormat>
  <Lines>0</Lines>
  <Paragraphs>216</Paragraphs>
  <Slides>30</Slides>
  <Notes>1</Notes>
  <HiddenSlides>14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楷体</vt:lpstr>
      <vt:lpstr>黑体</vt:lpstr>
      <vt:lpstr>宋体</vt:lpstr>
      <vt:lpstr>Arial</vt:lpstr>
      <vt:lpstr>Calibri</vt:lpstr>
      <vt:lpstr>Times New Roman</vt:lpstr>
      <vt:lpstr>Verdana</vt:lpstr>
      <vt:lpstr>模板（2）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Ei Bee Lim</cp:lastModifiedBy>
  <cp:revision>201</cp:revision>
  <cp:lastPrinted>1899-12-30T00:00:00Z</cp:lastPrinted>
  <dcterms:created xsi:type="dcterms:W3CDTF">2009-11-06T00:42:22Z</dcterms:created>
  <dcterms:modified xsi:type="dcterms:W3CDTF">2025-07-15T23:14:53Z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
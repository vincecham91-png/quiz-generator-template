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86" r:id="rId2"/>
    <p:sldId id="387" r:id="rId3"/>
    <p:sldId id="324" r:id="rId4"/>
    <p:sldId id="376" r:id="rId5"/>
    <p:sldId id="360" r:id="rId6"/>
    <p:sldId id="372" r:id="rId7"/>
    <p:sldId id="384" r:id="rId8"/>
    <p:sldId id="350" r:id="rId9"/>
    <p:sldId id="361" r:id="rId10"/>
    <p:sldId id="377" r:id="rId11"/>
    <p:sldId id="390" r:id="rId12"/>
    <p:sldId id="379" r:id="rId13"/>
    <p:sldId id="388" r:id="rId14"/>
    <p:sldId id="389" r:id="rId15"/>
    <p:sldId id="267" r:id="rId16"/>
    <p:sldId id="385" r:id="rId17"/>
    <p:sldId id="383" r:id="rId18"/>
    <p:sldId id="371" r:id="rId19"/>
    <p:sldId id="342" r:id="rId20"/>
    <p:sldId id="392" r:id="rId21"/>
    <p:sldId id="396" r:id="rId22"/>
    <p:sldId id="394" r:id="rId23"/>
    <p:sldId id="395" r:id="rId24"/>
    <p:sldId id="393" r:id="rId25"/>
    <p:sldId id="260" r:id="rId26"/>
    <p:sldId id="271" r:id="rId27"/>
    <p:sldId id="344" r:id="rId28"/>
    <p:sldId id="274" r:id="rId29"/>
    <p:sldId id="320" r:id="rId30"/>
    <p:sldId id="315" r:id="rId31"/>
    <p:sldId id="391" r:id="rId3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53D2FF"/>
    <a:srgbClr val="29FF8A"/>
    <a:srgbClr val="15C2FF"/>
    <a:srgbClr val="FF00FF"/>
    <a:srgbClr val="CCFFCC"/>
    <a:srgbClr val="006600"/>
    <a:srgbClr val="FFFFCC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8" autoAdjust="0"/>
    <p:restoredTop sz="93741" autoAdjust="0"/>
  </p:normalViewPr>
  <p:slideViewPr>
    <p:cSldViewPr>
      <p:cViewPr varScale="1">
        <p:scale>
          <a:sx n="78" d="100"/>
          <a:sy n="78" d="100"/>
        </p:scale>
        <p:origin x="1728" y="67"/>
      </p:cViewPr>
      <p:guideLst>
        <p:guide orient="horz" pos="2160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A3DE8-2D09-43C5-A50B-692A85C685FB}" type="datetimeFigureOut">
              <a:rPr lang="en-MY" smtClean="0"/>
              <a:pPr/>
              <a:t>30/4/2026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27C6-94AA-4CA2-B2D6-600BB610BE7D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52969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27C6-94AA-4CA2-B2D6-600BB610BE7D}" type="slidenum">
              <a:rPr lang="en-MY" smtClean="0"/>
              <a:pPr/>
              <a:t>18</a:t>
            </a:fld>
            <a:endParaRPr lang="en-MY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27C6-94AA-4CA2-B2D6-600BB610BE7D}" type="slidenum">
              <a:rPr lang="en-MY" smtClean="0"/>
              <a:pPr/>
              <a:t>24</a:t>
            </a:fld>
            <a:endParaRPr lang="en-MY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1(a) n=2;</a:t>
            </a:r>
            <a:r>
              <a:rPr lang="zh-CN" altLang="en-US" dirty="0"/>
              <a:t>拉力</a:t>
            </a:r>
            <a:r>
              <a:rPr lang="en-US" altLang="zh-CN" dirty="0"/>
              <a:t>=600/2=</a:t>
            </a:r>
            <a:r>
              <a:rPr lang="en-US" dirty="0"/>
              <a:t>300</a:t>
            </a:r>
            <a:r>
              <a:rPr lang="en-US" altLang="zh-CN" dirty="0"/>
              <a:t>N,</a:t>
            </a:r>
          </a:p>
          <a:p>
            <a:r>
              <a:rPr lang="en-US" altLang="zh-CN" dirty="0"/>
              <a:t>1(b) n=3;</a:t>
            </a:r>
            <a:r>
              <a:rPr lang="zh-CN" altLang="en-US" dirty="0"/>
              <a:t>拉力</a:t>
            </a:r>
            <a:r>
              <a:rPr lang="en-US" altLang="zh-CN" dirty="0"/>
              <a:t>=600/3=</a:t>
            </a:r>
            <a:r>
              <a:rPr lang="en-US" altLang="zh-CN" baseline="0" dirty="0"/>
              <a:t> </a:t>
            </a:r>
            <a:r>
              <a:rPr lang="en-US" altLang="zh-CN" dirty="0"/>
              <a:t>200N; </a:t>
            </a:r>
          </a:p>
          <a:p>
            <a:r>
              <a:rPr lang="en-US" altLang="zh-CN" dirty="0"/>
              <a:t>2) n=5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27C6-94AA-4CA2-B2D6-600BB610BE7D}" type="slidenum">
              <a:rPr lang="en-MY" smtClean="0"/>
              <a:pPr/>
              <a:t>30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9874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99491-760F-4558-B005-4F6AE7F26E87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49F6FA-E062-40D6-AB6B-0D0E7A1E51C3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5142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05D2-89EE-4050-AADF-4BCD830962AC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F29DF-1010-4381-83DF-8EE15067C80F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824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9E80B-FF58-40A3-B54F-3D9762794A1D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35662C-4B4A-4179-B327-1030BEF2E8CB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3140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2A010-0634-4A4E-A9FC-3688DBF8F7FF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46813-D984-4408-8728-3971C213D3B6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4091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021A9-8E06-4420-8AFB-014A3473A519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66741-430A-49EF-8177-0F008F5587EA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5450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FE19D-8672-483B-93B9-6BB3C3E7B068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13413-A038-473E-B4C2-0FEDB07D6A8A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006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E42A5-C312-48E6-85E3-3746D7D3BF01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F0963-E248-4D53-BB49-93FAEABFD43E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3380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DC668-0A88-4DF8-8778-E4DDBA21113B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A2FC7-6829-47E6-BD5E-8F0C8AB588D8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0471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496698-A321-4844-A31C-5B5A9103D882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89738-BC67-4F44-8A2F-F0F1830C3CB5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5765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208B1-4607-40EA-A378-DF444D3028B3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E2558-AD89-4D68-9A5D-2AC1C0A49EC1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6528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543AA6-51C9-45DC-8FDB-F9AC612A4A27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12C4B-2864-4649-BB65-3588245C8BFA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9190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796A388-F567-4EA2-9C7E-F8F497635698}" type="datetimeFigureOut">
              <a:rPr lang="zh-CN" altLang="en-US"/>
              <a:pPr>
                <a:defRPr/>
              </a:pPr>
              <a:t>2026/4/30</a:t>
            </a:fld>
            <a:endParaRPr 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9B013DC-7348-4CFC-AE0D-59F22F592AEA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" Target="slide18.xml"/><Relationship Id="rId7" Type="http://schemas.openxmlformats.org/officeDocument/2006/relationships/slide" Target="slide28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25.xml"/><Relationship Id="rId11" Type="http://schemas.openxmlformats.org/officeDocument/2006/relationships/image" Target="../media/image3.jpeg"/><Relationship Id="rId5" Type="http://schemas.openxmlformats.org/officeDocument/2006/relationships/slide" Target="slide5.xml"/><Relationship Id="rId10" Type="http://schemas.openxmlformats.org/officeDocument/2006/relationships/image" Target="../media/image2.jpeg"/><Relationship Id="rId4" Type="http://schemas.openxmlformats.org/officeDocument/2006/relationships/slide" Target="slide3.xml"/><Relationship Id="rId9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hyperlink" Target="&#23450;&#28369;&#36718;.sw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hyperlink" Target="&#21160;&#28369;&#36718;.sw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" Target="slide18.xml"/><Relationship Id="rId7" Type="http://schemas.openxmlformats.org/officeDocument/2006/relationships/hyperlink" Target="file:///C:\Users\SC_Owner\Documents\Hua%20Lian%202017\J3%20&#29289;&#29702;\2017%20&#29289;&#29702;&#19979;&#20876;%20Chp6%20&#31616;&#21333;&#26426;&#26800;\&#28369;&#36718;\&#20351;&#29992;&#21160;&#28369;&#36718;.sw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hyperlink" Target="&#20351;&#29992;&#21160;&#28369;&#36718;.swf" TargetMode="External"/><Relationship Id="rId4" Type="http://schemas.openxmlformats.org/officeDocument/2006/relationships/hyperlink" Target="&#20351;&#29992;&#23450;&#28369;&#36718;.swf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&#20351;&#29992;&#28369;&#36718;&#32452;.swf" TargetMode="Externa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" Target="slide18.xml"/><Relationship Id="rId7" Type="http://schemas.openxmlformats.org/officeDocument/2006/relationships/slide" Target="slide2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5.xml"/><Relationship Id="rId5" Type="http://schemas.openxmlformats.org/officeDocument/2006/relationships/slide" Target="slide5.xml"/><Relationship Id="rId10" Type="http://schemas.openxmlformats.org/officeDocument/2006/relationships/image" Target="../media/image27.jpeg"/><Relationship Id="rId4" Type="http://schemas.openxmlformats.org/officeDocument/2006/relationships/slide" Target="slide3.xml"/><Relationship Id="rId9" Type="http://schemas.openxmlformats.org/officeDocument/2006/relationships/image" Target="../media/image26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&#22283;&#20013;&#32048;&#35498;&#20998;&#20874;-&#29702;&#21270;%20&#31777;&#21934;&#27231;&#26800;--%20&#28369;&#36718;.mp4" TargetMode="External"/><Relationship Id="rId3" Type="http://schemas.openxmlformats.org/officeDocument/2006/relationships/slide" Target="slide3.xml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2" name="Rectangle 3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3" name="Rectangle 3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3476625" y="76200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4" name="Rectangle 35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5" name="Rectangle 36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6" name="Rectangle 3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48244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 dirty="0">
                <a:latin typeface="+mj-ea"/>
                <a:ea typeface="+mj-ea"/>
              </a:rPr>
              <a:t>6.3 </a:t>
            </a:r>
            <a:r>
              <a:rPr lang="zh-CN" altLang="en-US" sz="3600" dirty="0">
                <a:latin typeface="+mj-ea"/>
                <a:ea typeface="+mj-ea"/>
              </a:rPr>
              <a:t>滑轮和滑轮组</a:t>
            </a:r>
            <a:r>
              <a:rPr lang="en-US" altLang="zh-CN" sz="3600" dirty="0">
                <a:latin typeface="+mj-ea"/>
                <a:ea typeface="+mj-ea"/>
              </a:rPr>
              <a:t> 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00200" y="533400"/>
            <a:ext cx="5761861" cy="1256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890"/>
              </a:lnSpc>
            </a:pPr>
            <a:r>
              <a:rPr lang="zh-CN" altLang="en-US" sz="2400" spc="-35" dirty="0">
                <a:solidFill>
                  <a:srgbClr val="C00000"/>
                </a:solidFill>
                <a:latin typeface="+mj-ea"/>
                <a:ea typeface="+mj-ea"/>
                <a:cs typeface="SimSun"/>
              </a:rPr>
              <a:t>初三科学下册</a:t>
            </a:r>
            <a:endParaRPr lang="en-US" sz="4200" spc="-35" dirty="0">
              <a:solidFill>
                <a:srgbClr val="C00000"/>
              </a:solidFill>
              <a:latin typeface="+mj-ea"/>
              <a:ea typeface="+mj-ea"/>
              <a:cs typeface="SimSun"/>
            </a:endParaRPr>
          </a:p>
          <a:p>
            <a:pPr marL="12700">
              <a:lnSpc>
                <a:spcPts val="4890"/>
              </a:lnSpc>
            </a:pPr>
            <a:r>
              <a:rPr sz="4200" spc="-35">
                <a:solidFill>
                  <a:srgbClr val="C00000"/>
                </a:solidFill>
                <a:latin typeface="+mj-ea"/>
                <a:ea typeface="+mj-ea"/>
                <a:cs typeface="SimSun"/>
              </a:rPr>
              <a:t>第</a:t>
            </a:r>
            <a:r>
              <a:rPr lang="zh-CN" altLang="en-US" sz="4200" spc="-35" dirty="0">
                <a:solidFill>
                  <a:srgbClr val="C00000"/>
                </a:solidFill>
                <a:latin typeface="+mj-ea"/>
                <a:ea typeface="+mj-ea"/>
                <a:cs typeface="SimSun"/>
              </a:rPr>
              <a:t>六</a:t>
            </a:r>
            <a:r>
              <a:rPr sz="4200" spc="-45">
                <a:solidFill>
                  <a:srgbClr val="C00000"/>
                </a:solidFill>
                <a:latin typeface="+mj-ea"/>
                <a:ea typeface="+mj-ea"/>
                <a:cs typeface="SimSun"/>
              </a:rPr>
              <a:t>章</a:t>
            </a:r>
            <a:r>
              <a:rPr lang="en-US" sz="4200" spc="-45" dirty="0">
                <a:solidFill>
                  <a:srgbClr val="C00000"/>
                </a:solidFill>
                <a:latin typeface="+mj-ea"/>
                <a:ea typeface="+mj-ea"/>
                <a:cs typeface="SimSun"/>
              </a:rPr>
              <a:t> </a:t>
            </a:r>
            <a:r>
              <a:rPr lang="zh-CN" altLang="en-US" sz="4200" spc="-45" dirty="0">
                <a:solidFill>
                  <a:srgbClr val="C00000"/>
                </a:solidFill>
                <a:latin typeface="+mj-ea"/>
                <a:ea typeface="+mj-ea"/>
                <a:cs typeface="SimSun"/>
              </a:rPr>
              <a:t>简单机械的应用</a:t>
            </a:r>
            <a:endParaRPr sz="4200" dirty="0">
              <a:solidFill>
                <a:srgbClr val="C00000"/>
              </a:solidFill>
              <a:latin typeface="+mj-ea"/>
              <a:ea typeface="+mj-ea"/>
              <a:cs typeface="SimSun"/>
            </a:endParaRPr>
          </a:p>
        </p:txBody>
      </p:sp>
      <p:pic>
        <p:nvPicPr>
          <p:cNvPr id="15" name="Picture 11" descr="QQ截图2013010223174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64"/>
          <a:stretch>
            <a:fillRect/>
          </a:stretch>
        </p:blipFill>
        <p:spPr bwMode="auto">
          <a:xfrm>
            <a:off x="6629400" y="3727052"/>
            <a:ext cx="2514600" cy="2438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 descr="李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33800"/>
            <a:ext cx="2915978" cy="2431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 descr="newX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727052"/>
            <a:ext cx="3810000" cy="2445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827088" y="2708275"/>
            <a:ext cx="76327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marL="742950" indent="-742950" eaLnBrk="1" hangingPunct="1">
              <a:spcBef>
                <a:spcPct val="50000"/>
              </a:spcBef>
              <a:buAutoNum type="arabicPeriod"/>
            </a:pPr>
            <a:r>
              <a:rPr lang="zh-CN" altLang="en-US" sz="3600" b="0" dirty="0"/>
              <a:t>认识定滑轮，动滑轮及其特点。</a:t>
            </a:r>
            <a:endParaRPr lang="en-US" altLang="zh-CN" sz="3600" b="0" dirty="0"/>
          </a:p>
          <a:p>
            <a:pPr marL="742950" indent="-742950" eaLnBrk="1" hangingPunct="1">
              <a:spcBef>
                <a:spcPct val="50000"/>
              </a:spcBef>
              <a:buAutoNum type="arabicPeriod"/>
            </a:pPr>
            <a:r>
              <a:rPr lang="zh-CN" altLang="en-US" sz="3600" b="0" dirty="0"/>
              <a:t>知道滑轮组及其应用。</a:t>
            </a:r>
            <a:endParaRPr lang="en-US" altLang="zh-CN" sz="3600" b="0" dirty="0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11188" y="14843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4000" dirty="0">
                <a:latin typeface="Calibri" pitchFamily="34" charset="0"/>
              </a:rPr>
              <a:t>【</a:t>
            </a:r>
            <a:r>
              <a:rPr lang="zh-CN" altLang="en-US" sz="4000" dirty="0">
                <a:latin typeface="Calibri" pitchFamily="34" charset="0"/>
              </a:rPr>
              <a:t>教学目标</a:t>
            </a:r>
            <a:r>
              <a:rPr lang="en-US" altLang="zh-CN" sz="4000" dirty="0">
                <a:latin typeface="Calibri" pitchFamily="34" charset="0"/>
              </a:rPr>
              <a:t>】</a:t>
            </a:r>
          </a:p>
        </p:txBody>
      </p:sp>
      <p:sp>
        <p:nvSpPr>
          <p:cNvPr id="3077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78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79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80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81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82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4499992" y="3501008"/>
            <a:ext cx="403225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 b="0" dirty="0"/>
          </a:p>
          <a:p>
            <a:r>
              <a:rPr lang="zh-CN" altLang="en-US" b="0" dirty="0"/>
              <a:t>滑轮有什么特征？</a:t>
            </a:r>
            <a:endParaRPr lang="en-US" altLang="zh-CN" b="0" dirty="0"/>
          </a:p>
          <a:p>
            <a:pPr marL="457200" indent="-457200">
              <a:buFont typeface="Arial" pitchFamily="34" charset="0"/>
              <a:buChar char="•"/>
            </a:pPr>
            <a:r>
              <a:rPr lang="zh-CN" altLang="en-US" b="0" dirty="0"/>
              <a:t>有</a:t>
            </a:r>
            <a:r>
              <a:rPr lang="zh-CN" altLang="en-US" b="0" dirty="0">
                <a:solidFill>
                  <a:srgbClr val="C00000"/>
                </a:solidFill>
              </a:rPr>
              <a:t>轮子</a:t>
            </a:r>
            <a:endParaRPr lang="en-US" altLang="zh-CN" b="0" dirty="0">
              <a:solidFill>
                <a:srgbClr val="C0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zh-CN" altLang="en-US" b="0" dirty="0"/>
              <a:t>轮的外周有</a:t>
            </a:r>
            <a:r>
              <a:rPr lang="zh-CN" altLang="en-US" b="0" dirty="0">
                <a:solidFill>
                  <a:srgbClr val="C00000"/>
                </a:solidFill>
              </a:rPr>
              <a:t>槽</a:t>
            </a:r>
            <a:endParaRPr lang="en-US" altLang="zh-CN" b="0" dirty="0">
              <a:solidFill>
                <a:srgbClr val="C0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zh-CN" altLang="en-US" b="0" dirty="0"/>
              <a:t>可以绕固定</a:t>
            </a:r>
            <a:r>
              <a:rPr lang="zh-CN" altLang="en-US" b="0" dirty="0">
                <a:solidFill>
                  <a:srgbClr val="C00000"/>
                </a:solidFill>
              </a:rPr>
              <a:t>轴</a:t>
            </a:r>
            <a:r>
              <a:rPr lang="zh-CN" altLang="en-US" b="0" dirty="0"/>
              <a:t>转动</a:t>
            </a:r>
          </a:p>
        </p:txBody>
      </p:sp>
      <p:sp>
        <p:nvSpPr>
          <p:cNvPr id="7172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3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4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5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6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7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1913" y="472787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这是什么？</a:t>
            </a:r>
            <a:endParaRPr lang="en-MY" dirty="0"/>
          </a:p>
        </p:txBody>
      </p:sp>
      <p:pic>
        <p:nvPicPr>
          <p:cNvPr id="1027" name="Picture 3" descr="C:\Users\SC_Owner\Downloads\微型液压吊车+（GYQLY-4.5TC）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995" y="843533"/>
            <a:ext cx="4505325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SC_Owner\Downloads\滑轮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8" y="3740294"/>
            <a:ext cx="4148600" cy="311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79712" y="386104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solidFill>
                  <a:srgbClr val="C00000"/>
                </a:solidFill>
              </a:rPr>
              <a:t>滑轮</a:t>
            </a:r>
            <a:endParaRPr lang="en-US" altLang="zh-CN" b="0" dirty="0">
              <a:solidFill>
                <a:srgbClr val="C00000"/>
              </a:solidFill>
            </a:endParaRPr>
          </a:p>
        </p:txBody>
      </p:sp>
      <p:sp>
        <p:nvSpPr>
          <p:cNvPr id="4" name="Oval 3"/>
          <p:cNvSpPr/>
          <p:nvPr/>
        </p:nvSpPr>
        <p:spPr bwMode="auto">
          <a:xfrm>
            <a:off x="2915816" y="548680"/>
            <a:ext cx="1232785" cy="178159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19200" y="2209800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0" dirty="0">
                <a:solidFill>
                  <a:srgbClr val="C00000"/>
                </a:solidFill>
              </a:rPr>
              <a:t>吊车</a:t>
            </a:r>
            <a:endParaRPr lang="en-US" altLang="zh-CN" b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4356100" y="1833786"/>
            <a:ext cx="403225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滑轮</a:t>
            </a:r>
            <a:r>
              <a:rPr lang="zh-CN" altLang="en-US" b="0" dirty="0"/>
              <a:t>（pulley）是一个可以绕</a:t>
            </a:r>
            <a:r>
              <a:rPr lang="zh-CN" altLang="en-US" b="0" dirty="0">
                <a:solidFill>
                  <a:srgbClr val="C00000"/>
                </a:solidFill>
              </a:rPr>
              <a:t>轴</a:t>
            </a:r>
            <a:r>
              <a:rPr lang="zh-CN" altLang="en-US" b="0" dirty="0"/>
              <a:t>自由转动的</a:t>
            </a:r>
            <a:r>
              <a:rPr lang="zh-CN" altLang="en-US" b="0" dirty="0">
                <a:solidFill>
                  <a:srgbClr val="C00000"/>
                </a:solidFill>
              </a:rPr>
              <a:t>轮子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轮的边缘有</a:t>
            </a:r>
            <a:r>
              <a:rPr lang="zh-CN" altLang="en-US" b="0" dirty="0">
                <a:solidFill>
                  <a:srgbClr val="C00000"/>
                </a:solidFill>
              </a:rPr>
              <a:t>凹槽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eaLnBrk="1" hangingPunct="1">
              <a:spcBef>
                <a:spcPct val="50000"/>
              </a:spcBef>
            </a:pPr>
            <a:endParaRPr lang="en-US" altLang="zh-CN" b="0" dirty="0"/>
          </a:p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solidFill>
                  <a:srgbClr val="C00000"/>
                </a:solidFill>
              </a:rPr>
              <a:t>绳子</a:t>
            </a:r>
            <a:r>
              <a:rPr lang="zh-CN" altLang="en-US" b="0" dirty="0"/>
              <a:t>绕在凹槽中。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    </a:t>
            </a:r>
          </a:p>
        </p:txBody>
      </p:sp>
      <p:sp>
        <p:nvSpPr>
          <p:cNvPr id="7172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3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4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5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6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7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7178" name="Picture 10" descr="15.1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64"/>
          <a:stretch>
            <a:fillRect/>
          </a:stretch>
        </p:blipFill>
        <p:spPr bwMode="auto">
          <a:xfrm>
            <a:off x="609600" y="1447800"/>
            <a:ext cx="344914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20974" y="228600"/>
            <a:ext cx="3579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/>
              <a:t>什么是滑轮？</a:t>
            </a:r>
            <a:endParaRPr lang="en-MY" sz="4400" dirty="0"/>
          </a:p>
        </p:txBody>
      </p:sp>
    </p:spTree>
    <p:extLst>
      <p:ext uri="{BB962C8B-B14F-4D97-AF65-F5344CB8AC3E}">
        <p14:creationId xmlns:p14="http://schemas.microsoft.com/office/powerpoint/2010/main" val="19155152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4572000" y="985421"/>
            <a:ext cx="4498975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分为两种滑轮：</a:t>
            </a:r>
            <a:endParaRPr lang="en-US" altLang="zh-CN" b="0" dirty="0"/>
          </a:p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图</a:t>
            </a:r>
            <a:r>
              <a:rPr lang="en-US" altLang="zh-CN" b="0" dirty="0"/>
              <a:t>(</a:t>
            </a:r>
            <a:r>
              <a:rPr lang="zh-CN" altLang="en-US" b="0" dirty="0"/>
              <a:t>a</a:t>
            </a:r>
            <a:r>
              <a:rPr lang="en-US" altLang="zh-CN" b="0" dirty="0"/>
              <a:t>)</a:t>
            </a:r>
            <a:r>
              <a:rPr lang="zh-CN" altLang="en-US" b="0" dirty="0"/>
              <a:t>中</a:t>
            </a:r>
            <a:r>
              <a:rPr lang="zh-CN" altLang="en-US" b="0" dirty="0">
                <a:solidFill>
                  <a:srgbClr val="C00000"/>
                </a:solidFill>
              </a:rPr>
              <a:t>固定不动</a:t>
            </a:r>
            <a:r>
              <a:rPr lang="zh-CN" altLang="en-US" b="0" dirty="0"/>
              <a:t>的滑轮叫</a:t>
            </a:r>
            <a:r>
              <a:rPr lang="en-US" altLang="zh-CN" b="0" dirty="0"/>
              <a:t>_________</a:t>
            </a:r>
            <a:r>
              <a:rPr lang="zh-CN" altLang="en-US" b="0" dirty="0"/>
              <a:t>（fixed pulley）。</a:t>
            </a:r>
            <a:endParaRPr lang="en-US" altLang="zh-CN" b="0" dirty="0"/>
          </a:p>
          <a:p>
            <a:pPr eaLnBrk="1" hangingPunct="1">
              <a:spcBef>
                <a:spcPct val="50000"/>
              </a:spcBef>
            </a:pPr>
            <a:endParaRPr lang="en-US" altLang="zh-CN" b="0" dirty="0"/>
          </a:p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图</a:t>
            </a:r>
            <a:r>
              <a:rPr lang="en-US" altLang="zh-CN" b="0" dirty="0"/>
              <a:t>(</a:t>
            </a:r>
            <a:r>
              <a:rPr lang="zh-CN" altLang="en-US" b="0" dirty="0"/>
              <a:t>b</a:t>
            </a:r>
            <a:r>
              <a:rPr lang="en-US" altLang="zh-CN" b="0" dirty="0"/>
              <a:t>)</a:t>
            </a:r>
            <a:r>
              <a:rPr lang="zh-CN" altLang="en-US" b="0" dirty="0"/>
              <a:t>中的那种</a:t>
            </a:r>
            <a:r>
              <a:rPr lang="zh-CN" altLang="en-US" b="0" dirty="0">
                <a:solidFill>
                  <a:srgbClr val="C00000"/>
                </a:solidFill>
              </a:rPr>
              <a:t>随重物一起移动</a:t>
            </a:r>
            <a:r>
              <a:rPr lang="zh-CN" altLang="en-US" b="0" dirty="0"/>
              <a:t>的滑轮叫</a:t>
            </a:r>
            <a:r>
              <a:rPr lang="en-US" altLang="zh-CN" b="0" dirty="0"/>
              <a:t>_________</a:t>
            </a:r>
            <a:r>
              <a:rPr lang="zh-CN" altLang="en-US" b="0" dirty="0"/>
              <a:t>（movable pulley）。</a:t>
            </a:r>
            <a:endParaRPr lang="zh-CN" altLang="en-US" sz="1800" b="0" dirty="0">
              <a:latin typeface="Arial" charset="0"/>
              <a:ea typeface="宋体" pitchFamily="2" charset="-122"/>
            </a:endParaRPr>
          </a:p>
        </p:txBody>
      </p:sp>
      <p:sp>
        <p:nvSpPr>
          <p:cNvPr id="819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7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8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9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200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201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8202" name="Picture 10" descr="15.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8"/>
          <a:stretch>
            <a:fillRect/>
          </a:stretch>
        </p:blipFill>
        <p:spPr bwMode="auto">
          <a:xfrm>
            <a:off x="273050" y="1006475"/>
            <a:ext cx="4222750" cy="554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09800" y="76200"/>
            <a:ext cx="47115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/>
              <a:t>滑轮有哪些种类？</a:t>
            </a:r>
            <a:endParaRPr lang="en-MY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5413375" y="215324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定滑轮</a:t>
            </a:r>
            <a:endParaRPr lang="en-MY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79975" y="510540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动滑轮</a:t>
            </a:r>
            <a:endParaRPr lang="en-MY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648595" y="6021288"/>
            <a:ext cx="623577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0" dirty="0"/>
              <a:t>________         	   ________  </a:t>
            </a:r>
          </a:p>
        </p:txBody>
      </p:sp>
      <p:sp>
        <p:nvSpPr>
          <p:cNvPr id="819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7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8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9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200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201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1026" name="Picture 2" descr="C:\Users\SC_Owner\Downloads\200811181101384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1" y="941964"/>
            <a:ext cx="5963909" cy="4662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825238" y="580961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定滑轮</a:t>
            </a:r>
            <a:endParaRPr lang="en-MY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49673" y="5809618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动滑轮</a:t>
            </a:r>
            <a:endParaRPr lang="en-MY" dirty="0"/>
          </a:p>
        </p:txBody>
      </p:sp>
      <p:sp>
        <p:nvSpPr>
          <p:cNvPr id="16" name="TextBox 15"/>
          <p:cNvSpPr txBox="1"/>
          <p:nvPr/>
        </p:nvSpPr>
        <p:spPr>
          <a:xfrm>
            <a:off x="537950" y="304800"/>
            <a:ext cx="327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滑轮有两种：</a:t>
            </a:r>
            <a:endParaRPr lang="en-MY" sz="4000" dirty="0"/>
          </a:p>
        </p:txBody>
      </p:sp>
    </p:spTree>
    <p:extLst>
      <p:ext uri="{BB962C8B-B14F-4D97-AF65-F5344CB8AC3E}">
        <p14:creationId xmlns:p14="http://schemas.microsoft.com/office/powerpoint/2010/main" val="30216668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648595" y="6021288"/>
            <a:ext cx="623577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0" dirty="0"/>
              <a:t>________         	   ________  </a:t>
            </a:r>
          </a:p>
        </p:txBody>
      </p:sp>
      <p:sp>
        <p:nvSpPr>
          <p:cNvPr id="819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7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8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9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200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201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7150" y="357188"/>
            <a:ext cx="327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滑轮有两种：</a:t>
            </a:r>
            <a:endParaRPr lang="en-MY" sz="4000" dirty="0"/>
          </a:p>
        </p:txBody>
      </p:sp>
      <p:pic>
        <p:nvPicPr>
          <p:cNvPr id="1027" name="Picture 3" descr="C:\Users\SC_Owner\Downloads\2008111811013860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986107"/>
            <a:ext cx="6018931" cy="470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825238" y="580961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定滑轮</a:t>
            </a:r>
            <a:endParaRPr lang="en-MY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49673" y="5809618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动滑轮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367139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9220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9221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9222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9223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9224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39750" y="914400"/>
            <a:ext cx="80645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latin typeface="Verdana" pitchFamily="34" charset="0"/>
              </a:rPr>
              <a:t>如下图，先用弹簧秤直接挂钩码；再通过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</a:rPr>
              <a:t>定滑轮</a:t>
            </a:r>
            <a:r>
              <a:rPr lang="zh-CN" altLang="en-US" b="0" dirty="0">
                <a:latin typeface="Verdana" pitchFamily="34" charset="0"/>
              </a:rPr>
              <a:t>拉钩码。想一想，这两次弹簧秤的读数会一样吗？</a:t>
            </a:r>
            <a:r>
              <a:rPr lang="zh-CN" altLang="en-US" dirty="0">
                <a:latin typeface="Verdana" pitchFamily="34" charset="0"/>
              </a:rPr>
              <a:t>　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612775" y="228600"/>
            <a:ext cx="79216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Verdana" pitchFamily="34" charset="0"/>
              </a:rPr>
              <a:t>定滑轮的特点</a:t>
            </a:r>
            <a:endParaRPr lang="en-US" altLang="zh-CN" sz="3600" dirty="0">
              <a:latin typeface="Verdana" pitchFamily="34" charset="0"/>
            </a:endParaRPr>
          </a:p>
        </p:txBody>
      </p:sp>
      <p:pic>
        <p:nvPicPr>
          <p:cNvPr id="10251" name="Picture 11" descr="15.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43"/>
          <a:stretch>
            <a:fillRect/>
          </a:stretch>
        </p:blipFill>
        <p:spPr bwMode="auto">
          <a:xfrm>
            <a:off x="401637" y="2743200"/>
            <a:ext cx="2951163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3886200" y="4648200"/>
            <a:ext cx="450492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latin typeface="Verdana" pitchFamily="34" charset="0"/>
              </a:rPr>
              <a:t>结论：</a:t>
            </a:r>
            <a:r>
              <a:rPr lang="zh-CN" altLang="en-US" dirty="0">
                <a:latin typeface="Verdana" pitchFamily="34" charset="0"/>
              </a:rPr>
              <a:t>定滑轮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</a:rPr>
              <a:t>不省力，</a:t>
            </a:r>
            <a:r>
              <a:rPr lang="zh-CN" altLang="en-US" dirty="0">
                <a:latin typeface="Verdana" pitchFamily="34" charset="0"/>
              </a:rPr>
              <a:t>但是能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</a:rPr>
              <a:t>改变施力的方向</a:t>
            </a:r>
            <a:r>
              <a:rPr lang="zh-CN" altLang="en-US" b="0" dirty="0">
                <a:latin typeface="Verdana" pitchFamily="34" charset="0"/>
              </a:rPr>
              <a:t>。</a:t>
            </a:r>
          </a:p>
        </p:txBody>
      </p:sp>
      <p:pic>
        <p:nvPicPr>
          <p:cNvPr id="2063" name="Picture 15" descr="图片1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33"/>
          <a:stretch>
            <a:fillRect/>
          </a:stretch>
        </p:blipFill>
        <p:spPr bwMode="auto">
          <a:xfrm>
            <a:off x="4495800" y="2411852"/>
            <a:ext cx="2743200" cy="2083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71600" y="54864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solidFill>
                  <a:srgbClr val="FF0000"/>
                </a:solidFill>
                <a:latin typeface="Verdana" pitchFamily="34" charset="0"/>
              </a:rPr>
              <a:t>一样</a:t>
            </a:r>
            <a:endParaRPr lang="en-MY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 autoUpdateAnimBg="0"/>
      <p:bldP spid="10250" grpId="0" autoUpdateAnimBg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4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5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6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7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8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539750" y="1100138"/>
            <a:ext cx="828072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latin typeface="Verdana" pitchFamily="34" charset="0"/>
              </a:rPr>
              <a:t>照下图那样，用弹簧秤通过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</a:rPr>
              <a:t>动滑轮</a:t>
            </a:r>
            <a:r>
              <a:rPr lang="zh-CN" altLang="en-US" b="0" dirty="0">
                <a:latin typeface="Verdana" pitchFamily="34" charset="0"/>
              </a:rPr>
              <a:t>来拉钩码。弹簧秤的读数是多少？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612775" y="304800"/>
            <a:ext cx="79216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Verdana" pitchFamily="34" charset="0"/>
              </a:rPr>
              <a:t>动滑轮的特点</a:t>
            </a:r>
            <a:endParaRPr lang="en-US" altLang="zh-CN" sz="3600" dirty="0">
              <a:latin typeface="Verdana" pitchFamily="34" charset="0"/>
            </a:endParaRP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3276600" y="5105400"/>
            <a:ext cx="5181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latin typeface="Verdana" pitchFamily="34" charset="0"/>
              </a:rPr>
              <a:t>结论：</a:t>
            </a:r>
            <a:r>
              <a:rPr lang="zh-CN" altLang="en-US" dirty="0">
                <a:latin typeface="Verdana" pitchFamily="34" charset="0"/>
              </a:rPr>
              <a:t>动滑轮能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</a:rPr>
              <a:t>省一半的力</a:t>
            </a:r>
            <a:r>
              <a:rPr lang="zh-CN" altLang="en-US" b="0" dirty="0">
                <a:latin typeface="Verdana" pitchFamily="34" charset="0"/>
              </a:rPr>
              <a:t>。</a:t>
            </a:r>
            <a:endParaRPr lang="zh-CN" altLang="en-US" sz="1800" b="0" dirty="0">
              <a:latin typeface="Arial" charset="0"/>
              <a:ea typeface="宋体" pitchFamily="2" charset="-122"/>
            </a:endParaRPr>
          </a:p>
        </p:txBody>
      </p:sp>
      <p:pic>
        <p:nvPicPr>
          <p:cNvPr id="11276" name="Picture 12" descr="15.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68"/>
          <a:stretch>
            <a:fillRect/>
          </a:stretch>
        </p:blipFill>
        <p:spPr bwMode="auto">
          <a:xfrm>
            <a:off x="384175" y="2286000"/>
            <a:ext cx="266382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7" name="Picture 15" descr="图片2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698" y="2643725"/>
            <a:ext cx="3758902" cy="227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70892" y="3602883"/>
            <a:ext cx="677108" cy="211211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会省力吗？</a:t>
            </a:r>
            <a:endParaRPr lang="en-MY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3" grpId="0" autoUpdateAnimBg="0"/>
      <p:bldP spid="11274" grpId="0" autoUpdateAnimBg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4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5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6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7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8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3393449" y="1143000"/>
            <a:ext cx="5750551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r>
              <a:rPr lang="zh-CN" altLang="en-US" b="0" dirty="0"/>
              <a:t>要把船帆拉上去，要是没有滑轮，人就得先爬到桅杆顶上把船帆拉上去，然后再下来。       </a:t>
            </a:r>
            <a:endParaRPr lang="en-US" altLang="zh-CN" b="0" dirty="0"/>
          </a:p>
          <a:p>
            <a:endParaRPr lang="en-US" altLang="zh-CN" b="0" dirty="0">
              <a:solidFill>
                <a:schemeClr val="accent6"/>
              </a:solidFill>
            </a:endParaRPr>
          </a:p>
          <a:p>
            <a:endParaRPr lang="en-US" altLang="zh-CN" b="0" dirty="0">
              <a:solidFill>
                <a:schemeClr val="accent6"/>
              </a:solidFill>
            </a:endParaRPr>
          </a:p>
          <a:p>
            <a:r>
              <a:rPr lang="zh-CN" altLang="en-US" b="0" dirty="0"/>
              <a:t>有了</a:t>
            </a:r>
            <a:r>
              <a:rPr lang="zh-CN" altLang="en-US" b="0" dirty="0">
                <a:solidFill>
                  <a:srgbClr val="C00000"/>
                </a:solidFill>
              </a:rPr>
              <a:t>定滑轮</a:t>
            </a:r>
            <a:r>
              <a:rPr lang="zh-CN" altLang="en-US" b="0" dirty="0"/>
              <a:t>，我们就可以不必爬到桅杆顶上，只需站在甲板上，就可以将船帆拉上去。</a:t>
            </a:r>
            <a:endParaRPr lang="en-US" altLang="zh-CN" b="0" dirty="0">
              <a:solidFill>
                <a:srgbClr val="FF0000"/>
              </a:solidFill>
            </a:endParaRPr>
          </a:p>
          <a:p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因为定滑轮可</a:t>
            </a:r>
            <a:r>
              <a:rPr lang="zh-CN" altLang="en-US" dirty="0">
                <a:solidFill>
                  <a:srgbClr val="C00000"/>
                </a:solidFill>
              </a:rPr>
              <a:t>改变力的方向</a:t>
            </a:r>
            <a:r>
              <a:rPr lang="zh-CN" altLang="en-US" b="0" dirty="0">
                <a:solidFill>
                  <a:srgbClr val="C00000"/>
                </a:solidFill>
              </a:rPr>
              <a:t>。</a:t>
            </a:r>
            <a:endParaRPr lang="zh-CN" altLang="en-US" b="0" dirty="0">
              <a:solidFill>
                <a:srgbClr val="C00000"/>
              </a:solidFill>
              <a:latin typeface="Verdana" pitchFamily="34" charset="0"/>
            </a:endParaRP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2460625" y="228600"/>
            <a:ext cx="4244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 dirty="0">
                <a:latin typeface="Verdana" pitchFamily="34" charset="0"/>
              </a:rPr>
              <a:t>为何用定滑轮呢？</a:t>
            </a:r>
            <a:endParaRPr lang="en-US" altLang="zh-CN" sz="3600" dirty="0">
              <a:latin typeface="Verdan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3017051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481888" y="263691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solidFill>
                  <a:srgbClr val="C00000"/>
                </a:solidFill>
              </a:rPr>
              <a:t>麻烦！</a:t>
            </a:r>
            <a:endParaRPr lang="en-MY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81888" y="5076473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solidFill>
                  <a:srgbClr val="C00000"/>
                </a:solidFill>
              </a:rPr>
              <a:t>方便！</a:t>
            </a:r>
            <a:endParaRPr lang="en-MY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9442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4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5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6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7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8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3074" name="Picture 2" descr="C:\Users\SC_Owner\Downloads\5579794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143000"/>
            <a:ext cx="3546644" cy="293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4365104"/>
            <a:ext cx="836286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/>
              <a:t>旗杆上的滑轮是</a:t>
            </a:r>
            <a:r>
              <a:rPr lang="zh-CN" altLang="en-US" b="0" dirty="0">
                <a:solidFill>
                  <a:srgbClr val="C00000"/>
                </a:solidFill>
              </a:rPr>
              <a:t>定滑轮</a:t>
            </a:r>
            <a:r>
              <a:rPr lang="zh-CN" altLang="en-US" b="0" dirty="0"/>
              <a:t>还是</a:t>
            </a:r>
            <a:r>
              <a:rPr lang="zh-CN" altLang="en-US" b="0" dirty="0">
                <a:solidFill>
                  <a:srgbClr val="C00000"/>
                </a:solidFill>
              </a:rPr>
              <a:t>动滑轮</a:t>
            </a:r>
            <a:r>
              <a:rPr lang="zh-CN" altLang="en-US" b="0" dirty="0"/>
              <a:t>？</a:t>
            </a:r>
            <a:endParaRPr lang="en-US" altLang="zh-CN" b="0" dirty="0"/>
          </a:p>
          <a:p>
            <a:endParaRPr lang="zh-CN" altLang="en-US" b="0" dirty="0">
              <a:latin typeface="Verdana" pitchFamily="34" charset="0"/>
            </a:endParaRPr>
          </a:p>
          <a:p>
            <a:r>
              <a:rPr lang="zh-CN" altLang="en-US" b="0" dirty="0"/>
              <a:t>旗杆上的滑轮的轴是固定在旗杆上的，它并不随旗的升降而升降，所以这个滑轮是</a:t>
            </a:r>
            <a:r>
              <a:rPr lang="zh-CN" altLang="en-US" dirty="0">
                <a:solidFill>
                  <a:srgbClr val="C00000"/>
                </a:solidFill>
              </a:rPr>
              <a:t>定滑轮</a:t>
            </a:r>
            <a:r>
              <a:rPr lang="zh-CN" altLang="en-US" b="0" dirty="0">
                <a:solidFill>
                  <a:srgbClr val="C00000"/>
                </a:solidFill>
              </a:rPr>
              <a:t>。</a:t>
            </a:r>
            <a:endParaRPr lang="en-MY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11172" y="228600"/>
            <a:ext cx="50754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想一想 （课本</a:t>
            </a:r>
            <a:r>
              <a:rPr lang="en-US" altLang="zh-CN" sz="4000" dirty="0"/>
              <a:t>85</a:t>
            </a:r>
            <a:r>
              <a:rPr lang="zh-CN" altLang="en-US" sz="4000" dirty="0"/>
              <a:t>页）</a:t>
            </a:r>
            <a:endParaRPr lang="en-MY" sz="4000" dirty="0"/>
          </a:p>
        </p:txBody>
      </p:sp>
    </p:spTree>
    <p:extLst>
      <p:ext uri="{BB962C8B-B14F-4D97-AF65-F5344CB8AC3E}">
        <p14:creationId xmlns:p14="http://schemas.microsoft.com/office/powerpoint/2010/main" val="2291463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69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0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1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2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3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11274" name="Picture 10" descr="15.2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88"/>
          <a:stretch>
            <a:fillRect/>
          </a:stretch>
        </p:blipFill>
        <p:spPr bwMode="auto">
          <a:xfrm>
            <a:off x="180975" y="1600200"/>
            <a:ext cx="417512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7504" y="228600"/>
            <a:ext cx="8960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/>
              <a:t>使用</a:t>
            </a:r>
            <a:r>
              <a:rPr lang="zh-CN" altLang="en-US" b="0" dirty="0">
                <a:solidFill>
                  <a:srgbClr val="C00000"/>
                </a:solidFill>
              </a:rPr>
              <a:t>定滑轮</a:t>
            </a:r>
            <a:r>
              <a:rPr lang="zh-CN" altLang="en-US" b="0" dirty="0"/>
              <a:t>不省力，使用</a:t>
            </a:r>
            <a:r>
              <a:rPr lang="zh-CN" altLang="en-US" b="0" dirty="0">
                <a:solidFill>
                  <a:srgbClr val="C00000"/>
                </a:solidFill>
              </a:rPr>
              <a:t>动滑轮</a:t>
            </a:r>
            <a:r>
              <a:rPr lang="zh-CN" altLang="en-US" b="0" dirty="0"/>
              <a:t>可以省一半的力。</a:t>
            </a:r>
            <a:endParaRPr lang="en-US" altLang="zh-CN" b="0" dirty="0"/>
          </a:p>
          <a:p>
            <a:r>
              <a:rPr lang="zh-CN" altLang="en-US" b="0" dirty="0"/>
              <a:t>为什么？</a:t>
            </a:r>
            <a:endParaRPr lang="en-MY" dirty="0"/>
          </a:p>
        </p:txBody>
      </p:sp>
      <p:sp>
        <p:nvSpPr>
          <p:cNvPr id="3" name="Rectangle 2"/>
          <p:cNvSpPr/>
          <p:nvPr/>
        </p:nvSpPr>
        <p:spPr>
          <a:xfrm>
            <a:off x="4495800" y="1614428"/>
            <a:ext cx="45594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滑轮可以看作</a:t>
            </a:r>
            <a:r>
              <a:rPr lang="en-US" altLang="zh-CN" b="0" dirty="0">
                <a:latin typeface="黑体" pitchFamily="49" charset="-122"/>
                <a:ea typeface="黑体" pitchFamily="49" charset="-122"/>
              </a:rPr>
              <a:t>_______</a:t>
            </a:r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的杠杆。</a:t>
            </a:r>
            <a:endParaRPr lang="en-US" altLang="zh-CN" b="0" dirty="0">
              <a:latin typeface="黑体" pitchFamily="49" charset="-122"/>
              <a:ea typeface="黑体" pitchFamily="49" charset="-122"/>
            </a:endParaRPr>
          </a:p>
          <a:p>
            <a:endParaRPr lang="en-US" altLang="zh-CN" b="0" dirty="0"/>
          </a:p>
          <a:p>
            <a:r>
              <a:rPr lang="zh-CN" altLang="en-US" dirty="0">
                <a:solidFill>
                  <a:srgbClr val="C00000"/>
                </a:solidFill>
                <a:latin typeface="宋体" pitchFamily="2" charset="-122"/>
              </a:rPr>
              <a:t>定滑轮</a:t>
            </a:r>
            <a:r>
              <a:rPr lang="zh-CN" altLang="en-US" b="0" dirty="0">
                <a:latin typeface="宋体" pitchFamily="2" charset="-122"/>
              </a:rPr>
              <a:t>实质是个</a:t>
            </a:r>
            <a:r>
              <a:rPr lang="en-US" altLang="zh-CN" b="0" dirty="0">
                <a:latin typeface="宋体" pitchFamily="2" charset="-122"/>
              </a:rPr>
              <a:t>______</a:t>
            </a:r>
            <a:r>
              <a:rPr lang="zh-CN" altLang="en-US" b="0" dirty="0">
                <a:latin typeface="宋体" pitchFamily="2" charset="-122"/>
              </a:rPr>
              <a:t>杠杆</a:t>
            </a:r>
            <a:r>
              <a:rPr lang="en-MY" altLang="zh-CN" b="0" dirty="0">
                <a:latin typeface="宋体" pitchFamily="2" charset="-122"/>
              </a:rPr>
              <a:t>(a)</a:t>
            </a:r>
            <a:r>
              <a:rPr lang="zh-CN" altLang="en-US" b="0" dirty="0">
                <a:latin typeface="宋体" pitchFamily="2" charset="-122"/>
              </a:rPr>
              <a:t>。</a:t>
            </a:r>
            <a:endParaRPr lang="en-US" altLang="zh-CN" b="0" dirty="0">
              <a:latin typeface="宋体" pitchFamily="2" charset="-122"/>
            </a:endParaRPr>
          </a:p>
          <a:p>
            <a:endParaRPr lang="en-US" altLang="zh-CN" b="0" dirty="0">
              <a:latin typeface="宋体" pitchFamily="2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宋体" pitchFamily="2" charset="-122"/>
              </a:rPr>
              <a:t>动滑轮</a:t>
            </a:r>
            <a:r>
              <a:rPr lang="zh-CN" altLang="en-US" b="0" dirty="0">
                <a:latin typeface="宋体" pitchFamily="2" charset="-122"/>
              </a:rPr>
              <a:t>实质是个动力臂为阻力臂长二倍的</a:t>
            </a:r>
            <a:r>
              <a:rPr lang="en-US" altLang="zh-CN" b="0" dirty="0">
                <a:latin typeface="宋体" pitchFamily="2" charset="-122"/>
              </a:rPr>
              <a:t>______</a:t>
            </a:r>
            <a:r>
              <a:rPr lang="zh-CN" altLang="en-US" b="0" dirty="0">
                <a:latin typeface="宋体" pitchFamily="2" charset="-122"/>
              </a:rPr>
              <a:t>杠杆</a:t>
            </a:r>
            <a:r>
              <a:rPr lang="en-MY" altLang="zh-CN" b="0">
                <a:latin typeface="宋体" pitchFamily="2" charset="-122"/>
              </a:rPr>
              <a:t>(b)</a:t>
            </a:r>
            <a:r>
              <a:rPr lang="zh-CN" altLang="en-US" b="0">
                <a:latin typeface="宋体" pitchFamily="2" charset="-122"/>
              </a:rPr>
              <a:t>。</a:t>
            </a:r>
            <a:endParaRPr lang="en-US" altLang="zh-CN" b="0" dirty="0">
              <a:latin typeface="宋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87206" y="160020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变形</a:t>
            </a:r>
            <a:endParaRPr lang="en-MY" sz="2800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31223" y="2961620"/>
            <a:ext cx="1008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宋体" pitchFamily="2" charset="-122"/>
              </a:rPr>
              <a:t>等臂</a:t>
            </a:r>
            <a:endParaRPr lang="en-MY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11823" y="5476220"/>
            <a:ext cx="1008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宋体" pitchFamily="2" charset="-122"/>
              </a:rPr>
              <a:t>省力</a:t>
            </a:r>
            <a:endParaRPr lang="en-MY" dirty="0">
              <a:solidFill>
                <a:srgbClr val="C00000"/>
              </a:solidFill>
            </a:endParaRPr>
          </a:p>
        </p:txBody>
      </p:sp>
      <p:sp>
        <p:nvSpPr>
          <p:cNvPr id="8" name="Minus 7"/>
          <p:cNvSpPr/>
          <p:nvPr/>
        </p:nvSpPr>
        <p:spPr bwMode="auto">
          <a:xfrm>
            <a:off x="2154238" y="2609544"/>
            <a:ext cx="914400" cy="914400"/>
          </a:xfrm>
          <a:prstGeom prst="mathMinus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539552" y="3356992"/>
            <a:ext cx="1296144" cy="0"/>
          </a:xfrm>
          <a:prstGeom prst="line">
            <a:avLst/>
          </a:prstGeom>
          <a:noFill/>
          <a:ln w="508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Isosceles Triangle 12"/>
          <p:cNvSpPr/>
          <p:nvPr/>
        </p:nvSpPr>
        <p:spPr bwMode="auto">
          <a:xfrm>
            <a:off x="971600" y="3403848"/>
            <a:ext cx="360040" cy="313184"/>
          </a:xfrm>
          <a:prstGeom prst="triangle">
            <a:avLst/>
          </a:prstGeom>
          <a:solidFill>
            <a:srgbClr val="FFC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cxnSp>
        <p:nvCxnSpPr>
          <p:cNvPr id="25" name="Straight Connector 24"/>
          <p:cNvCxnSpPr/>
          <p:nvPr/>
        </p:nvCxnSpPr>
        <p:spPr bwMode="auto">
          <a:xfrm>
            <a:off x="2456570" y="4283090"/>
            <a:ext cx="1296144" cy="0"/>
          </a:xfrm>
          <a:prstGeom prst="line">
            <a:avLst/>
          </a:prstGeom>
          <a:noFill/>
          <a:ln w="508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Isosceles Triangle 25"/>
          <p:cNvSpPr/>
          <p:nvPr/>
        </p:nvSpPr>
        <p:spPr bwMode="auto">
          <a:xfrm>
            <a:off x="3563888" y="4329946"/>
            <a:ext cx="360040" cy="313184"/>
          </a:xfrm>
          <a:prstGeom prst="triangle">
            <a:avLst/>
          </a:prstGeom>
          <a:solidFill>
            <a:srgbClr val="FFC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53204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13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69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0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1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2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3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" name="文字方塊 42"/>
          <p:cNvSpPr txBox="1">
            <a:spLocks noChangeArrowheads="1"/>
          </p:cNvSpPr>
          <p:nvPr/>
        </p:nvSpPr>
        <p:spPr bwMode="auto">
          <a:xfrm>
            <a:off x="360363" y="1472625"/>
            <a:ext cx="79454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23850" indent="-3238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TW" altLang="en-US" sz="3200" b="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原理：</a:t>
            </a:r>
            <a:r>
              <a:rPr lang="zh-CN" altLang="en-US" sz="3200" b="0" dirty="0">
                <a:solidFill>
                  <a:srgbClr val="FF0000"/>
                </a:solidFill>
                <a:latin typeface="SimHei" pitchFamily="49" charset="-122"/>
                <a:ea typeface="SimHei" pitchFamily="49" charset="-122"/>
                <a:cs typeface="Times New Roman" pitchFamily="18" charset="0"/>
              </a:rPr>
              <a:t>等臂</a:t>
            </a:r>
            <a:r>
              <a:rPr lang="zh-CN" altLang="en-US" b="0" dirty="0">
                <a:solidFill>
                  <a:srgbClr val="FF0000"/>
                </a:solidFill>
                <a:latin typeface="SimHei" pitchFamily="49" charset="-122"/>
                <a:ea typeface="SimHei" pitchFamily="49" charset="-122"/>
                <a:cs typeface="Times New Roman" pitchFamily="18" charset="0"/>
              </a:rPr>
              <a:t>杠杆</a:t>
            </a:r>
            <a:r>
              <a:rPr lang="zh-TW" altLang="en-US" sz="3200" b="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11" name="標題 1"/>
          <p:cNvSpPr txBox="1">
            <a:spLocks/>
          </p:cNvSpPr>
          <p:nvPr/>
        </p:nvSpPr>
        <p:spPr bwMode="auto">
          <a:xfrm>
            <a:off x="198886" y="197767"/>
            <a:ext cx="2428898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zh-TW" altLang="en-US" sz="400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定滑</a:t>
            </a:r>
            <a:r>
              <a:rPr kumimoji="0" lang="zh-CN" altLang="en-US" sz="400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轮</a:t>
            </a:r>
            <a:r>
              <a:rPr kumimoji="0" lang="en-US" altLang="zh-TW" sz="400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:</a:t>
            </a:r>
            <a:endParaRPr kumimoji="0" lang="zh-TW" altLang="en-US" sz="4000" dirty="0">
              <a:latin typeface="SimHei" pitchFamily="49" charset="-122"/>
              <a:ea typeface="SimHei" pitchFamily="49" charset="-122"/>
              <a:cs typeface="Times New Roman" pitchFamily="18" charset="0"/>
            </a:endParaRPr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133600"/>
            <a:ext cx="6035675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67744" y="332656"/>
            <a:ext cx="607045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0" dirty="0">
                <a:solidFill>
                  <a:srgbClr val="FF0000"/>
                </a:solidFill>
                <a:latin typeface="SimHei" pitchFamily="49" charset="-122"/>
                <a:ea typeface="SimHei" pitchFamily="49" charset="-122"/>
                <a:cs typeface="Times New Roman" pitchFamily="18" charset="0"/>
              </a:rPr>
              <a:t>不省時也不省力</a:t>
            </a:r>
            <a:r>
              <a:rPr lang="zh-TW" altLang="en-US" b="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，但能</a:t>
            </a:r>
            <a:r>
              <a:rPr lang="zh-TW" altLang="en-US" b="0" dirty="0">
                <a:solidFill>
                  <a:srgbClr val="FF0000"/>
                </a:solidFill>
                <a:latin typeface="SimHei" pitchFamily="49" charset="-122"/>
                <a:ea typeface="SimHei" pitchFamily="49" charset="-122"/>
                <a:cs typeface="Times New Roman" pitchFamily="18" charset="0"/>
              </a:rPr>
              <a:t>改</a:t>
            </a:r>
            <a:r>
              <a:rPr lang="zh-CN" altLang="en-US" b="0" dirty="0">
                <a:solidFill>
                  <a:srgbClr val="FF0000"/>
                </a:solidFill>
                <a:latin typeface="SimHei" pitchFamily="49" charset="-122"/>
                <a:ea typeface="SimHei" pitchFamily="49" charset="-122"/>
                <a:cs typeface="Times New Roman" pitchFamily="18" charset="0"/>
              </a:rPr>
              <a:t>变动力</a:t>
            </a:r>
            <a:r>
              <a:rPr lang="zh-TW" altLang="en-US" b="0" dirty="0">
                <a:solidFill>
                  <a:srgbClr val="FF0000"/>
                </a:solidFill>
                <a:latin typeface="SimHei" pitchFamily="49" charset="-122"/>
                <a:ea typeface="SimHei" pitchFamily="49" charset="-122"/>
                <a:cs typeface="Times New Roman" pitchFamily="18" charset="0"/>
              </a:rPr>
              <a:t>方向</a:t>
            </a:r>
            <a:r>
              <a:rPr lang="zh-TW" altLang="en-US" b="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而方便操作。</a:t>
            </a:r>
            <a:endParaRPr lang="en-MY" b="0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4" name="矩形 5"/>
          <p:cNvSpPr>
            <a:spLocks noChangeArrowheads="1"/>
          </p:cNvSpPr>
          <p:nvPr/>
        </p:nvSpPr>
        <p:spPr bwMode="auto">
          <a:xfrm>
            <a:off x="4572000" y="5638800"/>
            <a:ext cx="478631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65125" indent="-365125">
              <a:buFont typeface="Arial" pitchFamily="34" charset="0"/>
              <a:buChar char="•"/>
            </a:pPr>
            <a:r>
              <a:rPr lang="zh-CN" altLang="en-US" sz="3200" b="0" dirty="0">
                <a:latin typeface="SimHei" pitchFamily="49" charset="-122"/>
                <a:ea typeface="SimHei" pitchFamily="49" charset="-122"/>
              </a:rPr>
              <a:t>应用实例</a:t>
            </a:r>
            <a:r>
              <a:rPr lang="zh-TW" altLang="en-US" sz="3200" b="0" dirty="0">
                <a:latin typeface="SimHei" pitchFamily="49" charset="-122"/>
                <a:ea typeface="SimHei" pitchFamily="49" charset="-122"/>
              </a:rPr>
              <a:t>：</a:t>
            </a:r>
            <a:endParaRPr lang="en-US" altLang="zh-TW" sz="3200" b="0" dirty="0">
              <a:latin typeface="SimHei" pitchFamily="49" charset="-122"/>
              <a:ea typeface="SimHei" pitchFamily="49" charset="-122"/>
            </a:endParaRPr>
          </a:p>
          <a:p>
            <a:pPr marL="365125" indent="-365125"/>
            <a:r>
              <a:rPr lang="en-US" altLang="zh-TW" sz="3200" b="0" dirty="0">
                <a:latin typeface="SimHei" pitchFamily="49" charset="-122"/>
                <a:ea typeface="SimHei" pitchFamily="49" charset="-122"/>
              </a:rPr>
              <a:t>  </a:t>
            </a:r>
            <a:r>
              <a:rPr lang="zh-TW" altLang="en-US" sz="3200" b="0" dirty="0">
                <a:latin typeface="SimHei" pitchFamily="49" charset="-122"/>
                <a:ea typeface="SimHei" pitchFamily="49" charset="-122"/>
              </a:rPr>
              <a:t>大型吊車、旗</a:t>
            </a:r>
            <a:r>
              <a:rPr lang="zh-CN" altLang="en-US" sz="3200" b="0" dirty="0">
                <a:latin typeface="SimHei" pitchFamily="49" charset="-122"/>
                <a:ea typeface="SimHei" pitchFamily="49" charset="-122"/>
              </a:rPr>
              <a:t>杆</a:t>
            </a:r>
            <a:r>
              <a:rPr lang="zh-CN" altLang="en-US" b="0" dirty="0">
                <a:latin typeface="SimHei" pitchFamily="49" charset="-122"/>
                <a:ea typeface="SimHei" pitchFamily="49" charset="-122"/>
              </a:rPr>
              <a:t>顶</a:t>
            </a:r>
            <a:r>
              <a:rPr lang="zh-TW" altLang="en-US" sz="3200" b="0" dirty="0">
                <a:latin typeface="SimHei" pitchFamily="49" charset="-122"/>
                <a:ea typeface="SimHei" pitchFamily="49" charset="-122"/>
              </a:rPr>
              <a:t>端</a:t>
            </a:r>
          </a:p>
        </p:txBody>
      </p:sp>
      <p:grpSp>
        <p:nvGrpSpPr>
          <p:cNvPr id="2" name="Group 14"/>
          <p:cNvGrpSpPr/>
          <p:nvPr/>
        </p:nvGrpSpPr>
        <p:grpSpPr>
          <a:xfrm>
            <a:off x="4572000" y="3193990"/>
            <a:ext cx="2590800" cy="1638420"/>
            <a:chOff x="-784448" y="5619690"/>
            <a:chExt cx="2590800" cy="1638420"/>
          </a:xfrm>
        </p:grpSpPr>
        <p:sp>
          <p:nvSpPr>
            <p:cNvPr id="17" name="TextBox 16"/>
            <p:cNvSpPr txBox="1"/>
            <p:nvPr/>
          </p:nvSpPr>
          <p:spPr>
            <a:xfrm>
              <a:off x="282352" y="5619690"/>
              <a:ext cx="99060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0" dirty="0"/>
                <a:t>动力臂</a:t>
              </a:r>
              <a:endParaRPr lang="en-GB" sz="2000" b="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-784448" y="5619690"/>
              <a:ext cx="99060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0" dirty="0"/>
                <a:t>阻力臂</a:t>
              </a:r>
              <a:endParaRPr lang="en-GB" sz="2000" b="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91952" y="6858000"/>
              <a:ext cx="91440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0" dirty="0"/>
                <a:t>动力</a:t>
              </a:r>
              <a:endParaRPr lang="en-GB" sz="2000" b="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-251048" y="6172200"/>
              <a:ext cx="9144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0" dirty="0"/>
                <a:t>支点</a:t>
              </a:r>
              <a:endParaRPr lang="en-GB" sz="2400" b="0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048000" y="6032500"/>
            <a:ext cx="10668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0" dirty="0"/>
              <a:t>动力 </a:t>
            </a:r>
            <a:r>
              <a:rPr lang="en-US" altLang="zh-CN" sz="2000" b="0" dirty="0"/>
              <a:t>F</a:t>
            </a:r>
            <a:endParaRPr lang="en-GB" sz="2000" b="0" dirty="0"/>
          </a:p>
        </p:txBody>
      </p:sp>
    </p:spTree>
    <p:extLst>
      <p:ext uri="{BB962C8B-B14F-4D97-AF65-F5344CB8AC3E}">
        <p14:creationId xmlns:p14="http://schemas.microsoft.com/office/powerpoint/2010/main" val="39844438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69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0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1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2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3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" name="標題 1"/>
          <p:cNvSpPr txBox="1">
            <a:spLocks/>
          </p:cNvSpPr>
          <p:nvPr/>
        </p:nvSpPr>
        <p:spPr bwMode="auto">
          <a:xfrm>
            <a:off x="288056" y="197767"/>
            <a:ext cx="2302744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zh-CN" altLang="en-US" sz="400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动滑轮</a:t>
            </a:r>
            <a:r>
              <a:rPr kumimoji="0" lang="en-US" altLang="zh-TW" sz="400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:</a:t>
            </a:r>
            <a:endParaRPr kumimoji="0" lang="zh-TW" altLang="en-US" sz="4000" dirty="0">
              <a:latin typeface="SimHei" pitchFamily="49" charset="-122"/>
              <a:ea typeface="SimHei" pitchFamily="49" charset="-122"/>
              <a:cs typeface="Times New Roman" pitchFamily="18" charset="0"/>
            </a:endParaRPr>
          </a:p>
        </p:txBody>
      </p:sp>
      <p:sp>
        <p:nvSpPr>
          <p:cNvPr id="11" name="文字方塊 42"/>
          <p:cNvSpPr txBox="1">
            <a:spLocks noChangeArrowheads="1"/>
          </p:cNvSpPr>
          <p:nvPr/>
        </p:nvSpPr>
        <p:spPr bwMode="auto">
          <a:xfrm>
            <a:off x="360363" y="1260475"/>
            <a:ext cx="82438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23850" indent="-3238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zh-TW" altLang="en-US" sz="3200" b="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原理：</a:t>
            </a:r>
            <a:r>
              <a:rPr lang="zh-CN" altLang="en-US" sz="3200" b="0" dirty="0">
                <a:solidFill>
                  <a:srgbClr val="FF0000"/>
                </a:solidFill>
                <a:latin typeface="SimHei" pitchFamily="49" charset="-122"/>
                <a:ea typeface="SimHei" pitchFamily="49" charset="-122"/>
                <a:cs typeface="Times New Roman" pitchFamily="18" charset="0"/>
              </a:rPr>
              <a:t>省力</a:t>
            </a:r>
            <a:r>
              <a:rPr lang="zh-CN" altLang="en-US" b="0" dirty="0">
                <a:solidFill>
                  <a:srgbClr val="FF0000"/>
                </a:solidFill>
                <a:latin typeface="SimHei" pitchFamily="49" charset="-122"/>
                <a:ea typeface="SimHei" pitchFamily="49" charset="-122"/>
                <a:cs typeface="Times New Roman" pitchFamily="18" charset="0"/>
              </a:rPr>
              <a:t>杠杆</a:t>
            </a:r>
            <a:r>
              <a:rPr lang="zh-TW" altLang="en-US" sz="3200" b="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2209800" y="457200"/>
            <a:ext cx="4288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0" dirty="0">
                <a:solidFill>
                  <a:srgbClr val="FF0000"/>
                </a:solidFill>
                <a:latin typeface="SimHei" pitchFamily="49" charset="-122"/>
                <a:ea typeface="SimHei" pitchFamily="49" charset="-122"/>
                <a:cs typeface="Times New Roman" pitchFamily="18" charset="0"/>
              </a:rPr>
              <a:t>省力費時</a:t>
            </a:r>
            <a:r>
              <a:rPr lang="zh-TW" altLang="en-US" b="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的</a:t>
            </a:r>
            <a:r>
              <a:rPr lang="zh-CN" altLang="en-US" b="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机械装置</a:t>
            </a:r>
            <a:r>
              <a:rPr lang="zh-TW" altLang="en-US" b="0" dirty="0">
                <a:latin typeface="SimHei" pitchFamily="49" charset="-122"/>
                <a:ea typeface="SimHei" pitchFamily="49" charset="-122"/>
                <a:cs typeface="Times New Roman" pitchFamily="18" charset="0"/>
              </a:rPr>
              <a:t>。</a:t>
            </a:r>
            <a:endParaRPr lang="en-MY" b="0" dirty="0">
              <a:latin typeface="SimHei" pitchFamily="49" charset="-122"/>
              <a:ea typeface="SimHei" pitchFamily="49" charset="-122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1619672" y="2209800"/>
            <a:ext cx="5095875" cy="4419997"/>
            <a:chOff x="1619672" y="2209800"/>
            <a:chExt cx="5095875" cy="4419997"/>
          </a:xfrm>
        </p:grpSpPr>
        <p:pic>
          <p:nvPicPr>
            <p:cNvPr id="12" name="Picture 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672" y="2209800"/>
              <a:ext cx="5095875" cy="4419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3276600" y="2438400"/>
              <a:ext cx="10668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 b="0" dirty="0"/>
                <a:t>动力 </a:t>
              </a:r>
              <a:r>
                <a:rPr lang="en-US" altLang="zh-CN" sz="1800" b="0" dirty="0"/>
                <a:t>F</a:t>
              </a:r>
              <a:endParaRPr lang="en-GB" sz="1800" b="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29200" y="3733800"/>
              <a:ext cx="9144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800" b="0" dirty="0"/>
                <a:t>动力臂</a:t>
              </a:r>
              <a:endParaRPr lang="en-GB" sz="1800" b="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95800" y="4026932"/>
              <a:ext cx="9144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800" b="0" dirty="0"/>
                <a:t>阻力臂</a:t>
              </a:r>
              <a:endParaRPr lang="en-GB" sz="1800" b="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38800" y="4026932"/>
              <a:ext cx="6858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 b="0" dirty="0"/>
                <a:t>动力</a:t>
              </a:r>
              <a:endParaRPr lang="en-GB" sz="1800" b="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114800" y="4560332"/>
              <a:ext cx="76200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0" dirty="0"/>
                <a:t>支点</a:t>
              </a:r>
              <a:endParaRPr lang="en-GB" sz="2000" b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71116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69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0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1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2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3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4440" y="30480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/>
              <a:t>比较定滑轮及动滑轮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626153"/>
              </p:ext>
            </p:extLst>
          </p:nvPr>
        </p:nvGraphicFramePr>
        <p:xfrm>
          <a:off x="323528" y="1676400"/>
          <a:ext cx="8568952" cy="3897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322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MY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4000" b="1" kern="100" dirty="0">
                          <a:solidFill>
                            <a:schemeClr val="tx1"/>
                          </a:solidFill>
                          <a:effectLst/>
                        </a:rPr>
                        <a:t>定滑轮</a:t>
                      </a:r>
                      <a:endParaRPr lang="en-MY" sz="32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4000" b="1" kern="100" dirty="0">
                          <a:solidFill>
                            <a:schemeClr val="tx1"/>
                          </a:solidFill>
                          <a:effectLst/>
                        </a:rPr>
                        <a:t>动滑轮</a:t>
                      </a:r>
                      <a:endParaRPr lang="en-MY" sz="32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11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800" b="1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特点</a:t>
                      </a:r>
                      <a:endParaRPr lang="en-MY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MY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MY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11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800" b="1" kern="100">
                          <a:solidFill>
                            <a:schemeClr val="tx1"/>
                          </a:solidFill>
                          <a:effectLst/>
                        </a:rPr>
                        <a:t>力臂关系</a:t>
                      </a:r>
                      <a:endParaRPr lang="en-MY" sz="2000" b="1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solidFill>
                            <a:schemeClr val="tx1"/>
                          </a:solidFill>
                          <a:effectLst/>
                        </a:rPr>
                        <a:t>动力臂</a:t>
                      </a:r>
                      <a:r>
                        <a:rPr lang="en-US" sz="2800" b="1" kern="100" dirty="0">
                          <a:solidFill>
                            <a:schemeClr val="tx1"/>
                          </a:solidFill>
                          <a:effectLst/>
                        </a:rPr>
                        <a:t>______</a:t>
                      </a:r>
                      <a:r>
                        <a:rPr lang="zh-CN" sz="2800" b="1" kern="100" dirty="0">
                          <a:solidFill>
                            <a:schemeClr val="tx1"/>
                          </a:solidFill>
                          <a:effectLst/>
                        </a:rPr>
                        <a:t>阻力臂</a:t>
                      </a:r>
                      <a:endParaRPr lang="en-MY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solidFill>
                            <a:schemeClr val="tx1"/>
                          </a:solidFill>
                          <a:effectLst/>
                        </a:rPr>
                        <a:t>动力臂是阻力臂的</a:t>
                      </a:r>
                      <a:r>
                        <a:rPr lang="en-US" sz="2800" b="1" kern="100" dirty="0">
                          <a:solidFill>
                            <a:schemeClr val="tx1"/>
                          </a:solidFill>
                          <a:effectLst/>
                        </a:rPr>
                        <a:t>_____</a:t>
                      </a:r>
                      <a:r>
                        <a:rPr lang="zh-CN" sz="2800" b="1" kern="100" dirty="0">
                          <a:solidFill>
                            <a:schemeClr val="tx1"/>
                          </a:solidFill>
                          <a:effectLst/>
                        </a:rPr>
                        <a:t>倍</a:t>
                      </a:r>
                      <a:endParaRPr lang="en-MY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811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solidFill>
                            <a:schemeClr val="tx1"/>
                          </a:solidFill>
                          <a:effectLst/>
                        </a:rPr>
                        <a:t>实质</a:t>
                      </a:r>
                      <a:endParaRPr lang="en-MY" sz="20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MY" sz="28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MY" sz="2800" b="1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979712" y="2564904"/>
            <a:ext cx="26525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kern="100" dirty="0">
                <a:solidFill>
                  <a:srgbClr val="C00000"/>
                </a:solidFill>
                <a:latin typeface="Calibri"/>
                <a:ea typeface="宋体"/>
              </a:rPr>
              <a:t>改变力的方向</a:t>
            </a:r>
            <a:endParaRPr lang="en-US" altLang="zh-CN" sz="2800" kern="100" dirty="0">
              <a:solidFill>
                <a:srgbClr val="C00000"/>
              </a:solidFill>
              <a:latin typeface="Calibri"/>
              <a:ea typeface="宋体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solidFill>
                  <a:srgbClr val="C00000"/>
                </a:solidFill>
                <a:latin typeface="Calibri"/>
                <a:ea typeface="宋体"/>
              </a:rPr>
              <a:t>F=W</a:t>
            </a:r>
            <a:endParaRPr lang="en-MY" sz="2000" kern="100" dirty="0">
              <a:solidFill>
                <a:srgbClr val="C00000"/>
              </a:solidFill>
              <a:latin typeface="Times New Roman"/>
              <a:ea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70722" y="2636912"/>
            <a:ext cx="26296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kern="100" dirty="0">
                <a:solidFill>
                  <a:srgbClr val="C00000"/>
                </a:solidFill>
                <a:latin typeface="Calibri"/>
                <a:ea typeface="宋体"/>
              </a:rPr>
              <a:t>能省一半的力</a:t>
            </a:r>
            <a:endParaRPr lang="en-US" altLang="zh-CN" sz="2800" kern="100" dirty="0">
              <a:solidFill>
                <a:srgbClr val="C00000"/>
              </a:solidFill>
              <a:latin typeface="Calibri"/>
              <a:ea typeface="宋体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solidFill>
                  <a:srgbClr val="C00000"/>
                </a:solidFill>
                <a:latin typeface="Calibri"/>
                <a:ea typeface="宋体"/>
              </a:rPr>
              <a:t>F = ½ W</a:t>
            </a:r>
            <a:endParaRPr lang="en-MY" sz="2000" kern="100" dirty="0">
              <a:solidFill>
                <a:srgbClr val="C00000"/>
              </a:solidFill>
              <a:latin typeface="Times New Roman"/>
              <a:ea typeface="宋体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06431" y="473458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C00000"/>
                </a:solidFill>
                <a:latin typeface="Calibri"/>
                <a:ea typeface="宋体"/>
              </a:rPr>
              <a:t>等臂杠杆</a:t>
            </a:r>
            <a:endParaRPr lang="en-MY" sz="2800" kern="100" dirty="0">
              <a:solidFill>
                <a:srgbClr val="C00000"/>
              </a:solidFill>
              <a:latin typeface="Times New Roman"/>
              <a:ea typeface="宋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35431" y="472440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C00000"/>
                </a:solidFill>
                <a:latin typeface="Calibri"/>
                <a:ea typeface="宋体"/>
              </a:rPr>
              <a:t>省力杠杆</a:t>
            </a:r>
            <a:endParaRPr lang="en-MY" sz="2800" kern="100" dirty="0">
              <a:solidFill>
                <a:srgbClr val="C00000"/>
              </a:solidFill>
              <a:latin typeface="Times New Roman"/>
              <a:ea typeface="宋体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4746" y="3429000"/>
            <a:ext cx="391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=</a:t>
            </a:r>
            <a:endParaRPr lang="en-MY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6643" y="3861048"/>
            <a:ext cx="391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</a:t>
            </a:r>
            <a:endParaRPr lang="en-MY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69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0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1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2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3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4440" y="22860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/>
              <a:t>比较定滑轮及动滑轮</a:t>
            </a:r>
          </a:p>
        </p:txBody>
      </p:sp>
      <p:pic>
        <p:nvPicPr>
          <p:cNvPr id="1026" name="Picture 2" descr="C:\Users\SC_Owner\Downloads\pulley_mechanicaladvantage_1n2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793" y="1166599"/>
            <a:ext cx="6602413" cy="500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133600" y="1367135"/>
            <a:ext cx="1219200" cy="461665"/>
          </a:xfrm>
          <a:prstGeom prst="rect">
            <a:avLst/>
          </a:prstGeom>
          <a:solidFill>
            <a:srgbClr val="53D2FF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0" dirty="0"/>
              <a:t>定滑轮</a:t>
            </a:r>
            <a:endParaRPr lang="en-GB" sz="2400" b="0" dirty="0"/>
          </a:p>
        </p:txBody>
      </p:sp>
      <p:sp>
        <p:nvSpPr>
          <p:cNvPr id="13" name="TextBox 12"/>
          <p:cNvSpPr txBox="1"/>
          <p:nvPr/>
        </p:nvSpPr>
        <p:spPr>
          <a:xfrm>
            <a:off x="5562600" y="1752600"/>
            <a:ext cx="1219200" cy="461665"/>
          </a:xfrm>
          <a:prstGeom prst="rect">
            <a:avLst/>
          </a:prstGeom>
          <a:solidFill>
            <a:srgbClr val="29FF8A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0" dirty="0"/>
              <a:t>动滑轮</a:t>
            </a:r>
            <a:endParaRPr lang="en-GB" sz="2400" b="0" dirty="0"/>
          </a:p>
        </p:txBody>
      </p:sp>
    </p:spTree>
    <p:extLst>
      <p:ext uri="{BB962C8B-B14F-4D97-AF65-F5344CB8AC3E}">
        <p14:creationId xmlns:p14="http://schemas.microsoft.com/office/powerpoint/2010/main" val="297592957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69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0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1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2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3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000" y="548680"/>
            <a:ext cx="836746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b="0" dirty="0"/>
          </a:p>
          <a:p>
            <a:r>
              <a:rPr lang="zh-CN" altLang="en-US" sz="3600" b="0" dirty="0"/>
              <a:t>定滑轮的特点是</a:t>
            </a:r>
            <a:r>
              <a:rPr lang="en-US" altLang="zh-CN" sz="3600" b="0" dirty="0"/>
              <a:t>________________</a:t>
            </a:r>
            <a:r>
              <a:rPr lang="zh-CN" altLang="en-US" sz="3600" b="0" dirty="0"/>
              <a:t>。</a:t>
            </a:r>
            <a:endParaRPr lang="en-US" altLang="zh-CN" sz="3600" b="0" dirty="0"/>
          </a:p>
          <a:p>
            <a:r>
              <a:rPr lang="zh-CN" altLang="en-US" sz="3600" b="0" dirty="0"/>
              <a:t>动滑轮的特点是</a:t>
            </a:r>
            <a:r>
              <a:rPr lang="en-US" altLang="zh-CN" sz="3600" b="0" dirty="0"/>
              <a:t>________________</a:t>
            </a:r>
            <a:r>
              <a:rPr lang="zh-CN" altLang="en-US" sz="3600" b="0" dirty="0"/>
              <a:t>。</a:t>
            </a:r>
            <a:endParaRPr lang="en-US" altLang="zh-CN" sz="3600" b="0" dirty="0"/>
          </a:p>
          <a:p>
            <a:endParaRPr lang="en-US" altLang="zh-CN" sz="3600" dirty="0"/>
          </a:p>
          <a:p>
            <a:r>
              <a:rPr lang="zh-CN" altLang="en-US" sz="3600" dirty="0"/>
              <a:t>想一想：</a:t>
            </a:r>
            <a:endParaRPr lang="en-US" altLang="zh-CN" sz="3600" dirty="0"/>
          </a:p>
          <a:p>
            <a:r>
              <a:rPr lang="zh-CN" altLang="en-US" sz="3600" b="0" dirty="0"/>
              <a:t>既要改变力的方向，又想要省力，可以怎么做呢？</a:t>
            </a:r>
            <a:endParaRPr lang="en-US" altLang="zh-CN" sz="3600" dirty="0"/>
          </a:p>
          <a:p>
            <a:endParaRPr lang="zh-CN" alt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4006214" y="1503621"/>
            <a:ext cx="31826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kern="100" dirty="0">
                <a:solidFill>
                  <a:srgbClr val="C00000"/>
                </a:solidFill>
                <a:latin typeface="SimHei" pitchFamily="49" charset="-122"/>
                <a:ea typeface="SimHei" pitchFamily="49" charset="-122"/>
              </a:rPr>
              <a:t>改变力的方向</a:t>
            </a:r>
            <a:endParaRPr lang="en-MY" kern="100" dirty="0">
              <a:solidFill>
                <a:srgbClr val="C00000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83816" y="2082225"/>
            <a:ext cx="31551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kern="100" dirty="0">
                <a:solidFill>
                  <a:srgbClr val="C00000"/>
                </a:solidFill>
                <a:latin typeface="SimHei" pitchFamily="49" charset="-122"/>
                <a:ea typeface="SimHei" pitchFamily="49" charset="-122"/>
              </a:rPr>
              <a:t>能省一半的力</a:t>
            </a:r>
            <a:endParaRPr lang="en-MY" kern="100" dirty="0">
              <a:solidFill>
                <a:srgbClr val="C00000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67000" y="268069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6.3.2 </a:t>
            </a:r>
            <a:r>
              <a:rPr lang="zh-CN" altLang="en-US" sz="3600" dirty="0"/>
              <a:t>滑轮组</a:t>
            </a:r>
            <a:endParaRPr lang="en-US" sz="3600" dirty="0"/>
          </a:p>
        </p:txBody>
      </p:sp>
      <p:sp>
        <p:nvSpPr>
          <p:cNvPr id="13" name="Rectangle 12"/>
          <p:cNvSpPr/>
          <p:nvPr/>
        </p:nvSpPr>
        <p:spPr>
          <a:xfrm>
            <a:off x="533400" y="4977825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0" dirty="0"/>
              <a:t>可以把</a:t>
            </a:r>
            <a:r>
              <a:rPr lang="zh-CN" altLang="en-US" sz="3600" dirty="0">
                <a:solidFill>
                  <a:srgbClr val="C00000"/>
                </a:solidFill>
              </a:rPr>
              <a:t>定滑轮</a:t>
            </a:r>
            <a:r>
              <a:rPr lang="zh-CN" altLang="en-US" sz="3600" b="0" dirty="0"/>
              <a:t>和</a:t>
            </a:r>
            <a:r>
              <a:rPr lang="zh-CN" altLang="en-US" sz="3600" dirty="0">
                <a:solidFill>
                  <a:srgbClr val="C00000"/>
                </a:solidFill>
              </a:rPr>
              <a:t>动滑轮</a:t>
            </a:r>
            <a:r>
              <a:rPr lang="zh-CN" altLang="en-US" sz="3600" b="0" dirty="0"/>
              <a:t>组合成</a:t>
            </a:r>
            <a:r>
              <a:rPr lang="zh-CN" altLang="en-US" sz="3600" dirty="0">
                <a:solidFill>
                  <a:srgbClr val="C00000"/>
                </a:solidFill>
              </a:rPr>
              <a:t>滑轮组。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670514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124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125" name="Rectangle 3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126" name="Rectangle 3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127" name="Rectangle 3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128" name="Rectangle 3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129" name="Text Box 11"/>
          <p:cNvSpPr txBox="1">
            <a:spLocks noChangeArrowheads="1"/>
          </p:cNvSpPr>
          <p:nvPr/>
        </p:nvSpPr>
        <p:spPr bwMode="auto">
          <a:xfrm>
            <a:off x="1335087" y="5029200"/>
            <a:ext cx="33131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hlinkClick r:id="rId4" action="ppaction://hlinkfile"/>
              </a:rPr>
              <a:t>使用定滑轮    </a:t>
            </a:r>
            <a:endParaRPr lang="zh-CN" altLang="en-US" dirty="0"/>
          </a:p>
        </p:txBody>
      </p:sp>
      <p:sp>
        <p:nvSpPr>
          <p:cNvPr id="5130" name="Text Box 12"/>
          <p:cNvSpPr txBox="1">
            <a:spLocks noChangeArrowheads="1"/>
          </p:cNvSpPr>
          <p:nvPr/>
        </p:nvSpPr>
        <p:spPr bwMode="auto">
          <a:xfrm>
            <a:off x="5653088" y="5033963"/>
            <a:ext cx="33115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hlinkClick r:id="rId5" action="ppaction://hlinkfile"/>
              </a:rPr>
              <a:t>使用动滑轮</a:t>
            </a:r>
            <a:r>
              <a:rPr lang="zh-CN" altLang="en-US" dirty="0"/>
              <a:t>    </a:t>
            </a:r>
          </a:p>
        </p:txBody>
      </p:sp>
      <p:pic>
        <p:nvPicPr>
          <p:cNvPr id="5132" name="Picture 15" descr="图片1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6075"/>
            <a:ext cx="4535488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图片1">
            <a:hlinkClick r:id="rId7" action="ppaction://hlinkfile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1759744"/>
            <a:ext cx="4464050" cy="2888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1828800" y="282714"/>
            <a:ext cx="541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6.3.1 </a:t>
            </a:r>
            <a:r>
              <a:rPr lang="zh-CN" altLang="en-US" sz="4000" dirty="0"/>
              <a:t>定滑轮和动滑轮</a:t>
            </a:r>
            <a:endParaRPr lang="en-US" sz="40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292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293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294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295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296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685800" y="1208782"/>
            <a:ext cx="8229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r>
              <a:rPr lang="zh-CN" altLang="en-US" b="0" dirty="0"/>
              <a:t>由</a:t>
            </a:r>
            <a:r>
              <a:rPr lang="zh-CN" altLang="en-US" dirty="0">
                <a:solidFill>
                  <a:srgbClr val="C00000"/>
                </a:solidFill>
              </a:rPr>
              <a:t>定滑轮</a:t>
            </a:r>
            <a:r>
              <a:rPr lang="zh-CN" altLang="en-US" b="0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动滑轮</a:t>
            </a:r>
            <a:r>
              <a:rPr lang="zh-CN" altLang="en-US" b="0" dirty="0"/>
              <a:t>组合的</a:t>
            </a:r>
            <a:r>
              <a:rPr lang="zh-CN" altLang="en-US" dirty="0">
                <a:solidFill>
                  <a:srgbClr val="C00000"/>
                </a:solidFill>
              </a:rPr>
              <a:t>滑轮组</a:t>
            </a:r>
            <a:r>
              <a:rPr lang="zh-CN" altLang="en-US" b="0" dirty="0"/>
              <a:t>既省力又能改变施力的方向。</a:t>
            </a:r>
          </a:p>
        </p:txBody>
      </p:sp>
      <p:pic>
        <p:nvPicPr>
          <p:cNvPr id="12299" name="Picture 13" descr="图片1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514600"/>
            <a:ext cx="5029200" cy="325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667000" y="268069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/>
              <a:t>滑轮组</a:t>
            </a:r>
            <a:endParaRPr lang="en-US" sz="3600" dirty="0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013075" y="5791200"/>
            <a:ext cx="33115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hlinkClick r:id="rId3" action="ppaction://hlinkfile"/>
              </a:rPr>
              <a:t>使用滑轮组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304800" y="893802"/>
            <a:ext cx="87630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r>
              <a:rPr lang="zh-CN" altLang="en-US" sz="3000" b="0" dirty="0"/>
              <a:t>左和右图的滑轮组哪个</a:t>
            </a:r>
            <a:r>
              <a:rPr lang="zh-CN" altLang="en-US" sz="3000" dirty="0">
                <a:solidFill>
                  <a:srgbClr val="C00000"/>
                </a:solidFill>
              </a:rPr>
              <a:t>更省力</a:t>
            </a:r>
            <a:r>
              <a:rPr lang="zh-CN" altLang="en-US" sz="3000" b="0" dirty="0"/>
              <a:t>呢？</a:t>
            </a:r>
            <a:endParaRPr lang="en-US" altLang="zh-CN" sz="30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2209800" y="115669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/>
              <a:t>滑轮组可以省多少力</a:t>
            </a:r>
            <a:endParaRPr lang="en-US" sz="3600" dirty="0"/>
          </a:p>
        </p:txBody>
      </p:sp>
      <p:pic>
        <p:nvPicPr>
          <p:cNvPr id="9" name="Picture 8" descr="Image result for æ»è½®ç»"/>
          <p:cNvPicPr>
            <a:picLocks noChangeAspect="1" noChangeArrowheads="1"/>
          </p:cNvPicPr>
          <p:nvPr/>
        </p:nvPicPr>
        <p:blipFill>
          <a:blip r:embed="rId2"/>
          <a:srcRect l="65283" t="9091" b="9091"/>
          <a:stretch>
            <a:fillRect/>
          </a:stretch>
        </p:blipFill>
        <p:spPr bwMode="auto">
          <a:xfrm>
            <a:off x="2819400" y="1524000"/>
            <a:ext cx="3505200" cy="4177606"/>
          </a:xfrm>
          <a:prstGeom prst="rect">
            <a:avLst/>
          </a:prstGeom>
          <a:noFill/>
        </p:spPr>
      </p:pic>
      <p:sp>
        <p:nvSpPr>
          <p:cNvPr id="14" name="Rectangle 13"/>
          <p:cNvSpPr/>
          <p:nvPr/>
        </p:nvSpPr>
        <p:spPr>
          <a:xfrm>
            <a:off x="304800" y="5613737"/>
            <a:ext cx="8534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/>
              <a:t>右图的滑轮组</a:t>
            </a:r>
            <a:r>
              <a:rPr lang="zh-CN" altLang="en-US" sz="3000" dirty="0">
                <a:solidFill>
                  <a:srgbClr val="C00000"/>
                </a:solidFill>
              </a:rPr>
              <a:t>更省力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 algn="ctr"/>
            <a:r>
              <a:rPr lang="zh-CN" altLang="en-US" sz="3000" dirty="0"/>
              <a:t>提示：</a:t>
            </a:r>
            <a:r>
              <a:rPr lang="zh-CN" altLang="en-US" sz="3000" dirty="0">
                <a:solidFill>
                  <a:srgbClr val="C00000"/>
                </a:solidFill>
              </a:rPr>
              <a:t>绳子段数</a:t>
            </a:r>
            <a:r>
              <a:rPr lang="zh-CN" altLang="en-US" sz="3000" dirty="0"/>
              <a:t>越多，可以省更多的力。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15669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/>
              <a:t>算一算连接</a:t>
            </a:r>
            <a:r>
              <a:rPr lang="zh-CN" altLang="en-US" sz="3600" dirty="0">
                <a:solidFill>
                  <a:srgbClr val="C00000"/>
                </a:solidFill>
              </a:rPr>
              <a:t>动滑轮</a:t>
            </a:r>
            <a:r>
              <a:rPr lang="zh-CN" altLang="en-US" sz="3600" dirty="0"/>
              <a:t>的绳子段数</a:t>
            </a:r>
            <a:endParaRPr lang="en-US" sz="3600" dirty="0"/>
          </a:p>
        </p:txBody>
      </p:sp>
      <p:pic>
        <p:nvPicPr>
          <p:cNvPr id="3" name="Picture 2" descr="Image result for æ»è½®ç»"/>
          <p:cNvPicPr>
            <a:picLocks noChangeAspect="1" noChangeArrowheads="1"/>
          </p:cNvPicPr>
          <p:nvPr/>
        </p:nvPicPr>
        <p:blipFill>
          <a:blip r:embed="rId2"/>
          <a:srcRect l="80799" t="9091" b="9091"/>
          <a:stretch>
            <a:fillRect/>
          </a:stretch>
        </p:blipFill>
        <p:spPr bwMode="auto">
          <a:xfrm>
            <a:off x="1623144" y="1600200"/>
            <a:ext cx="2263056" cy="4876800"/>
          </a:xfrm>
          <a:prstGeom prst="rect">
            <a:avLst/>
          </a:prstGeom>
          <a:noFill/>
        </p:spPr>
      </p:pic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457200" y="893802"/>
            <a:ext cx="7543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r>
              <a:rPr lang="zh-CN" altLang="en-US" sz="3000" b="0" dirty="0"/>
              <a:t>为什么右图的滑轮组</a:t>
            </a:r>
            <a:r>
              <a:rPr lang="zh-CN" altLang="en-US" sz="3000" dirty="0">
                <a:solidFill>
                  <a:srgbClr val="C00000"/>
                </a:solidFill>
              </a:rPr>
              <a:t>更省力</a:t>
            </a:r>
            <a:r>
              <a:rPr lang="zh-CN" altLang="en-US" sz="3000" b="0" dirty="0"/>
              <a:t>呢？</a:t>
            </a:r>
            <a:endParaRPr lang="en-US" altLang="zh-CN" sz="3000" b="0" dirty="0"/>
          </a:p>
        </p:txBody>
      </p:sp>
      <p:sp>
        <p:nvSpPr>
          <p:cNvPr id="5" name="TextBox 4"/>
          <p:cNvSpPr txBox="1"/>
          <p:nvPr/>
        </p:nvSpPr>
        <p:spPr>
          <a:xfrm>
            <a:off x="4419600" y="1876485"/>
            <a:ext cx="434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用剪刀将动滑轮和定滑轮从中间划分开来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算出连接</a:t>
            </a:r>
            <a:r>
              <a:rPr lang="zh-CN" altLang="en-US" dirty="0">
                <a:solidFill>
                  <a:srgbClr val="C00000"/>
                </a:solidFill>
              </a:rPr>
              <a:t>动滑轮</a:t>
            </a:r>
            <a:r>
              <a:rPr lang="zh-CN" altLang="en-US" dirty="0"/>
              <a:t>的绳子段数（</a:t>
            </a:r>
            <a:r>
              <a:rPr lang="en-US" altLang="zh-CN" dirty="0"/>
              <a:t>n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计算所需拉力，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F = W/n </a:t>
            </a: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685800" y="3505200"/>
            <a:ext cx="3352800" cy="158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09600" y="4191000"/>
            <a:ext cx="1420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动滑轮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09600" y="2286000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定滑轮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752600" y="5867400"/>
            <a:ext cx="1905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n=3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gss0.baidu.com/-Po3dSag_xI4khGko9WTAnF6hhy/zhidao/pic/item/42166d224f4a20a45ddd178991529822730ed0b8.jpg"/>
          <p:cNvPicPr>
            <a:picLocks noChangeAspect="1" noChangeArrowheads="1"/>
          </p:cNvPicPr>
          <p:nvPr/>
        </p:nvPicPr>
        <p:blipFill>
          <a:blip r:embed="rId2"/>
          <a:srcRect l="4444" t="5333" r="11111" b="37778"/>
          <a:stretch>
            <a:fillRect/>
          </a:stretch>
        </p:blipFill>
        <p:spPr bwMode="auto">
          <a:xfrm>
            <a:off x="1600200" y="2819400"/>
            <a:ext cx="5791200" cy="24384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219200" y="4673025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 = 100N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81400" y="5130225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 = 100/2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867400" y="5130225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 = 100/3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38100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u="sng" dirty="0">
                <a:solidFill>
                  <a:srgbClr val="C00000"/>
                </a:solidFill>
              </a:rPr>
              <a:t>不计</a:t>
            </a:r>
            <a:r>
              <a:rPr lang="zh-CN" altLang="en-US" u="sng" dirty="0"/>
              <a:t>绳重，摩擦力和动滑轮重</a:t>
            </a:r>
            <a:r>
              <a:rPr lang="zh-CN" altLang="en-US" b="0" dirty="0"/>
              <a:t>时，绳子所需的拉力：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665982"/>
            <a:ext cx="7620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0" dirty="0"/>
              <a:t>拉力 </a:t>
            </a:r>
            <a:r>
              <a:rPr lang="en-US" altLang="zh-CN" b="0" dirty="0"/>
              <a:t>= </a:t>
            </a:r>
            <a:r>
              <a:rPr lang="zh-CN" altLang="en-US" b="0" dirty="0"/>
              <a:t>重物的总重 </a:t>
            </a:r>
            <a:r>
              <a:rPr lang="en-US" altLang="zh-CN" b="0" dirty="0"/>
              <a:t>/ </a:t>
            </a:r>
            <a:r>
              <a:rPr lang="zh-CN" altLang="en-US" b="0" dirty="0"/>
              <a:t>绳子段数</a:t>
            </a:r>
            <a:endParaRPr lang="en-US" altLang="zh-CN" b="0" dirty="0"/>
          </a:p>
          <a:p>
            <a:pPr algn="ctr"/>
            <a:r>
              <a:rPr lang="en-US" altLang="zh-CN" dirty="0">
                <a:solidFill>
                  <a:srgbClr val="C00000"/>
                </a:solidFill>
              </a:rPr>
              <a:t>F = W/n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943600"/>
            <a:ext cx="6248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绳子段数越多，可以省更多的力。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 bwMode="auto">
          <a:xfrm flipV="1">
            <a:off x="0" y="3200400"/>
            <a:ext cx="1981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0" y="2667000"/>
            <a:ext cx="1447800" cy="1588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>
            <a:off x="3657600" y="3962400"/>
            <a:ext cx="1295400" cy="158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6019800" y="3960812"/>
            <a:ext cx="1066800" cy="158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381000" y="2514600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 = 100N</a:t>
            </a:r>
            <a:endParaRPr lang="en-MY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gss0.baidu.com/-Po3dSag_xI4khGko9WTAnF6hhy/zhidao/pic/item/42166d224f4a20a45ddd178991529822730ed0b8.jpg"/>
          <p:cNvPicPr>
            <a:picLocks noChangeAspect="1" noChangeArrowheads="1"/>
          </p:cNvPicPr>
          <p:nvPr/>
        </p:nvPicPr>
        <p:blipFill>
          <a:blip r:embed="rId2"/>
          <a:srcRect l="4444" t="5333" r="11111" b="37778"/>
          <a:stretch>
            <a:fillRect/>
          </a:stretch>
        </p:blipFill>
        <p:spPr bwMode="auto">
          <a:xfrm>
            <a:off x="1600200" y="2819400"/>
            <a:ext cx="5791200" cy="24384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600200" y="4673025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 = 100N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5039380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F=(100+20)/2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6248400" y="5039380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F=(100+20)/3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457200" y="381000"/>
            <a:ext cx="8153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u="sng" dirty="0">
                <a:solidFill>
                  <a:srgbClr val="C00000"/>
                </a:solidFill>
              </a:rPr>
              <a:t>不计</a:t>
            </a:r>
            <a:r>
              <a:rPr lang="zh-CN" altLang="en-US" u="sng" dirty="0"/>
              <a:t>绳重和摩擦力</a:t>
            </a:r>
            <a:r>
              <a:rPr lang="zh-CN" altLang="en-US" b="0" dirty="0"/>
              <a:t>时，而</a:t>
            </a:r>
            <a:r>
              <a:rPr lang="zh-CN" altLang="en-US" u="sng" dirty="0">
                <a:solidFill>
                  <a:srgbClr val="C00000"/>
                </a:solidFill>
              </a:rPr>
              <a:t>需计动滑轮重</a:t>
            </a:r>
            <a:r>
              <a:rPr lang="en-US" altLang="zh-CN" dirty="0">
                <a:solidFill>
                  <a:srgbClr val="C00000"/>
                </a:solidFill>
              </a:rPr>
              <a:t>(L)</a:t>
            </a:r>
            <a:r>
              <a:rPr lang="zh-CN" altLang="en-US" b="0" dirty="0"/>
              <a:t>时，绳子所需的拉力：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665982"/>
            <a:ext cx="7620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0" dirty="0"/>
              <a:t>拉力 </a:t>
            </a:r>
            <a:r>
              <a:rPr lang="en-US" altLang="zh-CN" b="0" dirty="0"/>
              <a:t>= </a:t>
            </a:r>
            <a:r>
              <a:rPr lang="zh-CN" altLang="en-US" b="0" dirty="0">
                <a:solidFill>
                  <a:srgbClr val="C00000"/>
                </a:solidFill>
              </a:rPr>
              <a:t>重物和</a:t>
            </a:r>
            <a:r>
              <a:rPr lang="zh-CN" altLang="en-US" b="0" dirty="0">
                <a:solidFill>
                  <a:srgbClr val="FF0000"/>
                </a:solidFill>
              </a:rPr>
              <a:t>动</a:t>
            </a:r>
            <a:r>
              <a:rPr lang="zh-CN" altLang="en-US" b="0" dirty="0">
                <a:solidFill>
                  <a:srgbClr val="C00000"/>
                </a:solidFill>
              </a:rPr>
              <a:t>滑轮</a:t>
            </a:r>
            <a:r>
              <a:rPr lang="zh-CN" altLang="en-US" b="0" dirty="0"/>
              <a:t>的总重 </a:t>
            </a:r>
            <a:r>
              <a:rPr lang="en-US" altLang="zh-CN" b="0" dirty="0"/>
              <a:t>/ </a:t>
            </a:r>
            <a:r>
              <a:rPr lang="zh-CN" altLang="en-US" b="0" dirty="0"/>
              <a:t>绳子段数</a:t>
            </a:r>
            <a:endParaRPr lang="en-US" altLang="zh-CN" b="0" dirty="0"/>
          </a:p>
          <a:p>
            <a:pPr algn="ctr"/>
            <a:r>
              <a:rPr lang="en-US" altLang="zh-CN" dirty="0">
                <a:solidFill>
                  <a:srgbClr val="C00000"/>
                </a:solidFill>
              </a:rPr>
              <a:t>F = (W + L)/n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943600"/>
            <a:ext cx="6248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绳子段数越多，可以省更多的力。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3657600" y="3962400"/>
            <a:ext cx="1066800" cy="158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6019800" y="3960812"/>
            <a:ext cx="1066800" cy="158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-31231" y="2362200"/>
            <a:ext cx="19674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 = 100N</a:t>
            </a:r>
          </a:p>
          <a:p>
            <a:endParaRPr lang="en-US" dirty="0"/>
          </a:p>
          <a:p>
            <a:r>
              <a:rPr lang="en-US" dirty="0"/>
              <a:t>L=20N</a:t>
            </a:r>
            <a:endParaRPr lang="en-MY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Image result for æ»è½®ç»"/>
          <p:cNvPicPr>
            <a:picLocks noChangeAspect="1" noChangeArrowheads="1"/>
          </p:cNvPicPr>
          <p:nvPr/>
        </p:nvPicPr>
        <p:blipFill>
          <a:blip r:embed="rId3"/>
          <a:srcRect r="33797"/>
          <a:stretch>
            <a:fillRect/>
          </a:stretch>
        </p:blipFill>
        <p:spPr bwMode="auto">
          <a:xfrm>
            <a:off x="2057400" y="1219200"/>
            <a:ext cx="5486400" cy="4191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609600" y="115669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/>
              <a:t>哪个滑轮组</a:t>
            </a:r>
            <a:r>
              <a:rPr lang="zh-CN" altLang="en-US" sz="3600" dirty="0">
                <a:solidFill>
                  <a:srgbClr val="C00000"/>
                </a:solidFill>
              </a:rPr>
              <a:t>最省力</a:t>
            </a:r>
            <a:r>
              <a:rPr lang="zh-CN" altLang="en-US" sz="3600" dirty="0"/>
              <a:t>？</a:t>
            </a:r>
            <a:r>
              <a:rPr lang="en-US" altLang="zh-CN" sz="3600" dirty="0"/>
              <a:t>(</a:t>
            </a:r>
            <a:r>
              <a:rPr lang="zh-CN" altLang="en-US" sz="3600" dirty="0"/>
              <a:t>课本</a:t>
            </a:r>
            <a:r>
              <a:rPr lang="en-US" altLang="zh-CN" sz="3600" dirty="0"/>
              <a:t>87</a:t>
            </a:r>
            <a:r>
              <a:rPr lang="zh-CN" altLang="en-US" sz="3600" dirty="0"/>
              <a:t>页</a:t>
            </a:r>
            <a:r>
              <a:rPr lang="en-US" altLang="zh-CN" sz="3600" dirty="0"/>
              <a:t>)</a:t>
            </a:r>
            <a:endParaRPr lang="en-US" sz="3600" dirty="0"/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1981200" y="3048000"/>
            <a:ext cx="1295400" cy="158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3429000" y="2970212"/>
            <a:ext cx="1295400" cy="158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4800600" y="3200400"/>
            <a:ext cx="1295400" cy="158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6096000" y="2819400"/>
            <a:ext cx="1295400" cy="158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57200" y="147262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定滑轮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4418" y="3429000"/>
            <a:ext cx="1420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动滑轮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447800" y="5675185"/>
            <a:ext cx="1295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n=4</a:t>
            </a:r>
          </a:p>
          <a:p>
            <a:r>
              <a:rPr lang="en-US" dirty="0"/>
              <a:t>F=W/4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5613975"/>
            <a:ext cx="1295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n=3</a:t>
            </a:r>
          </a:p>
          <a:p>
            <a:r>
              <a:rPr lang="en-US" dirty="0"/>
              <a:t>F=W/3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5690175"/>
            <a:ext cx="121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n=5</a:t>
            </a:r>
          </a:p>
          <a:p>
            <a:r>
              <a:rPr lang="en-US" dirty="0">
                <a:solidFill>
                  <a:srgbClr val="C00000"/>
                </a:solidFill>
              </a:rPr>
              <a:t>F=W/5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5660195"/>
            <a:ext cx="1295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n=4</a:t>
            </a:r>
          </a:p>
          <a:p>
            <a:r>
              <a:rPr lang="en-US" dirty="0"/>
              <a:t>F=W/4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62200" y="5105400"/>
            <a:ext cx="60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MY" dirty="0"/>
          </a:p>
        </p:txBody>
      </p:sp>
      <p:sp>
        <p:nvSpPr>
          <p:cNvPr id="15" name="TextBox 14"/>
          <p:cNvSpPr txBox="1"/>
          <p:nvPr/>
        </p:nvSpPr>
        <p:spPr>
          <a:xfrm>
            <a:off x="3771900" y="5029200"/>
            <a:ext cx="60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MY" dirty="0"/>
          </a:p>
        </p:txBody>
      </p:sp>
      <p:sp>
        <p:nvSpPr>
          <p:cNvPr id="16" name="TextBox 15"/>
          <p:cNvSpPr txBox="1"/>
          <p:nvPr/>
        </p:nvSpPr>
        <p:spPr>
          <a:xfrm>
            <a:off x="4953000" y="4825425"/>
            <a:ext cx="60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MY" dirty="0"/>
          </a:p>
        </p:txBody>
      </p:sp>
      <p:sp>
        <p:nvSpPr>
          <p:cNvPr id="17" name="TextBox 16"/>
          <p:cNvSpPr txBox="1"/>
          <p:nvPr/>
        </p:nvSpPr>
        <p:spPr>
          <a:xfrm>
            <a:off x="6438900" y="4809423"/>
            <a:ext cx="60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MY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WordArt 11"/>
          <p:cNvSpPr>
            <a:spLocks noChangeArrowheads="1" noChangeShapeType="1" noTextEdit="1"/>
          </p:cNvSpPr>
          <p:nvPr/>
        </p:nvSpPr>
        <p:spPr bwMode="auto">
          <a:xfrm>
            <a:off x="2916238" y="2492375"/>
            <a:ext cx="335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5000"/>
                    </a:srgbClr>
                  </a:outerShdw>
                </a:effectLst>
                <a:latin typeface="黑体"/>
                <a:ea typeface="黑体"/>
              </a:rPr>
              <a:t>课内练习</a:t>
            </a:r>
            <a:endParaRPr lang="en-MY" sz="6600" kern="1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5000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1331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7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8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9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0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1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3505200" y="304800"/>
            <a:ext cx="28051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4400" dirty="0">
                <a:latin typeface="Verdana" pitchFamily="34" charset="0"/>
              </a:rPr>
              <a:t>课内练习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04800" y="1441450"/>
            <a:ext cx="5592446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1. 如图15.25所示，用定滑轮提升重物A，当用F</a:t>
            </a:r>
            <a:r>
              <a:rPr lang="zh-CN" altLang="en-US" b="0" baseline="-25000" dirty="0"/>
              <a:t>1</a:t>
            </a:r>
            <a:r>
              <a:rPr lang="zh-CN" altLang="en-US" b="0" dirty="0"/>
              <a:t>、F</a:t>
            </a:r>
            <a:r>
              <a:rPr lang="zh-CN" altLang="en-US" b="0" baseline="-25000" dirty="0"/>
              <a:t>2</a:t>
            </a:r>
            <a:r>
              <a:rPr lang="zh-CN" altLang="en-US" b="0" dirty="0"/>
              <a:t>、F</a:t>
            </a:r>
            <a:r>
              <a:rPr lang="zh-CN" altLang="en-US" b="0" baseline="-25000" dirty="0"/>
              <a:t>3</a:t>
            </a:r>
            <a:r>
              <a:rPr lang="zh-CN" altLang="en-US" b="0" dirty="0"/>
              <a:t>不同方向的力拉绳时，这三个力的大小关系是______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 A.F</a:t>
            </a:r>
            <a:r>
              <a:rPr lang="zh-CN" altLang="en-US" b="0" baseline="-25000" dirty="0"/>
              <a:t>1</a:t>
            </a:r>
            <a:r>
              <a:rPr lang="zh-CN" altLang="en-US" b="0" dirty="0"/>
              <a:t>较大   B.F</a:t>
            </a:r>
            <a:r>
              <a:rPr lang="zh-CN" altLang="en-US" b="0" baseline="-25000" dirty="0"/>
              <a:t>2</a:t>
            </a:r>
            <a:r>
              <a:rPr lang="zh-CN" altLang="en-US" b="0" dirty="0"/>
              <a:t>较大    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 C.F</a:t>
            </a:r>
            <a:r>
              <a:rPr lang="zh-CN" altLang="en-US" b="0" baseline="-25000" dirty="0"/>
              <a:t>3</a:t>
            </a:r>
            <a:r>
              <a:rPr lang="zh-CN" altLang="en-US" b="0" dirty="0"/>
              <a:t>较大   D.三个力一样大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236119" y="2842043"/>
            <a:ext cx="538162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4342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3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4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5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6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7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14348" name="Picture 12" descr="15.2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335087"/>
            <a:ext cx="30226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609600" y="5486400"/>
            <a:ext cx="495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0" kern="100" dirty="0">
                <a:solidFill>
                  <a:srgbClr val="FF0000"/>
                </a:solidFill>
                <a:latin typeface="SimHei" pitchFamily="49" charset="-122"/>
                <a:ea typeface="SimHei" pitchFamily="49" charset="-122"/>
              </a:rPr>
              <a:t>记得：定滑轮只改变力的方向</a:t>
            </a:r>
            <a:endParaRPr lang="en-MY" sz="2000" b="0" kern="100" dirty="0">
              <a:solidFill>
                <a:srgbClr val="FF0000"/>
              </a:solidFill>
              <a:latin typeface="SimHei" pitchFamily="49" charset="-122"/>
              <a:ea typeface="SimHei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utoUpdateAnimBg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124200" y="228600"/>
            <a:ext cx="28051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zh-CN" altLang="en-US" sz="4400" dirty="0">
                <a:latin typeface="Verdana" pitchFamily="34" charset="0"/>
              </a:rPr>
              <a:t>课内练习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468313" y="1323758"/>
            <a:ext cx="8066087" cy="157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2.在图中，如果被提升的口袋</a:t>
            </a:r>
            <a:r>
              <a:rPr lang="zh-CN" altLang="en-US" b="0"/>
              <a:t>重量是</a:t>
            </a:r>
            <a:r>
              <a:rPr lang="zh-CN" altLang="en-US" b="0" dirty="0"/>
              <a:t>250N，忽略滑轮的重量和摩擦，图（a）及（b）中两人所用的拉力至少各是多大？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533400" y="3328295"/>
            <a:ext cx="4572000" cy="231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solidFill>
                  <a:srgbClr val="FF0000"/>
                </a:solidFill>
              </a:rPr>
              <a:t>(a)</a:t>
            </a:r>
            <a:r>
              <a:rPr lang="zh-CN" altLang="en-US" b="0" dirty="0">
                <a:solidFill>
                  <a:srgbClr val="FF0000"/>
                </a:solidFill>
              </a:rPr>
              <a:t>定滑轮不省力不费力。拉力为250N。 </a:t>
            </a:r>
            <a:endParaRPr lang="en-US" altLang="zh-CN" b="0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solidFill>
                  <a:srgbClr val="FF0000"/>
                </a:solidFill>
              </a:rPr>
              <a:t>(b)</a:t>
            </a:r>
            <a:r>
              <a:rPr lang="zh-CN" altLang="en-US" b="0" dirty="0">
                <a:solidFill>
                  <a:srgbClr val="FF0000"/>
                </a:solidFill>
              </a:rPr>
              <a:t>动滑轮省一半的力。拉力为125N。</a:t>
            </a:r>
          </a:p>
        </p:txBody>
      </p:sp>
      <p:sp>
        <p:nvSpPr>
          <p:cNvPr id="1536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7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8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9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70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71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15372" name="Picture 12" descr="15.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08" b="9860"/>
          <a:stretch>
            <a:fillRect/>
          </a:stretch>
        </p:blipFill>
        <p:spPr bwMode="auto">
          <a:xfrm>
            <a:off x="5688012" y="3048000"/>
            <a:ext cx="2693988" cy="331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68313" y="1447800"/>
            <a:ext cx="8280400" cy="157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dirty="0">
                <a:latin typeface="SimHei" pitchFamily="49" charset="-122"/>
                <a:ea typeface="SimHei" pitchFamily="49" charset="-122"/>
              </a:rPr>
              <a:t>1.</a:t>
            </a:r>
            <a:r>
              <a:rPr lang="zh-CN" altLang="en-US" b="0" dirty="0">
                <a:latin typeface="SimHei" pitchFamily="49" charset="-122"/>
                <a:ea typeface="SimHei" pitchFamily="49" charset="-122"/>
              </a:rPr>
              <a:t>固定不动的滑轮叫</a:t>
            </a:r>
            <a:r>
              <a:rPr lang="en-US" altLang="zh-CN" b="0" dirty="0">
                <a:latin typeface="SimHei" pitchFamily="49" charset="-122"/>
                <a:ea typeface="SimHei" pitchFamily="49" charset="-122"/>
              </a:rPr>
              <a:t>______</a:t>
            </a:r>
            <a:r>
              <a:rPr lang="zh-CN" altLang="en-US" b="0" dirty="0">
                <a:latin typeface="SimHei" pitchFamily="49" charset="-122"/>
                <a:ea typeface="SimHei" pitchFamily="49" charset="-122"/>
              </a:rPr>
              <a:t>（fixed pulley），随重物一起移动的滑轮叫</a:t>
            </a:r>
            <a:r>
              <a:rPr lang="en-US" altLang="zh-CN" b="0" dirty="0">
                <a:latin typeface="SimHei" pitchFamily="49" charset="-122"/>
                <a:ea typeface="SimHei" pitchFamily="49" charset="-122"/>
              </a:rPr>
              <a:t>_______</a:t>
            </a:r>
            <a:r>
              <a:rPr lang="zh-CN" altLang="en-US" b="0" dirty="0">
                <a:latin typeface="SimHei" pitchFamily="49" charset="-122"/>
                <a:ea typeface="SimHei" pitchFamily="49" charset="-122"/>
              </a:rPr>
              <a:t>（movable pulley）。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468313" y="3276600"/>
            <a:ext cx="8280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b="0" dirty="0">
                <a:latin typeface="SimHei" pitchFamily="49" charset="-122"/>
                <a:ea typeface="SimHei" pitchFamily="49" charset="-122"/>
              </a:rPr>
              <a:t>2.</a:t>
            </a:r>
            <a:r>
              <a:rPr lang="zh-CN" altLang="en-US" b="0" dirty="0">
                <a:latin typeface="SimHei" pitchFamily="49" charset="-122"/>
                <a:ea typeface="SimHei" pitchFamily="49" charset="-122"/>
              </a:rPr>
              <a:t>使用定滑轮不省力，但是能改变</a:t>
            </a:r>
            <a:r>
              <a:rPr lang="en-US" altLang="zh-CN" b="0" dirty="0">
                <a:latin typeface="SimHei" pitchFamily="49" charset="-122"/>
                <a:ea typeface="SimHei" pitchFamily="49" charset="-122"/>
              </a:rPr>
              <a:t>___________</a:t>
            </a:r>
            <a:r>
              <a:rPr lang="zh-CN" altLang="en-US" b="0" dirty="0">
                <a:latin typeface="SimHei" pitchFamily="49" charset="-122"/>
                <a:ea typeface="SimHei" pitchFamily="49" charset="-122"/>
              </a:rPr>
              <a:t>。使用动滑轮能</a:t>
            </a:r>
            <a:r>
              <a:rPr lang="en-US" altLang="zh-CN" b="0" dirty="0">
                <a:latin typeface="SimHei" pitchFamily="49" charset="-122"/>
                <a:ea typeface="SimHei" pitchFamily="49" charset="-122"/>
              </a:rPr>
              <a:t>____________</a:t>
            </a:r>
            <a:r>
              <a:rPr lang="zh-CN" altLang="en-US" b="0" dirty="0">
                <a:latin typeface="SimHei" pitchFamily="49" charset="-122"/>
                <a:ea typeface="SimHei" pitchFamily="49" charset="-122"/>
              </a:rPr>
              <a:t>。</a:t>
            </a:r>
          </a:p>
          <a:p>
            <a:endParaRPr lang="zh-CN" altLang="en-US" b="0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6389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90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91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92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93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94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9" name="Rectangle 11"/>
          <p:cNvSpPr>
            <a:spLocks noChangeArrowheads="1"/>
          </p:cNvSpPr>
          <p:nvPr/>
        </p:nvSpPr>
        <p:spPr bwMode="auto">
          <a:xfrm>
            <a:off x="468313" y="4970621"/>
            <a:ext cx="8280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b="0" dirty="0">
                <a:latin typeface="SimHei" pitchFamily="49" charset="-122"/>
                <a:ea typeface="SimHei" pitchFamily="49" charset="-122"/>
              </a:rPr>
              <a:t>3</a:t>
            </a:r>
            <a:r>
              <a:rPr lang="en-US" altLang="zh-CN" b="0" dirty="0">
                <a:latin typeface="SimHei" pitchFamily="49" charset="-122"/>
                <a:ea typeface="SimHei" pitchFamily="49" charset="-122"/>
              </a:rPr>
              <a:t>.</a:t>
            </a:r>
            <a:r>
              <a:rPr lang="zh-CN" altLang="en-US" b="0" dirty="0">
                <a:latin typeface="SimHei" pitchFamily="49" charset="-122"/>
                <a:ea typeface="SimHei" pitchFamily="49" charset="-122"/>
              </a:rPr>
              <a:t>定滑轮实质是个</a:t>
            </a:r>
            <a:r>
              <a:rPr lang="en-US" altLang="zh-CN" b="0" dirty="0">
                <a:latin typeface="SimHei" pitchFamily="49" charset="-122"/>
                <a:ea typeface="SimHei" pitchFamily="49" charset="-122"/>
              </a:rPr>
              <a:t>_____</a:t>
            </a:r>
            <a:r>
              <a:rPr lang="zh-CN" altLang="en-US" b="0" dirty="0">
                <a:latin typeface="SimHei" pitchFamily="49" charset="-122"/>
                <a:ea typeface="SimHei" pitchFamily="49" charset="-122"/>
              </a:rPr>
              <a:t>杠杆。。</a:t>
            </a:r>
          </a:p>
          <a:p>
            <a:endParaRPr lang="zh-CN" altLang="en-US" b="0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91000" y="1371600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定滑轮</a:t>
            </a:r>
            <a:endParaRPr lang="en-MY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10400" y="1828800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动滑轮</a:t>
            </a:r>
            <a:endParaRPr lang="en-MY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373380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施力的方向</a:t>
            </a:r>
            <a:endParaRPr lang="en-MY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91200" y="373380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省一半的力</a:t>
            </a:r>
            <a:endParaRPr lang="en-MY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69245" y="497197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等臂</a:t>
            </a:r>
            <a:endParaRPr lang="en-MY" dirty="0">
              <a:solidFill>
                <a:srgbClr val="FF0000"/>
              </a:solidFill>
            </a:endParaRP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3886200" y="349250"/>
            <a:ext cx="1371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4400" dirty="0">
                <a:latin typeface="Verdana" pitchFamily="34" charset="0"/>
              </a:rPr>
              <a:t>小结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1" grpId="0"/>
      <p:bldP spid="17419" grpId="0"/>
      <p:bldP spid="2" grpId="0"/>
      <p:bldP spid="3" grpId="0"/>
      <p:bldP spid="4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2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3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4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5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6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7" name="WordArt 11"/>
          <p:cNvSpPr>
            <a:spLocks noChangeArrowheads="1" noChangeShapeType="1" noTextEdit="1"/>
          </p:cNvSpPr>
          <p:nvPr/>
        </p:nvSpPr>
        <p:spPr bwMode="auto">
          <a:xfrm>
            <a:off x="2916238" y="2492375"/>
            <a:ext cx="335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5000"/>
                    </a:srgbClr>
                  </a:outerShdw>
                </a:effectLst>
                <a:latin typeface="黑体"/>
                <a:ea typeface="黑体"/>
              </a:rPr>
              <a:t>课外练习</a:t>
            </a:r>
            <a:endParaRPr lang="en-MY" sz="6600" kern="1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5000"/>
                  </a:srgbClr>
                </a:outerShdw>
              </a:effectLst>
              <a:latin typeface="黑体"/>
              <a:ea typeface="黑体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323849" y="836712"/>
            <a:ext cx="5249863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b="0" dirty="0"/>
              <a:t>1.上图a、b中，物体各由几段绳子吊着？如果物体的重量是600N，忽略动滑轮的重量和摩擦，要把物体提升起来， a、b两种情况下至少各需要多大的拉力？</a:t>
            </a:r>
          </a:p>
          <a:p>
            <a:endParaRPr lang="en-US" altLang="zh-CN" b="0" dirty="0"/>
          </a:p>
          <a:p>
            <a:endParaRPr lang="zh-CN" altLang="en-US" b="0" dirty="0"/>
          </a:p>
          <a:p>
            <a:r>
              <a:rPr lang="zh-CN" altLang="en-US" b="0" dirty="0"/>
              <a:t>2.下图b中，物体由几段绳子吊着？</a:t>
            </a:r>
          </a:p>
        </p:txBody>
      </p:sp>
      <p:sp>
        <p:nvSpPr>
          <p:cNvPr id="18436" name="Rectangle 3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37" name="Rectangle 3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38" name="Rectangle 3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39" name="Rectangle 35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40" name="Rectangle 36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41" name="Rectangle 3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18442" name="Picture 10" descr="15.2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" r="8145" b="10850"/>
          <a:stretch>
            <a:fillRect/>
          </a:stretch>
        </p:blipFill>
        <p:spPr bwMode="auto">
          <a:xfrm>
            <a:off x="6019800" y="290512"/>
            <a:ext cx="2514600" cy="298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Picture 11" descr="15.2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19"/>
          <a:stretch>
            <a:fillRect/>
          </a:stretch>
        </p:blipFill>
        <p:spPr bwMode="auto">
          <a:xfrm>
            <a:off x="6049184" y="3505200"/>
            <a:ext cx="2485216" cy="312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1676400" y="228600"/>
            <a:ext cx="28051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zh-CN" altLang="en-US" dirty="0">
                <a:latin typeface="Verdana" pitchFamily="34" charset="0"/>
              </a:rPr>
              <a:t>课外练习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69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0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1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2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3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76200"/>
            <a:ext cx="8807896" cy="670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/>
              <a:t>想一想（课本</a:t>
            </a:r>
            <a:r>
              <a:rPr lang="en-US" altLang="zh-CN" sz="4000" dirty="0"/>
              <a:t>86</a:t>
            </a:r>
            <a:r>
              <a:rPr lang="zh-CN" altLang="en-US" sz="4000" dirty="0"/>
              <a:t>页）</a:t>
            </a:r>
            <a:endParaRPr lang="en-US" altLang="zh-CN" sz="4000" dirty="0"/>
          </a:p>
          <a:p>
            <a:endParaRPr lang="en-US" altLang="zh-CN" b="0" dirty="0"/>
          </a:p>
          <a:p>
            <a:r>
              <a:rPr lang="zh-CN" altLang="en-US" b="0" dirty="0"/>
              <a:t>使用定滑轮和动滑轮时，</a:t>
            </a:r>
            <a:r>
              <a:rPr lang="zh-CN" altLang="en-US" b="0" dirty="0">
                <a:solidFill>
                  <a:srgbClr val="FF0000"/>
                </a:solidFill>
              </a:rPr>
              <a:t>动力作用点移动的速度</a:t>
            </a:r>
            <a:r>
              <a:rPr lang="zh-CN" altLang="en-US" b="0" dirty="0"/>
              <a:t>与</a:t>
            </a:r>
            <a:r>
              <a:rPr lang="zh-CN" altLang="en-US" b="0" dirty="0">
                <a:solidFill>
                  <a:srgbClr val="FF0000"/>
                </a:solidFill>
              </a:rPr>
              <a:t>重物运动的速度</a:t>
            </a:r>
            <a:r>
              <a:rPr lang="zh-CN" altLang="en-US" b="0" dirty="0"/>
              <a:t>存在怎样的关系？</a:t>
            </a:r>
            <a:endParaRPr lang="en-US" altLang="zh-CN" b="0" dirty="0"/>
          </a:p>
          <a:p>
            <a:endParaRPr lang="en-US" b="0" dirty="0"/>
          </a:p>
          <a:p>
            <a:r>
              <a:rPr lang="zh-CN" altLang="en-US" b="0" dirty="0"/>
              <a:t>细心观赏以下短片，就会找到答案：</a:t>
            </a:r>
            <a:endParaRPr lang="en-US" b="0" dirty="0"/>
          </a:p>
          <a:p>
            <a:r>
              <a:rPr lang="zh-CN" altLang="en-US" dirty="0">
                <a:hlinkClick r:id="rId8" action="ppaction://hlinkfile"/>
              </a:rPr>
              <a:t>国</a:t>
            </a:r>
            <a:r>
              <a:rPr lang="zh-TW" altLang="en-US" dirty="0">
                <a:hlinkClick r:id="rId8" action="ppaction://hlinkfile"/>
              </a:rPr>
              <a:t>中</a:t>
            </a:r>
            <a:r>
              <a:rPr lang="zh-CN" altLang="en-US" dirty="0">
                <a:hlinkClick r:id="rId8" action="ppaction://hlinkfile"/>
              </a:rPr>
              <a:t>细说</a:t>
            </a:r>
            <a:r>
              <a:rPr lang="zh-TW" altLang="en-US" dirty="0">
                <a:hlinkClick r:id="rId8" action="ppaction://hlinkfile"/>
              </a:rPr>
              <a:t>分冊理化 </a:t>
            </a:r>
            <a:r>
              <a:rPr lang="zh-CN" altLang="en-US" dirty="0">
                <a:hlinkClick r:id="rId8" action="ppaction://hlinkfile"/>
              </a:rPr>
              <a:t>简单机械 </a:t>
            </a:r>
            <a:r>
              <a:rPr lang="en-US" altLang="zh-TW" dirty="0">
                <a:hlinkClick r:id="rId8" action="ppaction://hlinkfile"/>
              </a:rPr>
              <a:t>-- </a:t>
            </a:r>
            <a:r>
              <a:rPr lang="zh-TW" altLang="en-US" dirty="0">
                <a:hlinkClick r:id="rId8" action="ppaction://hlinkfile"/>
              </a:rPr>
              <a:t>滑轮</a:t>
            </a:r>
            <a:r>
              <a:rPr lang="en-US" altLang="zh-TW" dirty="0">
                <a:hlinkClick r:id="rId8" action="ppaction://hlinkfile"/>
              </a:rPr>
              <a:t>.mp4</a:t>
            </a:r>
            <a:endParaRPr lang="en-US" altLang="zh-TW" dirty="0"/>
          </a:p>
          <a:p>
            <a:endParaRPr lang="en-US" dirty="0"/>
          </a:p>
          <a:p>
            <a:r>
              <a:rPr lang="zh-CN" altLang="en-US" b="0" dirty="0"/>
              <a:t>使用</a:t>
            </a:r>
            <a:r>
              <a:rPr lang="zh-CN" altLang="en-US" b="0" dirty="0">
                <a:solidFill>
                  <a:srgbClr val="FF0000"/>
                </a:solidFill>
              </a:rPr>
              <a:t>定滑轮</a:t>
            </a:r>
            <a:r>
              <a:rPr lang="zh-CN" altLang="en-US" b="0" dirty="0"/>
              <a:t>时，动力作用点运动的速度等于重物运动的速度；使用</a:t>
            </a:r>
            <a:r>
              <a:rPr lang="zh-CN" altLang="en-US" b="0" dirty="0">
                <a:solidFill>
                  <a:srgbClr val="FF0000"/>
                </a:solidFill>
              </a:rPr>
              <a:t>动滑轮</a:t>
            </a:r>
            <a:r>
              <a:rPr lang="zh-CN" altLang="en-US" b="0" dirty="0"/>
              <a:t>时，动力作用点运动的速度等于重物运动速度的</a:t>
            </a:r>
            <a:r>
              <a:rPr lang="en-US" altLang="zh-CN" b="0" dirty="0"/>
              <a:t>2</a:t>
            </a:r>
            <a:r>
              <a:rPr lang="zh-CN" altLang="en-US" b="0" dirty="0"/>
              <a:t>倍。</a:t>
            </a:r>
            <a:endParaRPr lang="en-US" altLang="zh-CN" b="0" dirty="0"/>
          </a:p>
          <a:p>
            <a:pPr marL="457200" indent="-457200">
              <a:buFont typeface="Arial" pitchFamily="34" charset="0"/>
              <a:buChar char="•"/>
            </a:pPr>
            <a:r>
              <a:rPr lang="zh-CN" altLang="en-US" b="0" dirty="0"/>
              <a:t>滑轮的实质是杠杆。</a:t>
            </a:r>
            <a:endParaRPr lang="en-US" altLang="zh-CN" b="0" dirty="0"/>
          </a:p>
          <a:p>
            <a:pPr marL="457200" indent="-457200">
              <a:buFont typeface="Arial" pitchFamily="34" charset="0"/>
              <a:buChar char="•"/>
            </a:pPr>
            <a:r>
              <a:rPr lang="zh-CN" altLang="en-US" b="0" dirty="0"/>
              <a:t>省力杠杆费位移，费力杠杆省位移。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883769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模板（2）">
  <a:themeElements>
    <a:clrScheme name="模板（2）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模板（2）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itchFamily="2" charset="-122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itchFamily="2" charset="-122"/>
            <a:ea typeface="黑体" pitchFamily="2" charset="-122"/>
          </a:defRPr>
        </a:defPPr>
      </a:lstStyle>
    </a:lnDef>
  </a:objectDefaults>
  <a:extraClrSchemeLst>
    <a:extraClrScheme>
      <a:clrScheme name="模板（2）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模板（2）</Template>
  <TotalTime>7987</TotalTime>
  <Pages>0</Pages>
  <Words>1907</Words>
  <Characters>0</Characters>
  <Application>Microsoft Office PowerPoint</Application>
  <DocSecurity>0</DocSecurity>
  <PresentationFormat>On-screen Show (4:3)</PresentationFormat>
  <Lines>0</Lines>
  <Paragraphs>210</Paragraphs>
  <Slides>31</Slides>
  <Notes>3</Notes>
  <HiddenSlides>10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宋体</vt:lpstr>
      <vt:lpstr>SimHei</vt:lpstr>
      <vt:lpstr>SimHei</vt:lpstr>
      <vt:lpstr>Arial</vt:lpstr>
      <vt:lpstr>Calibri</vt:lpstr>
      <vt:lpstr>Times New Roman</vt:lpstr>
      <vt:lpstr>Verdana</vt:lpstr>
      <vt:lpstr>模板（2）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番茄花园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PC</cp:lastModifiedBy>
  <cp:revision>257</cp:revision>
  <cp:lastPrinted>1899-12-30T00:00:00Z</cp:lastPrinted>
  <dcterms:created xsi:type="dcterms:W3CDTF">2009-11-06T00:42:22Z</dcterms:created>
  <dcterms:modified xsi:type="dcterms:W3CDTF">2026-05-03T23:50:41Z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2052-8.1.0.3526</vt:lpwstr>
  </property>
</Properties>
</file>